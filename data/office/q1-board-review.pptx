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short version of the quarter: we closed $1.14 million against a $1.25 million plan, which is 91 percent. That is a miss and I am not going to dress it up, but it is a narrow one and almost all of it traces to a single deal, Hendricks Chemical, that slipped into April rather than being lost. We go into Q2 with $2.1 million of open pipeline, $1.26 million of it on a weighted basis, and a base-case forecast of $1.45 million. I am also bringing three product problems to you today rather than waiting until they are solved: the ProximaSense X4 cost overrun, thermal drift on XT-9 Rev B units in the field, and a certification requirement from Meridian Industrial. Each has an owner and a plan, and one of them needs a decision from this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of $1.25 million assumed Hendricks Chemical at $226,000 and Veramont Utilities at roughly $12,000. Neither closed. Taken on their own those two deals are $238,000, so the reason the gap is only $110,000 is that the rest of the business, reorders and smaller deals, came in about $128,000 ahead of plan. Renata has checked that figure against the close. I want the board to see the shape of it clearly: the underlying run rate is healthier than the headline suggests, but we are too dependent on one or two large deals landing in the quarter we forecast them in. Elena and Jamal are changing how late-stage deals are probability-weighted so a single procurement delay does not move the quarter this much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Hendricks is a timing problem, not a demand problem. They had budget approved before a reorganization stopped their procurement function, and Jamal has spoken to their procurement manager since: the reorganization is done and they expect to move in April. We have it at 75 percent for Q2. Veramont is a genuine loss. Jamal ran a loss-review call and the stated reason was price, with Vantecor reportedly at $710 a unit, which we could not verify. If that number is right, Vantecor is either buying share or pricing below cost. Renata and I agreed we will not follow them down. The secondary reason Veramont gave, that they wanted a longer trial, is one we can act on, and Elena is looking at a standard extended evaluation for accounts of that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pipeline going into Q2 is $2.12 million, or $1.26 million once each deal is weighted by its win probability. Commit and negotiation together are $1.3 million, and that is what the base case leans on: Hendricks at $226,000, Thornbury Power at $196,000, and Sable Creek Gas at $140,000 are the largest. Ostergaard Process Systems, who took forty FieldSense units as a trial this quarter, is in proposal for a multi-site rollout worth $128,000. Carver Automation is a systems integrator that has asked for a demo unit; the first order is small but integrators specify across many sites. Blackmoor Energy, in midstream pipeline monitoring, is at $134,000. They asked specifically about high-temperature performance, so Jamal is holding technical conversations until Marcus has confirmed the temperature envelope.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asked Elena and Renata to show you two numbers rather than one. The base case is $1.45 million, a 27 percent step up from Q1, and it assumes Hendricks closes in April, Carver converts to a purchase after its demo, and normal run-rate business on top of that. If Hendricks slips again, we are looking at $1.2 to $1.25 million, which is still growth over Q1 but not much. Pipeline coverage of 1.45 times is thinner than I would like going into a quarter. The reason Elena is comfortable with it is that the individual deals are further along than they were at this point last quarter, and Hendricks in particular already had budget approved. I would rather you hear the downside from us now than in June.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gap in how we report rather than in the business, but it matters for the recurring revenue story we have been telling. Theo's team manages active service contracts, and until now they have not been part of the sales pipeline at all. Renata's figure from the last close is about $180,000 annualized, and she is the first to say that list is not complete. Elena is working with Theo to produce a clean list of every active contract with its value and renewal date, and from Q2 onward it will sit alongside the pipeline. Jamal has pointed out that several contracts likely renew in Q3 with nobody currently working them, so a renewal calendar comes with it. I expect to give you a firm number at the next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FieldSense 200 is the most important thing happening to the product line this year. Devon confirmed 300 units built as of March 27; Nadia is holding fifty back for press samples and trade show demos, leaving 250 to sell. List is $840, and the volume break at twenty-five units is $800. At our fully loaded standard cost of $491, that is 41.5 percent gross margin at list and 38.6 percent at the volume price. The differentiator is accuracy under vibration, plus or minus 0.3 percent where comparable units drift to around 2 percent, and Callum has reviewed that claim before it goes into anything external. Ostergaard took forty units as a trial before launch, and their eleven facilities are why the expansion is already in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told you in January I would bring this to you with a plan rather than wait for the fix, so here it is. The last X4 run landed at $47.20 a unit, nine dollars over the cost we priced against. Two causes. Hartwell Metals revised their tooling surcharge on the pressure housing castings partway through the run and we did not see it until the invoice. And the ultrasonic transducer sub-assembly rejected at 12 percent, double plan, because small drift in the casting dimensions pushes the calibration routine beyond what firmware can correct. Of 511 units built, 412 passed, 61 were scrapped, and 38 were held as borderline. The practical effect is that the Delvecchio order made us almost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Marcus and Sofia ran the updated calibration firmware on the 38 held units. Thirty-one came back inside spec and have been released; the other seven were scrapped, because Renata and Marcus agreed a warranty return costs us far more than the part. On castings, Devon has quotes from Brightline Castings and Oakridge Foundry, the better of them $3.80 a unit under Hartwell's base price, and both quotes carry tolerance specifications we can enforce at incoming inspection. Callum is reviewing whether Hartwell's $14,300 surcharge was properly authorized under the purchase order; we may recover some of it but I have not counted on it. If the casting change lands and rejects come back to 6 percent, the next run should land close to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February and March we had two field reports, from different accounts, of XT-9 analog output drifting at elevated ambient temperature. Both sites run in the high fifties Celsius in summer. Sofia traced it to the voltage reference in the Rev B analog output stage, the Talcott VR-220, whose temperature coefficient starts to matter above about 55 degrees. At 60 degrees the output can be off by about 1.8 percent against a 0.3 percent spec. Rev C moved to the VR-240 and we have not seen the problem there. Marcus estimates around 340 Rev B units shipped. We do not have installation temperatures for most of them, which is the uncomfortable part. Devon put the 22 Rev B units still in finished goods on hold on March 5; none will 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has two parts. Sofia is building a firmware update that uses the XT-9's onboard temperature sensor to correct the output. Her bench estimate is that it brings the error at 60 degrees down to around 0.4 to 0.5 percent. That is a large improvement, but it is still outside the 0.3 percent spec at the top of the range, and we will describe it to customers as exactly that, a compensation enhancement, not a fix. Second, any site that reports the problem gets Rev C hardware. We looked at a proactive swap of every Rev B unit and decided against it, mostly because we do not know which units are in hot environments. Callum is reviewing all customer-facing language before anything goes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Meridian Industrial, one of our five largest accounts, told Elena that IEC 62443 certification becomes a hard procurement requirement for them in Q3. It is a third-party assessment, not a self-declaration. Callum has quotes from three accredited assessment bodies ranging from $92,000 to $118,000, and that is before our own engineering time. The documentation gaps, a vulnerability disclosure process and current secure coding guidelines, Marcus and Sofia have already started on and expect to close in four to six weeks. Authenticated firmware updates, including key management, are three to four months and the area where Sofia expects to need outside help. I want to be plain: certificate in hand by July 1 is not achievable, and Elena is asking Meridian whether a self-assessment with a dated plan will hold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decision today. We are asking for a budget exception of up to $215,000 for IEC 62443. That covers the external gap assessment, the certification itself at the high end of Callum's quotes, and outside expertise on firmware key management, which Renata and Marcus both expect we will need. Callum's early estimate of the all-in cost was $200,000 or more and I would rather ask once with some margin than come back. Meridian alone is worth well more than that annually, and other industrial customers will ask for the same certificate within a year or two. I am not asking for anything for the X4 or the XT-9 work; both are being handled within the operating budget, and I will report progress on each at the next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30"/>
        </a:solidFill>
      </p:bgPr>
    </p:bg>
    <p:spTree>
      <p:nvGrpSpPr>
        <p:cNvPr id="1" name=""/>
        <p:cNvGrpSpPr/>
        <p:nvPr/>
      </p:nvGrpSpPr>
      <p:grpSpPr>
        <a:xfrm>
          <a:off x="0" y="0"/>
          <a:ext cx="0" cy="0"/>
          <a:chOff x="0" y="0"/>
          <a:chExt cx="0" cy="0"/>
        </a:xfrm>
      </p:grpSpPr>
      <p:sp>
        <p:nvSpPr>
          <p:cNvPr id="2" name="Shape 0"/>
          <p:cNvSpPr/>
          <p:nvPr/>
        </p:nvSpPr>
        <p:spPr>
          <a:xfrm>
            <a:off x="8412480" y="-1463040"/>
            <a:ext cx="5669280" cy="5669280"/>
          </a:xfrm>
          <a:prstGeom prst="ellipse">
            <a:avLst/>
          </a:prstGeom>
          <a:solidFill>
            <a:srgbClr val="E0A33A">
              <a:alpha val="20000"/>
            </a:srgbClr>
          </a:solidFill>
          <a:ln w="12700">
            <a:solidFill>
              <a:srgbClr val="E0A33A">
                <a:alpha val="20000"/>
              </a:srgbClr>
            </a:solidFill>
            <a:prstDash val="solid"/>
          </a:ln>
        </p:spPr>
      </p:sp>
      <p:sp>
        <p:nvSpPr>
          <p:cNvPr id="3" name="Text 1"/>
          <p:cNvSpPr txBox="1"/>
          <p:nvPr/>
        </p:nvSpPr>
        <p:spPr>
          <a:xfrm>
            <a:off x="548640" y="1828800"/>
            <a:ext cx="8229600" cy="365760"/>
          </a:xfrm>
          <a:prstGeom prst="rect">
            <a:avLst/>
          </a:prstGeom>
          <a:noFill/>
          <a:ln/>
        </p:spPr>
        <p:txBody>
          <a:bodyPr wrap="square" lIns="0" tIns="0" rIns="0" bIns="0" rtlCol="0" anchor="ctr"/>
          <a:lstStyle/>
          <a:p>
            <a:pPr indent="0" marL="0">
              <a:buNone/>
            </a:pPr>
            <a:r>
              <a:rPr lang="en-US" sz="1400" b="1" spc="200" kern="0" dirty="0">
                <a:solidFill>
                  <a:srgbClr val="E0A33A"/>
                </a:solidFill>
                <a:latin typeface="Calibri" pitchFamily="34" charset="0"/>
                <a:ea typeface="Calibri" pitchFamily="34" charset="-122"/>
                <a:cs typeface="Calibri" pitchFamily="34" charset="-120"/>
              </a:rPr>
              <a:t>BOARD OF DIRECTORS</a:t>
            </a:r>
            <a:endParaRPr lang="en-US" sz="1400" dirty="0"/>
          </a:p>
        </p:txBody>
      </p:sp>
      <p:sp>
        <p:nvSpPr>
          <p:cNvPr id="4" name="Text 2"/>
          <p:cNvSpPr txBox="1"/>
          <p:nvPr/>
        </p:nvSpPr>
        <p:spPr>
          <a:xfrm>
            <a:off x="548640" y="2286000"/>
            <a:ext cx="9601200" cy="164592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Q1 2026 Board Review</a:t>
            </a:r>
            <a:endParaRPr lang="en-US" sz="4400" dirty="0"/>
          </a:p>
        </p:txBody>
      </p:sp>
      <p:sp>
        <p:nvSpPr>
          <p:cNvPr id="5" name="Text 3"/>
          <p:cNvSpPr txBox="1"/>
          <p:nvPr/>
        </p:nvSpPr>
        <p:spPr>
          <a:xfrm>
            <a:off x="548640" y="4206240"/>
            <a:ext cx="9144000" cy="822960"/>
          </a:xfrm>
          <a:prstGeom prst="rect">
            <a:avLst/>
          </a:prstGeom>
          <a:noFill/>
          <a:ln/>
        </p:spPr>
        <p:txBody>
          <a:bodyPr wrap="square" lIns="0" tIns="0" rIns="0" bIns="0" rtlCol="0" anchor="ctr"/>
          <a:lstStyle/>
          <a:p>
            <a:pPr indent="0" marL="0">
              <a:buNone/>
            </a:pPr>
            <a:r>
              <a:rPr lang="en-US" sz="1600" dirty="0">
                <a:solidFill>
                  <a:srgbClr val="C9D3D6"/>
                </a:solidFill>
                <a:latin typeface="Calibri" pitchFamily="34" charset="0"/>
                <a:ea typeface="Calibri" pitchFamily="34" charset="-122"/>
                <a:cs typeface="Calibri" pitchFamily="34" charset="-120"/>
              </a:rPr>
              <a:t>Widget Makers Incorporated  ·  Priya, CEO  ·  April 2,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000" b="1" dirty="0">
                <a:solidFill>
                  <a:srgbClr val="1F2A30"/>
                </a:solidFill>
                <a:latin typeface="Cambria" pitchFamily="34" charset="0"/>
                <a:ea typeface="Cambria" pitchFamily="34" charset="-122"/>
                <a:cs typeface="Cambria" pitchFamily="34" charset="-120"/>
              </a:rPr>
              <a:t>Q1 2026 at a Glance</a:t>
            </a:r>
            <a:endParaRPr lang="en-US" sz="3000" dirty="0"/>
          </a:p>
        </p:txBody>
      </p:sp>
      <p:sp>
        <p:nvSpPr>
          <p:cNvPr id="3" name="Shape 1"/>
          <p:cNvSpPr/>
          <p:nvPr/>
        </p:nvSpPr>
        <p:spPr>
          <a:xfrm>
            <a:off x="548640" y="1463040"/>
            <a:ext cx="2567864" cy="1828800"/>
          </a:xfrm>
          <a:prstGeom prst="roundRect">
            <a:avLst>
              <a:gd name="adj" fmla="val 4000"/>
            </a:avLst>
          </a:prstGeom>
          <a:solidFill>
            <a:srgbClr val="FBEDE6"/>
          </a:solidFill>
          <a:ln w="12700">
            <a:solidFill>
              <a:srgbClr val="FBEDE6"/>
            </a:solidFill>
            <a:prstDash val="solid"/>
          </a:ln>
        </p:spPr>
      </p:sp>
      <p:sp>
        <p:nvSpPr>
          <p:cNvPr id="4" name="Text 2"/>
          <p:cNvSpPr txBox="1"/>
          <p:nvPr/>
        </p:nvSpPr>
        <p:spPr>
          <a:xfrm>
            <a:off x="777240" y="1645920"/>
            <a:ext cx="2110664" cy="868680"/>
          </a:xfrm>
          <a:prstGeom prst="rect">
            <a:avLst/>
          </a:prstGeom>
          <a:noFill/>
          <a:ln/>
        </p:spPr>
        <p:txBody>
          <a:bodyPr wrap="square" lIns="0" tIns="0" rIns="0" bIns="0" rtlCol="0" anchor="ctr"/>
          <a:lstStyle/>
          <a:p>
            <a:pPr indent="0" marL="0">
              <a:buNone/>
            </a:pPr>
            <a:r>
              <a:rPr lang="en-US" sz="3400" b="1" dirty="0">
                <a:solidFill>
                  <a:srgbClr val="B4532A"/>
                </a:solidFill>
                <a:latin typeface="Cambria" pitchFamily="34" charset="0"/>
                <a:ea typeface="Cambria" pitchFamily="34" charset="-122"/>
                <a:cs typeface="Cambria" pitchFamily="34" charset="-120"/>
              </a:rPr>
              <a:t>$1.14M</a:t>
            </a:r>
            <a:endParaRPr lang="en-US" sz="3400" dirty="0"/>
          </a:p>
        </p:txBody>
      </p:sp>
      <p:sp>
        <p:nvSpPr>
          <p:cNvPr id="5" name="Text 3"/>
          <p:cNvSpPr txBox="1"/>
          <p:nvPr/>
        </p:nvSpPr>
        <p:spPr>
          <a:xfrm>
            <a:off x="777240" y="2514600"/>
            <a:ext cx="2110664" cy="640080"/>
          </a:xfrm>
          <a:prstGeom prst="rect">
            <a:avLst/>
          </a:prstGeom>
          <a:noFill/>
          <a:ln/>
        </p:spPr>
        <p:txBody>
          <a:bodyPr wrap="square" lIns="0" tIns="0" rIns="0" bIns="0" rtlCol="0" anchor="t"/>
          <a:lstStyle/>
          <a:p>
            <a:pPr indent="0" marL="0">
              <a:buNone/>
            </a:pPr>
            <a:r>
              <a:rPr lang="en-US" sz="1300" dirty="0">
                <a:solidFill>
                  <a:srgbClr val="5B6B72"/>
                </a:solidFill>
                <a:latin typeface="Calibri" pitchFamily="34" charset="0"/>
                <a:ea typeface="Calibri" pitchFamily="34" charset="-122"/>
                <a:cs typeface="Calibri" pitchFamily="34" charset="-120"/>
              </a:rPr>
              <a:t>Q1 closed revenue</a:t>
            </a:r>
            <a:endParaRPr lang="en-US" sz="1300" dirty="0"/>
          </a:p>
          <a:p>
            <a:pPr indent="0" marL="0">
              <a:buNone/>
            </a:pPr>
            <a:r>
              <a:rPr lang="en-US" sz="1300" dirty="0">
                <a:solidFill>
                  <a:srgbClr val="5B6B72"/>
                </a:solidFill>
                <a:latin typeface="Calibri" pitchFamily="34" charset="0"/>
                <a:ea typeface="Calibri" pitchFamily="34" charset="-122"/>
                <a:cs typeface="Calibri" pitchFamily="34" charset="-120"/>
              </a:rPr>
              <a:t>91% of $1.25M plan</a:t>
            </a:r>
            <a:endParaRPr lang="en-US" sz="1300" dirty="0"/>
          </a:p>
        </p:txBody>
      </p:sp>
      <p:sp>
        <p:nvSpPr>
          <p:cNvPr id="6" name="Shape 4"/>
          <p:cNvSpPr/>
          <p:nvPr/>
        </p:nvSpPr>
        <p:spPr>
          <a:xfrm>
            <a:off x="3390824" y="1463040"/>
            <a:ext cx="2567864" cy="1828800"/>
          </a:xfrm>
          <a:prstGeom prst="roundRect">
            <a:avLst>
              <a:gd name="adj" fmla="val 4000"/>
            </a:avLst>
          </a:prstGeom>
          <a:solidFill>
            <a:srgbClr val="EEF2F3"/>
          </a:solidFill>
          <a:ln w="12700">
            <a:solidFill>
              <a:srgbClr val="EEF2F3"/>
            </a:solidFill>
            <a:prstDash val="solid"/>
          </a:ln>
        </p:spPr>
      </p:sp>
      <p:sp>
        <p:nvSpPr>
          <p:cNvPr id="7" name="Text 5"/>
          <p:cNvSpPr txBox="1"/>
          <p:nvPr/>
        </p:nvSpPr>
        <p:spPr>
          <a:xfrm>
            <a:off x="3619424" y="1645920"/>
            <a:ext cx="2110664" cy="868680"/>
          </a:xfrm>
          <a:prstGeom prst="rect">
            <a:avLst/>
          </a:prstGeom>
          <a:noFill/>
          <a:ln/>
        </p:spPr>
        <p:txBody>
          <a:bodyPr wrap="square" lIns="0" tIns="0" rIns="0" bIns="0" rtlCol="0" anchor="ctr"/>
          <a:lstStyle/>
          <a:p>
            <a:pPr indent="0" marL="0">
              <a:buNone/>
            </a:pPr>
            <a:r>
              <a:rPr lang="en-US" sz="3400" b="1" dirty="0">
                <a:solidFill>
                  <a:srgbClr val="2E5E6E"/>
                </a:solidFill>
                <a:latin typeface="Cambria" pitchFamily="34" charset="0"/>
                <a:ea typeface="Cambria" pitchFamily="34" charset="-122"/>
                <a:cs typeface="Cambria" pitchFamily="34" charset="-120"/>
              </a:rPr>
              <a:t>$2.1M</a:t>
            </a:r>
            <a:endParaRPr lang="en-US" sz="3400" dirty="0"/>
          </a:p>
        </p:txBody>
      </p:sp>
      <p:sp>
        <p:nvSpPr>
          <p:cNvPr id="8" name="Text 6"/>
          <p:cNvSpPr txBox="1"/>
          <p:nvPr/>
        </p:nvSpPr>
        <p:spPr>
          <a:xfrm>
            <a:off x="3619424" y="2514600"/>
            <a:ext cx="2110664" cy="640080"/>
          </a:xfrm>
          <a:prstGeom prst="rect">
            <a:avLst/>
          </a:prstGeom>
          <a:noFill/>
          <a:ln/>
        </p:spPr>
        <p:txBody>
          <a:bodyPr wrap="square" lIns="0" tIns="0" rIns="0" bIns="0" rtlCol="0" anchor="t"/>
          <a:lstStyle/>
          <a:p>
            <a:pPr indent="0" marL="0">
              <a:buNone/>
            </a:pPr>
            <a:r>
              <a:rPr lang="en-US" sz="1300" dirty="0">
                <a:solidFill>
                  <a:srgbClr val="5B6B72"/>
                </a:solidFill>
                <a:latin typeface="Calibri" pitchFamily="34" charset="0"/>
                <a:ea typeface="Calibri" pitchFamily="34" charset="-122"/>
                <a:cs typeface="Calibri" pitchFamily="34" charset="-120"/>
              </a:rPr>
              <a:t>Open Q2 pipeline</a:t>
            </a:r>
            <a:endParaRPr lang="en-US" sz="1300" dirty="0"/>
          </a:p>
          <a:p>
            <a:pPr indent="0" marL="0">
              <a:buNone/>
            </a:pPr>
            <a:r>
              <a:rPr lang="en-US" sz="1300" dirty="0">
                <a:solidFill>
                  <a:srgbClr val="5B6B72"/>
                </a:solidFill>
                <a:latin typeface="Calibri" pitchFamily="34" charset="0"/>
                <a:ea typeface="Calibri" pitchFamily="34" charset="-122"/>
                <a:cs typeface="Calibri" pitchFamily="34" charset="-120"/>
              </a:rPr>
              <a:t>weighted to $1.26M</a:t>
            </a:r>
            <a:endParaRPr lang="en-US" sz="1300" dirty="0"/>
          </a:p>
        </p:txBody>
      </p:sp>
      <p:sp>
        <p:nvSpPr>
          <p:cNvPr id="9" name="Shape 7"/>
          <p:cNvSpPr/>
          <p:nvPr/>
        </p:nvSpPr>
        <p:spPr>
          <a:xfrm>
            <a:off x="6233008" y="1463040"/>
            <a:ext cx="2567864" cy="1828800"/>
          </a:xfrm>
          <a:prstGeom prst="roundRect">
            <a:avLst>
              <a:gd name="adj" fmla="val 4000"/>
            </a:avLst>
          </a:prstGeom>
          <a:solidFill>
            <a:srgbClr val="EEF2F3"/>
          </a:solidFill>
          <a:ln w="12700">
            <a:solidFill>
              <a:srgbClr val="EEF2F3"/>
            </a:solidFill>
            <a:prstDash val="solid"/>
          </a:ln>
        </p:spPr>
      </p:sp>
      <p:sp>
        <p:nvSpPr>
          <p:cNvPr id="10" name="Text 8"/>
          <p:cNvSpPr txBox="1"/>
          <p:nvPr/>
        </p:nvSpPr>
        <p:spPr>
          <a:xfrm>
            <a:off x="6461608" y="1645920"/>
            <a:ext cx="2110664" cy="868680"/>
          </a:xfrm>
          <a:prstGeom prst="rect">
            <a:avLst/>
          </a:prstGeom>
          <a:noFill/>
          <a:ln/>
        </p:spPr>
        <p:txBody>
          <a:bodyPr wrap="square" lIns="0" tIns="0" rIns="0" bIns="0" rtlCol="0" anchor="ctr"/>
          <a:lstStyle/>
          <a:p>
            <a:pPr indent="0" marL="0">
              <a:buNone/>
            </a:pPr>
            <a:r>
              <a:rPr lang="en-US" sz="3400" b="1" dirty="0">
                <a:solidFill>
                  <a:srgbClr val="2E5E6E"/>
                </a:solidFill>
                <a:latin typeface="Cambria" pitchFamily="34" charset="0"/>
                <a:ea typeface="Cambria" pitchFamily="34" charset="-122"/>
                <a:cs typeface="Cambria" pitchFamily="34" charset="-120"/>
              </a:rPr>
              <a:t>$1.45M</a:t>
            </a:r>
            <a:endParaRPr lang="en-US" sz="3400" dirty="0"/>
          </a:p>
        </p:txBody>
      </p:sp>
      <p:sp>
        <p:nvSpPr>
          <p:cNvPr id="11" name="Text 9"/>
          <p:cNvSpPr txBox="1"/>
          <p:nvPr/>
        </p:nvSpPr>
        <p:spPr>
          <a:xfrm>
            <a:off x="6461608" y="2514600"/>
            <a:ext cx="2110664" cy="640080"/>
          </a:xfrm>
          <a:prstGeom prst="rect">
            <a:avLst/>
          </a:prstGeom>
          <a:noFill/>
          <a:ln/>
        </p:spPr>
        <p:txBody>
          <a:bodyPr wrap="square" lIns="0" tIns="0" rIns="0" bIns="0" rtlCol="0" anchor="t"/>
          <a:lstStyle/>
          <a:p>
            <a:pPr indent="0" marL="0">
              <a:buNone/>
            </a:pPr>
            <a:r>
              <a:rPr lang="en-US" sz="1300" dirty="0">
                <a:solidFill>
                  <a:srgbClr val="5B6B72"/>
                </a:solidFill>
                <a:latin typeface="Calibri" pitchFamily="34" charset="0"/>
                <a:ea typeface="Calibri" pitchFamily="34" charset="-122"/>
                <a:cs typeface="Calibri" pitchFamily="34" charset="-120"/>
              </a:rPr>
              <a:t>Q2 base-case forecast</a:t>
            </a:r>
            <a:endParaRPr lang="en-US" sz="1300" dirty="0"/>
          </a:p>
          <a:p>
            <a:pPr indent="0" marL="0">
              <a:buNone/>
            </a:pPr>
            <a:r>
              <a:rPr lang="en-US" sz="1300" dirty="0">
                <a:solidFill>
                  <a:srgbClr val="5B6B72"/>
                </a:solidFill>
                <a:latin typeface="Calibri" pitchFamily="34" charset="0"/>
                <a:ea typeface="Calibri" pitchFamily="34" charset="-122"/>
                <a:cs typeface="Calibri" pitchFamily="34" charset="-120"/>
              </a:rPr>
              <a:t>$1.20–1.25M downside</a:t>
            </a:r>
            <a:endParaRPr lang="en-US" sz="1300" dirty="0"/>
          </a:p>
        </p:txBody>
      </p:sp>
      <p:sp>
        <p:nvSpPr>
          <p:cNvPr id="12" name="Shape 10"/>
          <p:cNvSpPr/>
          <p:nvPr/>
        </p:nvSpPr>
        <p:spPr>
          <a:xfrm>
            <a:off x="9075191" y="1463040"/>
            <a:ext cx="2567864" cy="1828800"/>
          </a:xfrm>
          <a:prstGeom prst="roundRect">
            <a:avLst>
              <a:gd name="adj" fmla="val 4000"/>
            </a:avLst>
          </a:prstGeom>
          <a:solidFill>
            <a:srgbClr val="FBEDE6"/>
          </a:solidFill>
          <a:ln w="12700">
            <a:solidFill>
              <a:srgbClr val="FBEDE6"/>
            </a:solidFill>
            <a:prstDash val="solid"/>
          </a:ln>
        </p:spPr>
      </p:sp>
      <p:sp>
        <p:nvSpPr>
          <p:cNvPr id="13" name="Text 11"/>
          <p:cNvSpPr txBox="1"/>
          <p:nvPr/>
        </p:nvSpPr>
        <p:spPr>
          <a:xfrm>
            <a:off x="9303791" y="1645920"/>
            <a:ext cx="2110664" cy="868680"/>
          </a:xfrm>
          <a:prstGeom prst="rect">
            <a:avLst/>
          </a:prstGeom>
          <a:noFill/>
          <a:ln/>
        </p:spPr>
        <p:txBody>
          <a:bodyPr wrap="square" lIns="0" tIns="0" rIns="0" bIns="0" rtlCol="0" anchor="ctr"/>
          <a:lstStyle/>
          <a:p>
            <a:pPr indent="0" marL="0">
              <a:buNone/>
            </a:pPr>
            <a:r>
              <a:rPr lang="en-US" sz="3400" b="1" dirty="0">
                <a:solidFill>
                  <a:srgbClr val="B4532A"/>
                </a:solidFill>
                <a:latin typeface="Cambria" pitchFamily="34" charset="0"/>
                <a:ea typeface="Cambria" pitchFamily="34" charset="-122"/>
                <a:cs typeface="Cambria" pitchFamily="34" charset="-120"/>
              </a:rPr>
              <a:t>3</a:t>
            </a:r>
            <a:endParaRPr lang="en-US" sz="3400" dirty="0"/>
          </a:p>
        </p:txBody>
      </p:sp>
      <p:sp>
        <p:nvSpPr>
          <p:cNvPr id="14" name="Text 12"/>
          <p:cNvSpPr txBox="1"/>
          <p:nvPr/>
        </p:nvSpPr>
        <p:spPr>
          <a:xfrm>
            <a:off x="9303791" y="2514600"/>
            <a:ext cx="2110664" cy="640080"/>
          </a:xfrm>
          <a:prstGeom prst="rect">
            <a:avLst/>
          </a:prstGeom>
          <a:noFill/>
          <a:ln/>
        </p:spPr>
        <p:txBody>
          <a:bodyPr wrap="square" lIns="0" tIns="0" rIns="0" bIns="0" rtlCol="0" anchor="t"/>
          <a:lstStyle/>
          <a:p>
            <a:pPr indent="0" marL="0">
              <a:buNone/>
            </a:pPr>
            <a:r>
              <a:rPr lang="en-US" sz="1300" dirty="0">
                <a:solidFill>
                  <a:srgbClr val="5B6B72"/>
                </a:solidFill>
                <a:latin typeface="Calibri" pitchFamily="34" charset="0"/>
                <a:ea typeface="Calibri" pitchFamily="34" charset="-122"/>
                <a:cs typeface="Calibri" pitchFamily="34" charset="-120"/>
              </a:rPr>
              <a:t>Product issues carried into Q2</a:t>
            </a:r>
            <a:endParaRPr lang="en-US" sz="1300" dirty="0"/>
          </a:p>
          <a:p>
            <a:pPr indent="0" marL="0">
              <a:buNone/>
            </a:pPr>
            <a:r>
              <a:rPr lang="en-US" sz="1300" dirty="0">
                <a:solidFill>
                  <a:srgbClr val="5B6B72"/>
                </a:solidFill>
                <a:latin typeface="Calibri" pitchFamily="34" charset="0"/>
                <a:ea typeface="Calibri" pitchFamily="34" charset="-122"/>
                <a:cs typeface="Calibri" pitchFamily="34" charset="-120"/>
              </a:rPr>
              <a:t>X4 cost, XT-9 Rev B, IEC 62443</a:t>
            </a:r>
            <a:endParaRPr lang="en-US" sz="1300" dirty="0"/>
          </a:p>
        </p:txBody>
      </p:sp>
      <p:sp>
        <p:nvSpPr>
          <p:cNvPr id="15" name="Text 13"/>
          <p:cNvSpPr txBox="1"/>
          <p:nvPr/>
        </p:nvSpPr>
        <p:spPr>
          <a:xfrm>
            <a:off x="548640" y="3657600"/>
            <a:ext cx="11094415" cy="274320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2C3A40"/>
                </a:solidFill>
                <a:latin typeface="Calibri" pitchFamily="34" charset="0"/>
                <a:ea typeface="Calibri" pitchFamily="34" charset="-122"/>
                <a:cs typeface="Calibri" pitchFamily="34" charset="-120"/>
              </a:rPr>
              <a:t>Revenue miss driven by one slipped deal and one competitive loss</a:t>
            </a:r>
            <a:endParaRPr lang="en-US" sz="1600" dirty="0"/>
          </a:p>
          <a:p>
            <a:pPr marL="228600" indent="-228600">
              <a:spcAft>
                <a:spcPts val="800"/>
              </a:spcAft>
              <a:buSzPct val="100000"/>
              <a:buChar char="•"/>
            </a:pPr>
            <a:r>
              <a:rPr lang="en-US" sz="1600" dirty="0">
                <a:solidFill>
                  <a:srgbClr val="2C3A40"/>
                </a:solidFill>
                <a:latin typeface="Calibri" pitchFamily="34" charset="0"/>
                <a:ea typeface="Calibri" pitchFamily="34" charset="-122"/>
                <a:cs typeface="Calibri" pitchFamily="34" charset="-120"/>
              </a:rPr>
              <a:t>FieldSense 200 Series launches April 7 with 300 units built</a:t>
            </a:r>
            <a:endParaRPr lang="en-US" sz="1600" dirty="0"/>
          </a:p>
          <a:p>
            <a:pPr marL="228600" indent="-228600">
              <a:spcAft>
                <a:spcPts val="800"/>
              </a:spcAft>
              <a:buSzPct val="100000"/>
              <a:buChar char="•"/>
            </a:pPr>
            <a:r>
              <a:rPr lang="en-US" sz="1600" dirty="0">
                <a:solidFill>
                  <a:srgbClr val="2C3A40"/>
                </a:solidFill>
                <a:latin typeface="Calibri" pitchFamily="34" charset="0"/>
                <a:ea typeface="Calibri" pitchFamily="34" charset="-122"/>
                <a:cs typeface="Calibri" pitchFamily="34" charset="-120"/>
              </a:rPr>
              <a:t>Asking the board to approve a budget exception for IEC 62443 certification</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2A30"/>
        </a:solidFill>
      </p:bgPr>
    </p:bg>
    <p:spTree>
      <p:nvGrpSpPr>
        <p:cNvPr id="1" name=""/>
        <p:cNvGrpSpPr/>
        <p:nvPr/>
      </p:nvGrpSpPr>
      <p:grpSpPr>
        <a:xfrm>
          <a:off x="0" y="0"/>
          <a:ext cx="0" cy="0"/>
          <a:chOff x="0" y="0"/>
          <a:chExt cx="0" cy="0"/>
        </a:xfrm>
      </p:grpSpPr>
      <p:sp>
        <p:nvSpPr>
          <p:cNvPr id="2" name="Shape 0"/>
          <p:cNvSpPr/>
          <p:nvPr/>
        </p:nvSpPr>
        <p:spPr>
          <a:xfrm>
            <a:off x="548640" y="2148840"/>
            <a:ext cx="1188720" cy="1188720"/>
          </a:xfrm>
          <a:prstGeom prst="ellipse">
            <a:avLst/>
          </a:prstGeom>
          <a:solidFill>
            <a:srgbClr val="E0A33A"/>
          </a:solidFill>
          <a:ln w="12700">
            <a:solidFill>
              <a:srgbClr val="E0A33A"/>
            </a:solidFill>
            <a:prstDash val="solid"/>
          </a:ln>
        </p:spPr>
      </p:sp>
      <p:sp>
        <p:nvSpPr>
          <p:cNvPr id="3" name="Text 1"/>
          <p:cNvSpPr txBox="1"/>
          <p:nvPr/>
        </p:nvSpPr>
        <p:spPr>
          <a:xfrm>
            <a:off x="548640" y="2148840"/>
            <a:ext cx="1188720" cy="1188720"/>
          </a:xfrm>
          <a:prstGeom prst="rect">
            <a:avLst/>
          </a:prstGeom>
          <a:noFill/>
          <a:ln/>
        </p:spPr>
        <p:txBody>
          <a:bodyPr wrap="square" lIns="0" tIns="0" rIns="0" bIns="0" rtlCol="0" anchor="ctr"/>
          <a:lstStyle/>
          <a:p>
            <a:pPr algn="ctr" indent="0" marL="0">
              <a:buNone/>
            </a:pPr>
            <a:r>
              <a:rPr lang="en-US" sz="3000" b="1" dirty="0">
                <a:solidFill>
                  <a:srgbClr val="1F2A30"/>
                </a:solidFill>
                <a:latin typeface="Cambria" pitchFamily="34" charset="0"/>
                <a:ea typeface="Cambria" pitchFamily="34" charset="-122"/>
                <a:cs typeface="Cambria" pitchFamily="34" charset="-120"/>
              </a:rPr>
              <a:t>01</a:t>
            </a:r>
            <a:endParaRPr lang="en-US" sz="3000" dirty="0"/>
          </a:p>
        </p:txBody>
      </p:sp>
      <p:sp>
        <p:nvSpPr>
          <p:cNvPr id="4" name="Text 2"/>
          <p:cNvSpPr txBox="1"/>
          <p:nvPr/>
        </p:nvSpPr>
        <p:spPr>
          <a:xfrm>
            <a:off x="2103120" y="2057400"/>
            <a:ext cx="868680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Revenue and Pipeline</a:t>
            </a:r>
            <a:endParaRPr lang="en-US" sz="3600" dirty="0"/>
          </a:p>
        </p:txBody>
      </p:sp>
      <p:sp>
        <p:nvSpPr>
          <p:cNvPr id="5" name="Text 3"/>
          <p:cNvSpPr txBox="1"/>
          <p:nvPr/>
        </p:nvSpPr>
        <p:spPr>
          <a:xfrm>
            <a:off x="2103120" y="2880360"/>
            <a:ext cx="8686800" cy="548640"/>
          </a:xfrm>
          <a:prstGeom prst="rect">
            <a:avLst/>
          </a:prstGeom>
          <a:noFill/>
          <a:ln/>
        </p:spPr>
        <p:txBody>
          <a:bodyPr wrap="square" lIns="0" tIns="0" rIns="0" bIns="0" rtlCol="0" anchor="ctr"/>
          <a:lstStyle/>
          <a:p>
            <a:pPr indent="0" marL="0">
              <a:buNone/>
            </a:pPr>
            <a:r>
              <a:rPr lang="en-US" sz="1600" dirty="0">
                <a:solidFill>
                  <a:srgbClr val="C9D3D6"/>
                </a:solidFill>
                <a:latin typeface="Calibri" pitchFamily="34" charset="0"/>
                <a:ea typeface="Calibri" pitchFamily="34" charset="-122"/>
                <a:cs typeface="Calibri" pitchFamily="34" charset="-120"/>
              </a:rPr>
              <a:t>Q1 against plan, and what Q2 rests on</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000" b="1" dirty="0">
                <a:solidFill>
                  <a:srgbClr val="1F2A30"/>
                </a:solidFill>
                <a:latin typeface="Cambria" pitchFamily="34" charset="0"/>
                <a:ea typeface="Cambria" pitchFamily="34" charset="-122"/>
                <a:cs typeface="Cambria" pitchFamily="34" charset="-120"/>
              </a:rPr>
              <a:t>Q1 Revenue Against Plan</a:t>
            </a:r>
            <a:endParaRPr lang="en-US" sz="3000" dirty="0"/>
          </a:p>
        </p:txBody>
      </p:sp>
      <p:sp>
        <p:nvSpPr>
          <p:cNvPr id="3" name="Shape 1"/>
          <p:cNvSpPr/>
          <p:nvPr/>
        </p:nvSpPr>
        <p:spPr>
          <a:xfrm>
            <a:off x="548640" y="1463040"/>
            <a:ext cx="3515258" cy="1828800"/>
          </a:xfrm>
          <a:prstGeom prst="roundRect">
            <a:avLst>
              <a:gd name="adj" fmla="val 4000"/>
            </a:avLst>
          </a:prstGeom>
          <a:solidFill>
            <a:srgbClr val="EEF2F3"/>
          </a:solidFill>
          <a:ln w="12700">
            <a:solidFill>
              <a:srgbClr val="EEF2F3"/>
            </a:solidFill>
            <a:prstDash val="solid"/>
          </a:ln>
        </p:spPr>
      </p:sp>
      <p:sp>
        <p:nvSpPr>
          <p:cNvPr id="4" name="Text 2"/>
          <p:cNvSpPr txBox="1"/>
          <p:nvPr/>
        </p:nvSpPr>
        <p:spPr>
          <a:xfrm>
            <a:off x="777240" y="1645920"/>
            <a:ext cx="3058058" cy="868680"/>
          </a:xfrm>
          <a:prstGeom prst="rect">
            <a:avLst/>
          </a:prstGeom>
          <a:noFill/>
          <a:ln/>
        </p:spPr>
        <p:txBody>
          <a:bodyPr wrap="square" lIns="0" tIns="0" rIns="0" bIns="0" rtlCol="0" anchor="ctr"/>
          <a:lstStyle/>
          <a:p>
            <a:pPr indent="0" marL="0">
              <a:buNone/>
            </a:pPr>
            <a:r>
              <a:rPr lang="en-US" sz="4000" b="1" dirty="0">
                <a:solidFill>
                  <a:srgbClr val="2E5E6E"/>
                </a:solidFill>
                <a:latin typeface="Cambria" pitchFamily="34" charset="0"/>
                <a:ea typeface="Cambria" pitchFamily="34" charset="-122"/>
                <a:cs typeface="Cambria" pitchFamily="34" charset="-120"/>
              </a:rPr>
              <a:t>$1.25M</a:t>
            </a:r>
            <a:endParaRPr lang="en-US" sz="4000" dirty="0"/>
          </a:p>
        </p:txBody>
      </p:sp>
      <p:sp>
        <p:nvSpPr>
          <p:cNvPr id="5" name="Text 3"/>
          <p:cNvSpPr txBox="1"/>
          <p:nvPr/>
        </p:nvSpPr>
        <p:spPr>
          <a:xfrm>
            <a:off x="777240" y="2514600"/>
            <a:ext cx="3058058" cy="640080"/>
          </a:xfrm>
          <a:prstGeom prst="rect">
            <a:avLst/>
          </a:prstGeom>
          <a:noFill/>
          <a:ln/>
        </p:spPr>
        <p:txBody>
          <a:bodyPr wrap="square" lIns="0" tIns="0" rIns="0" bIns="0" rtlCol="0" anchor="t"/>
          <a:lstStyle/>
          <a:p>
            <a:pPr indent="0" marL="0">
              <a:buNone/>
            </a:pPr>
            <a:r>
              <a:rPr lang="en-US" sz="1300" dirty="0">
                <a:solidFill>
                  <a:srgbClr val="5B6B72"/>
                </a:solidFill>
                <a:latin typeface="Calibri" pitchFamily="34" charset="0"/>
                <a:ea typeface="Calibri" pitchFamily="34" charset="-122"/>
                <a:cs typeface="Calibri" pitchFamily="34" charset="-120"/>
              </a:rPr>
              <a:t>Q1 revenue plan</a:t>
            </a:r>
            <a:endParaRPr lang="en-US" sz="1300" dirty="0"/>
          </a:p>
        </p:txBody>
      </p:sp>
      <p:sp>
        <p:nvSpPr>
          <p:cNvPr id="6" name="Shape 4"/>
          <p:cNvSpPr/>
          <p:nvPr/>
        </p:nvSpPr>
        <p:spPr>
          <a:xfrm>
            <a:off x="4338218" y="1463040"/>
            <a:ext cx="3515258" cy="1828800"/>
          </a:xfrm>
          <a:prstGeom prst="roundRect">
            <a:avLst>
              <a:gd name="adj" fmla="val 4000"/>
            </a:avLst>
          </a:prstGeom>
          <a:solidFill>
            <a:srgbClr val="FBEDE6"/>
          </a:solidFill>
          <a:ln w="12700">
            <a:solidFill>
              <a:srgbClr val="FBEDE6"/>
            </a:solidFill>
            <a:prstDash val="solid"/>
          </a:ln>
        </p:spPr>
      </p:sp>
      <p:sp>
        <p:nvSpPr>
          <p:cNvPr id="7" name="Text 5"/>
          <p:cNvSpPr txBox="1"/>
          <p:nvPr/>
        </p:nvSpPr>
        <p:spPr>
          <a:xfrm>
            <a:off x="4566818" y="1645920"/>
            <a:ext cx="3058058" cy="868680"/>
          </a:xfrm>
          <a:prstGeom prst="rect">
            <a:avLst/>
          </a:prstGeom>
          <a:noFill/>
          <a:ln/>
        </p:spPr>
        <p:txBody>
          <a:bodyPr wrap="square" lIns="0" tIns="0" rIns="0" bIns="0" rtlCol="0" anchor="ctr"/>
          <a:lstStyle/>
          <a:p>
            <a:pPr indent="0" marL="0">
              <a:buNone/>
            </a:pPr>
            <a:r>
              <a:rPr lang="en-US" sz="4000" b="1" dirty="0">
                <a:solidFill>
                  <a:srgbClr val="B4532A"/>
                </a:solidFill>
                <a:latin typeface="Cambria" pitchFamily="34" charset="0"/>
                <a:ea typeface="Cambria" pitchFamily="34" charset="-122"/>
                <a:cs typeface="Cambria" pitchFamily="34" charset="-120"/>
              </a:rPr>
              <a:t>$1.14M</a:t>
            </a:r>
            <a:endParaRPr lang="en-US" sz="4000" dirty="0"/>
          </a:p>
        </p:txBody>
      </p:sp>
      <p:sp>
        <p:nvSpPr>
          <p:cNvPr id="8" name="Text 6"/>
          <p:cNvSpPr txBox="1"/>
          <p:nvPr/>
        </p:nvSpPr>
        <p:spPr>
          <a:xfrm>
            <a:off x="4566818" y="2514600"/>
            <a:ext cx="3058058" cy="640080"/>
          </a:xfrm>
          <a:prstGeom prst="rect">
            <a:avLst/>
          </a:prstGeom>
          <a:noFill/>
          <a:ln/>
        </p:spPr>
        <p:txBody>
          <a:bodyPr wrap="square" lIns="0" tIns="0" rIns="0" bIns="0" rtlCol="0" anchor="t"/>
          <a:lstStyle/>
          <a:p>
            <a:pPr indent="0" marL="0">
              <a:buNone/>
            </a:pPr>
            <a:r>
              <a:rPr lang="en-US" sz="1300" dirty="0">
                <a:solidFill>
                  <a:srgbClr val="5B6B72"/>
                </a:solidFill>
                <a:latin typeface="Calibri" pitchFamily="34" charset="0"/>
                <a:ea typeface="Calibri" pitchFamily="34" charset="-122"/>
                <a:cs typeface="Calibri" pitchFamily="34" charset="-120"/>
              </a:rPr>
              <a:t>Q1 closed revenue</a:t>
            </a:r>
            <a:endParaRPr lang="en-US" sz="1300" dirty="0"/>
          </a:p>
        </p:txBody>
      </p:sp>
      <p:sp>
        <p:nvSpPr>
          <p:cNvPr id="9" name="Shape 7"/>
          <p:cNvSpPr/>
          <p:nvPr/>
        </p:nvSpPr>
        <p:spPr>
          <a:xfrm>
            <a:off x="8127797" y="1463040"/>
            <a:ext cx="3515258" cy="1828800"/>
          </a:xfrm>
          <a:prstGeom prst="roundRect">
            <a:avLst>
              <a:gd name="adj" fmla="val 4000"/>
            </a:avLst>
          </a:prstGeom>
          <a:solidFill>
            <a:srgbClr val="FBEDE6"/>
          </a:solidFill>
          <a:ln w="12700">
            <a:solidFill>
              <a:srgbClr val="FBEDE6"/>
            </a:solidFill>
            <a:prstDash val="solid"/>
          </a:ln>
        </p:spPr>
      </p:sp>
      <p:sp>
        <p:nvSpPr>
          <p:cNvPr id="10" name="Text 8"/>
          <p:cNvSpPr txBox="1"/>
          <p:nvPr/>
        </p:nvSpPr>
        <p:spPr>
          <a:xfrm>
            <a:off x="8356397" y="1645920"/>
            <a:ext cx="3058058" cy="868680"/>
          </a:xfrm>
          <a:prstGeom prst="rect">
            <a:avLst/>
          </a:prstGeom>
          <a:noFill/>
          <a:ln/>
        </p:spPr>
        <p:txBody>
          <a:bodyPr wrap="square" lIns="0" tIns="0" rIns="0" bIns="0" rtlCol="0" anchor="ctr"/>
          <a:lstStyle/>
          <a:p>
            <a:pPr indent="0" marL="0">
              <a:buNone/>
            </a:pPr>
            <a:r>
              <a:rPr lang="en-US" sz="4000" b="1" dirty="0">
                <a:solidFill>
                  <a:srgbClr val="B4532A"/>
                </a:solidFill>
                <a:latin typeface="Cambria" pitchFamily="34" charset="0"/>
                <a:ea typeface="Cambria" pitchFamily="34" charset="-122"/>
                <a:cs typeface="Cambria" pitchFamily="34" charset="-120"/>
              </a:rPr>
              <a:t>–$110K</a:t>
            </a:r>
            <a:endParaRPr lang="en-US" sz="4000" dirty="0"/>
          </a:p>
        </p:txBody>
      </p:sp>
      <p:sp>
        <p:nvSpPr>
          <p:cNvPr id="11" name="Text 9"/>
          <p:cNvSpPr txBox="1"/>
          <p:nvPr/>
        </p:nvSpPr>
        <p:spPr>
          <a:xfrm>
            <a:off x="8356397" y="2514600"/>
            <a:ext cx="3058058" cy="640080"/>
          </a:xfrm>
          <a:prstGeom prst="rect">
            <a:avLst/>
          </a:prstGeom>
          <a:noFill/>
          <a:ln/>
        </p:spPr>
        <p:txBody>
          <a:bodyPr wrap="square" lIns="0" tIns="0" rIns="0" bIns="0" rtlCol="0" anchor="t"/>
          <a:lstStyle/>
          <a:p>
            <a:pPr indent="0" marL="0">
              <a:buNone/>
            </a:pPr>
            <a:r>
              <a:rPr lang="en-US" sz="1300" dirty="0">
                <a:solidFill>
                  <a:srgbClr val="5B6B72"/>
                </a:solidFill>
                <a:latin typeface="Calibri" pitchFamily="34" charset="0"/>
                <a:ea typeface="Calibri" pitchFamily="34" charset="-122"/>
                <a:cs typeface="Calibri" pitchFamily="34" charset="-120"/>
              </a:rPr>
              <a:t>Gap to plan (9%)</a:t>
            </a:r>
            <a:endParaRPr lang="en-US" sz="1300" dirty="0"/>
          </a:p>
        </p:txBody>
      </p:sp>
      <p:sp>
        <p:nvSpPr>
          <p:cNvPr id="12" name="Text 10"/>
          <p:cNvSpPr txBox="1"/>
          <p:nvPr/>
        </p:nvSpPr>
        <p:spPr>
          <a:xfrm>
            <a:off x="548640" y="3657600"/>
            <a:ext cx="11094415" cy="274320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2C3A40"/>
                </a:solidFill>
                <a:latin typeface="Calibri" pitchFamily="34" charset="0"/>
                <a:ea typeface="Calibri" pitchFamily="34" charset="-122"/>
                <a:cs typeface="Calibri" pitchFamily="34" charset="-120"/>
              </a:rPr>
              <a:t>Hendricks Chemical: 60 units, $226K, forecast at 80% — slipped to Q2</a:t>
            </a:r>
            <a:endParaRPr lang="en-US" sz="1600" dirty="0"/>
          </a:p>
          <a:p>
            <a:pPr marL="228600" indent="-228600">
              <a:spcAft>
                <a:spcPts val="800"/>
              </a:spcAft>
              <a:buSzPct val="100000"/>
              <a:buChar char="•"/>
            </a:pPr>
            <a:r>
              <a:rPr lang="en-US" sz="1600" dirty="0">
                <a:solidFill>
                  <a:srgbClr val="2C3A40"/>
                </a:solidFill>
                <a:latin typeface="Calibri" pitchFamily="34" charset="0"/>
                <a:ea typeface="Calibri" pitchFamily="34" charset="-122"/>
                <a:cs typeface="Calibri" pitchFamily="34" charset="-120"/>
              </a:rPr>
              <a:t>Veramont Utilities: 15 units, about $12K — lost to Vantecor on price</a:t>
            </a:r>
            <a:endParaRPr lang="en-US" sz="1600" dirty="0"/>
          </a:p>
          <a:p>
            <a:pPr marL="228600" indent="-228600">
              <a:spcAft>
                <a:spcPts val="800"/>
              </a:spcAft>
              <a:buSzPct val="100000"/>
              <a:buChar char="•"/>
            </a:pPr>
            <a:r>
              <a:rPr lang="en-US" sz="1600" dirty="0">
                <a:solidFill>
                  <a:srgbClr val="2C3A40"/>
                </a:solidFill>
                <a:latin typeface="Calibri" pitchFamily="34" charset="0"/>
                <a:ea typeface="Calibri" pitchFamily="34" charset="-122"/>
                <a:cs typeface="Calibri" pitchFamily="34" charset="-120"/>
              </a:rPr>
              <a:t>Run-rate and smaller deals: about $128K ahead of plan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000" b="1" dirty="0">
                <a:solidFill>
                  <a:srgbClr val="1F2A30"/>
                </a:solidFill>
                <a:latin typeface="Cambria" pitchFamily="34" charset="0"/>
                <a:ea typeface="Cambria" pitchFamily="34" charset="-122"/>
                <a:cs typeface="Cambria" pitchFamily="34" charset="-120"/>
              </a:rPr>
              <a:t>Why Hendricks and Veramont Missed</a:t>
            </a:r>
            <a:endParaRPr lang="en-US" sz="3000" dirty="0"/>
          </a:p>
        </p:txBody>
      </p:sp>
      <p:sp>
        <p:nvSpPr>
          <p:cNvPr id="3" name="Shape 1"/>
          <p:cNvSpPr/>
          <p:nvPr/>
        </p:nvSpPr>
        <p:spPr>
          <a:xfrm>
            <a:off x="548640" y="1463040"/>
            <a:ext cx="5410048" cy="4846320"/>
          </a:xfrm>
          <a:prstGeom prst="roundRect">
            <a:avLst>
              <a:gd name="adj" fmla="val 1509"/>
            </a:avLst>
          </a:prstGeom>
          <a:solidFill>
            <a:srgbClr val="EEF2F3"/>
          </a:solidFill>
          <a:ln w="12700">
            <a:solidFill>
              <a:srgbClr val="EEF2F3"/>
            </a:solidFill>
            <a:prstDash val="solid"/>
          </a:ln>
        </p:spPr>
      </p:sp>
      <p:sp>
        <p:nvSpPr>
          <p:cNvPr id="4" name="Text 2"/>
          <p:cNvSpPr txBox="1"/>
          <p:nvPr/>
        </p:nvSpPr>
        <p:spPr>
          <a:xfrm>
            <a:off x="777240" y="1691640"/>
            <a:ext cx="4952848" cy="731520"/>
          </a:xfrm>
          <a:prstGeom prst="rect">
            <a:avLst/>
          </a:prstGeom>
          <a:noFill/>
          <a:ln/>
        </p:spPr>
        <p:txBody>
          <a:bodyPr wrap="square" lIns="0" tIns="0" rIns="0" bIns="0" rtlCol="0" anchor="t"/>
          <a:lstStyle/>
          <a:p>
            <a:pPr indent="0" marL="0">
              <a:buNone/>
            </a:pPr>
            <a:r>
              <a:rPr lang="en-US" sz="2000" b="1" dirty="0">
                <a:solidFill>
                  <a:srgbClr val="2E5E6E"/>
                </a:solidFill>
                <a:latin typeface="Cambria" pitchFamily="34" charset="0"/>
                <a:ea typeface="Cambria" pitchFamily="34" charset="-122"/>
                <a:cs typeface="Cambria" pitchFamily="34" charset="-120"/>
              </a:rPr>
              <a:t>Hendricks Chemical — slipped</a:t>
            </a:r>
            <a:endParaRPr lang="en-US" sz="2000" dirty="0"/>
          </a:p>
        </p:txBody>
      </p:sp>
      <p:sp>
        <p:nvSpPr>
          <p:cNvPr id="5" name="Text 3"/>
          <p:cNvSpPr txBox="1"/>
          <p:nvPr/>
        </p:nvSpPr>
        <p:spPr>
          <a:xfrm>
            <a:off x="777240" y="2468880"/>
            <a:ext cx="4952848" cy="36576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60 units, $226K at full scope</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Budget approved before an internal reorganization froze procurement</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Reorganization now complete; buyer expects to move in April</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Re-forecast at 75% for Q2</a:t>
            </a:r>
            <a:endParaRPr lang="en-US" sz="1500" dirty="0"/>
          </a:p>
        </p:txBody>
      </p:sp>
      <p:sp>
        <p:nvSpPr>
          <p:cNvPr id="6" name="Shape 4"/>
          <p:cNvSpPr/>
          <p:nvPr/>
        </p:nvSpPr>
        <p:spPr>
          <a:xfrm>
            <a:off x="6233008" y="1463040"/>
            <a:ext cx="5410048" cy="4846320"/>
          </a:xfrm>
          <a:prstGeom prst="roundRect">
            <a:avLst>
              <a:gd name="adj" fmla="val 1509"/>
            </a:avLst>
          </a:prstGeom>
          <a:solidFill>
            <a:srgbClr val="FBEDE6"/>
          </a:solidFill>
          <a:ln w="12700">
            <a:solidFill>
              <a:srgbClr val="FBEDE6"/>
            </a:solidFill>
            <a:prstDash val="solid"/>
          </a:ln>
        </p:spPr>
      </p:sp>
      <p:sp>
        <p:nvSpPr>
          <p:cNvPr id="7" name="Text 5"/>
          <p:cNvSpPr txBox="1"/>
          <p:nvPr/>
        </p:nvSpPr>
        <p:spPr>
          <a:xfrm>
            <a:off x="6461608" y="1691640"/>
            <a:ext cx="4952848" cy="731520"/>
          </a:xfrm>
          <a:prstGeom prst="rect">
            <a:avLst/>
          </a:prstGeom>
          <a:noFill/>
          <a:ln/>
        </p:spPr>
        <p:txBody>
          <a:bodyPr wrap="square" lIns="0" tIns="0" rIns="0" bIns="0" rtlCol="0" anchor="t"/>
          <a:lstStyle/>
          <a:p>
            <a:pPr indent="0" marL="0">
              <a:buNone/>
            </a:pPr>
            <a:r>
              <a:rPr lang="en-US" sz="2000" b="1" dirty="0">
                <a:solidFill>
                  <a:srgbClr val="B4532A"/>
                </a:solidFill>
                <a:latin typeface="Cambria" pitchFamily="34" charset="0"/>
                <a:ea typeface="Cambria" pitchFamily="34" charset="-122"/>
                <a:cs typeface="Cambria" pitchFamily="34" charset="-120"/>
              </a:rPr>
              <a:t>Veramont Utilities — lost</a:t>
            </a:r>
            <a:endParaRPr lang="en-US" sz="2000" dirty="0"/>
          </a:p>
        </p:txBody>
      </p:sp>
      <p:sp>
        <p:nvSpPr>
          <p:cNvPr id="8" name="Text 6"/>
          <p:cNvSpPr txBox="1"/>
          <p:nvPr/>
        </p:nvSpPr>
        <p:spPr>
          <a:xfrm>
            <a:off x="6461608" y="2468880"/>
            <a:ext cx="4952848" cy="36576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15 units, chose the Vantecor LX-7</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Vantecor reportedly quoted $710 per unit, about 12% under us</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Also wanted a longer trial than we offered</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We are not matching Vantecor's price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000" b="1" dirty="0">
                <a:solidFill>
                  <a:srgbClr val="1F2A30"/>
                </a:solidFill>
                <a:latin typeface="Cambria" pitchFamily="34" charset="0"/>
                <a:ea typeface="Cambria" pitchFamily="34" charset="-122"/>
                <a:cs typeface="Cambria" pitchFamily="34" charset="-120"/>
              </a:rPr>
              <a:t>Q2 Pipeline by Stage</a:t>
            </a:r>
            <a:endParaRPr lang="en-US" sz="3000" dirty="0"/>
          </a:p>
        </p:txBody>
      </p:sp>
      <p:sp>
        <p:nvSpPr>
          <p:cNvPr id="3" name="Shape 1"/>
          <p:cNvSpPr/>
          <p:nvPr/>
        </p:nvSpPr>
        <p:spPr>
          <a:xfrm>
            <a:off x="548640" y="1463040"/>
            <a:ext cx="11094415" cy="658368"/>
          </a:xfrm>
          <a:prstGeom prst="rect">
            <a:avLst/>
          </a:prstGeom>
          <a:solidFill>
            <a:srgbClr val="EEF2F3"/>
          </a:solidFill>
          <a:ln w="12700">
            <a:solidFill>
              <a:srgbClr val="EEF2F3"/>
            </a:solidFill>
            <a:prstDash val="solid"/>
          </a:ln>
        </p:spPr>
      </p:sp>
      <p:sp>
        <p:nvSpPr>
          <p:cNvPr id="4" name="Text 2"/>
          <p:cNvSpPr txBox="1"/>
          <p:nvPr/>
        </p:nvSpPr>
        <p:spPr>
          <a:xfrm>
            <a:off x="777240" y="1463040"/>
            <a:ext cx="3291840" cy="658368"/>
          </a:xfrm>
          <a:prstGeom prst="rect">
            <a:avLst/>
          </a:prstGeom>
          <a:noFill/>
          <a:ln/>
        </p:spPr>
        <p:txBody>
          <a:bodyPr wrap="square" lIns="0" tIns="0" rIns="0" bIns="0" rtlCol="0" anchor="ctr"/>
          <a:lstStyle/>
          <a:p>
            <a:pPr indent="0" marL="0">
              <a:buNone/>
            </a:pPr>
            <a:r>
              <a:rPr lang="en-US" sz="1500" b="1" dirty="0">
                <a:solidFill>
                  <a:srgbClr val="1F2A30"/>
                </a:solidFill>
                <a:latin typeface="Calibri" pitchFamily="34" charset="0"/>
                <a:ea typeface="Calibri" pitchFamily="34" charset="-122"/>
                <a:cs typeface="Calibri" pitchFamily="34" charset="-120"/>
              </a:rPr>
              <a:t>Commit</a:t>
            </a:r>
            <a:endParaRPr lang="en-US" sz="1500" dirty="0"/>
          </a:p>
        </p:txBody>
      </p:sp>
      <p:sp>
        <p:nvSpPr>
          <p:cNvPr id="5" name="Text 3"/>
          <p:cNvSpPr txBox="1"/>
          <p:nvPr/>
        </p:nvSpPr>
        <p:spPr>
          <a:xfrm>
            <a:off x="4114800" y="1463040"/>
            <a:ext cx="2011680" cy="658368"/>
          </a:xfrm>
          <a:prstGeom prst="rect">
            <a:avLst/>
          </a:prstGeom>
          <a:noFill/>
          <a:ln/>
        </p:spPr>
        <p:txBody>
          <a:bodyPr wrap="square" lIns="0" tIns="0" rIns="0" bIns="0" rtlCol="0" anchor="ctr"/>
          <a:lstStyle/>
          <a:p>
            <a:pPr indent="0" marL="0">
              <a:buNone/>
            </a:pPr>
            <a:r>
              <a:rPr lang="en-US" sz="1800" b="1" dirty="0">
                <a:solidFill>
                  <a:srgbClr val="2E5E6E"/>
                </a:solidFill>
                <a:latin typeface="Cambria" pitchFamily="34" charset="0"/>
                <a:ea typeface="Cambria" pitchFamily="34" charset="-122"/>
                <a:cs typeface="Cambria" pitchFamily="34" charset="-120"/>
              </a:rPr>
              <a:t>$367K</a:t>
            </a:r>
            <a:endParaRPr lang="en-US" sz="1800" dirty="0"/>
          </a:p>
        </p:txBody>
      </p:sp>
      <p:sp>
        <p:nvSpPr>
          <p:cNvPr id="6" name="Text 4"/>
          <p:cNvSpPr txBox="1"/>
          <p:nvPr/>
        </p:nvSpPr>
        <p:spPr>
          <a:xfrm>
            <a:off x="6309360" y="1463040"/>
            <a:ext cx="5150815" cy="658368"/>
          </a:xfrm>
          <a:prstGeom prst="rect">
            <a:avLst/>
          </a:prstGeom>
          <a:noFill/>
          <a:ln/>
        </p:spPr>
        <p:txBody>
          <a:bodyPr wrap="square" lIns="0" tIns="0" rIns="0" bIns="0" rtlCol="0" anchor="ctr"/>
          <a:lstStyle/>
          <a:p>
            <a:pPr indent="0" marL="0">
              <a:buNone/>
            </a:pPr>
            <a:r>
              <a:rPr lang="en-US" sz="1300" dirty="0">
                <a:solidFill>
                  <a:srgbClr val="5B6B72"/>
                </a:solidFill>
                <a:latin typeface="Calibri" pitchFamily="34" charset="0"/>
                <a:ea typeface="Calibri" pitchFamily="34" charset="-122"/>
                <a:cs typeface="Calibri" pitchFamily="34" charset="-120"/>
              </a:rPr>
              <a:t>Signed-off scope, awaiting PO · includes Tallis Water Authority phase 2, $112K</a:t>
            </a:r>
            <a:endParaRPr lang="en-US" sz="1300" dirty="0"/>
          </a:p>
        </p:txBody>
      </p:sp>
      <p:sp>
        <p:nvSpPr>
          <p:cNvPr id="7" name="Shape 5"/>
          <p:cNvSpPr/>
          <p:nvPr/>
        </p:nvSpPr>
        <p:spPr>
          <a:xfrm>
            <a:off x="548640" y="2176272"/>
            <a:ext cx="11094415" cy="658368"/>
          </a:xfrm>
          <a:prstGeom prst="rect">
            <a:avLst/>
          </a:prstGeom>
          <a:solidFill>
            <a:srgbClr val="FFFFFF"/>
          </a:solidFill>
          <a:ln w="12700">
            <a:solidFill>
              <a:srgbClr val="FFFFFF"/>
            </a:solidFill>
            <a:prstDash val="solid"/>
          </a:ln>
        </p:spPr>
      </p:sp>
      <p:sp>
        <p:nvSpPr>
          <p:cNvPr id="8" name="Text 6"/>
          <p:cNvSpPr txBox="1"/>
          <p:nvPr/>
        </p:nvSpPr>
        <p:spPr>
          <a:xfrm>
            <a:off x="777240" y="2176272"/>
            <a:ext cx="3291840" cy="658368"/>
          </a:xfrm>
          <a:prstGeom prst="rect">
            <a:avLst/>
          </a:prstGeom>
          <a:noFill/>
          <a:ln/>
        </p:spPr>
        <p:txBody>
          <a:bodyPr wrap="square" lIns="0" tIns="0" rIns="0" bIns="0" rtlCol="0" anchor="ctr"/>
          <a:lstStyle/>
          <a:p>
            <a:pPr indent="0" marL="0">
              <a:buNone/>
            </a:pPr>
            <a:r>
              <a:rPr lang="en-US" sz="1500" b="1" dirty="0">
                <a:solidFill>
                  <a:srgbClr val="1F2A30"/>
                </a:solidFill>
                <a:latin typeface="Calibri" pitchFamily="34" charset="0"/>
                <a:ea typeface="Calibri" pitchFamily="34" charset="-122"/>
                <a:cs typeface="Calibri" pitchFamily="34" charset="-120"/>
              </a:rPr>
              <a:t>Negotiation</a:t>
            </a:r>
            <a:endParaRPr lang="en-US" sz="1500" dirty="0"/>
          </a:p>
        </p:txBody>
      </p:sp>
      <p:sp>
        <p:nvSpPr>
          <p:cNvPr id="9" name="Text 7"/>
          <p:cNvSpPr txBox="1"/>
          <p:nvPr/>
        </p:nvSpPr>
        <p:spPr>
          <a:xfrm>
            <a:off x="4114800" y="2176272"/>
            <a:ext cx="2011680" cy="658368"/>
          </a:xfrm>
          <a:prstGeom prst="rect">
            <a:avLst/>
          </a:prstGeom>
          <a:noFill/>
          <a:ln/>
        </p:spPr>
        <p:txBody>
          <a:bodyPr wrap="square" lIns="0" tIns="0" rIns="0" bIns="0" rtlCol="0" anchor="ctr"/>
          <a:lstStyle/>
          <a:p>
            <a:pPr indent="0" marL="0">
              <a:buNone/>
            </a:pPr>
            <a:r>
              <a:rPr lang="en-US" sz="1800" b="1" dirty="0">
                <a:solidFill>
                  <a:srgbClr val="2E5E6E"/>
                </a:solidFill>
                <a:latin typeface="Cambria" pitchFamily="34" charset="0"/>
                <a:ea typeface="Cambria" pitchFamily="34" charset="-122"/>
                <a:cs typeface="Cambria" pitchFamily="34" charset="-120"/>
              </a:rPr>
              <a:t>$933K</a:t>
            </a:r>
            <a:endParaRPr lang="en-US" sz="1800" dirty="0"/>
          </a:p>
        </p:txBody>
      </p:sp>
      <p:sp>
        <p:nvSpPr>
          <p:cNvPr id="10" name="Text 8"/>
          <p:cNvSpPr txBox="1"/>
          <p:nvPr/>
        </p:nvSpPr>
        <p:spPr>
          <a:xfrm>
            <a:off x="6309360" y="2176272"/>
            <a:ext cx="5150815" cy="658368"/>
          </a:xfrm>
          <a:prstGeom prst="rect">
            <a:avLst/>
          </a:prstGeom>
          <a:noFill/>
          <a:ln/>
        </p:spPr>
        <p:txBody>
          <a:bodyPr wrap="square" lIns="0" tIns="0" rIns="0" bIns="0" rtlCol="0" anchor="ctr"/>
          <a:lstStyle/>
          <a:p>
            <a:pPr indent="0" marL="0">
              <a:buNone/>
            </a:pPr>
            <a:r>
              <a:rPr lang="en-US" sz="1300" dirty="0">
                <a:solidFill>
                  <a:srgbClr val="5B6B72"/>
                </a:solidFill>
                <a:latin typeface="Calibri" pitchFamily="34" charset="0"/>
                <a:ea typeface="Calibri" pitchFamily="34" charset="-122"/>
                <a:cs typeface="Calibri" pitchFamily="34" charset="-120"/>
              </a:rPr>
              <a:t>Hendricks Chemical $226K, Thornbury Power $196K, Sable Creek Gas $140K</a:t>
            </a:r>
            <a:endParaRPr lang="en-US" sz="1300" dirty="0"/>
          </a:p>
        </p:txBody>
      </p:sp>
      <p:sp>
        <p:nvSpPr>
          <p:cNvPr id="11" name="Shape 9"/>
          <p:cNvSpPr/>
          <p:nvPr/>
        </p:nvSpPr>
        <p:spPr>
          <a:xfrm>
            <a:off x="548640" y="2889504"/>
            <a:ext cx="11094415" cy="658368"/>
          </a:xfrm>
          <a:prstGeom prst="rect">
            <a:avLst/>
          </a:prstGeom>
          <a:solidFill>
            <a:srgbClr val="EEF2F3"/>
          </a:solidFill>
          <a:ln w="12700">
            <a:solidFill>
              <a:srgbClr val="EEF2F3"/>
            </a:solidFill>
            <a:prstDash val="solid"/>
          </a:ln>
        </p:spPr>
      </p:sp>
      <p:sp>
        <p:nvSpPr>
          <p:cNvPr id="12" name="Text 10"/>
          <p:cNvSpPr txBox="1"/>
          <p:nvPr/>
        </p:nvSpPr>
        <p:spPr>
          <a:xfrm>
            <a:off x="777240" y="2889504"/>
            <a:ext cx="3291840" cy="658368"/>
          </a:xfrm>
          <a:prstGeom prst="rect">
            <a:avLst/>
          </a:prstGeom>
          <a:noFill/>
          <a:ln/>
        </p:spPr>
        <p:txBody>
          <a:bodyPr wrap="square" lIns="0" tIns="0" rIns="0" bIns="0" rtlCol="0" anchor="ctr"/>
          <a:lstStyle/>
          <a:p>
            <a:pPr indent="0" marL="0">
              <a:buNone/>
            </a:pPr>
            <a:r>
              <a:rPr lang="en-US" sz="1500" b="1" dirty="0">
                <a:solidFill>
                  <a:srgbClr val="1F2A30"/>
                </a:solidFill>
                <a:latin typeface="Calibri" pitchFamily="34" charset="0"/>
                <a:ea typeface="Calibri" pitchFamily="34" charset="-122"/>
                <a:cs typeface="Calibri" pitchFamily="34" charset="-120"/>
              </a:rPr>
              <a:t>Proposal</a:t>
            </a:r>
            <a:endParaRPr lang="en-US" sz="1500" dirty="0"/>
          </a:p>
        </p:txBody>
      </p:sp>
      <p:sp>
        <p:nvSpPr>
          <p:cNvPr id="13" name="Text 11"/>
          <p:cNvSpPr txBox="1"/>
          <p:nvPr/>
        </p:nvSpPr>
        <p:spPr>
          <a:xfrm>
            <a:off x="4114800" y="2889504"/>
            <a:ext cx="2011680" cy="658368"/>
          </a:xfrm>
          <a:prstGeom prst="rect">
            <a:avLst/>
          </a:prstGeom>
          <a:noFill/>
          <a:ln/>
        </p:spPr>
        <p:txBody>
          <a:bodyPr wrap="square" lIns="0" tIns="0" rIns="0" bIns="0" rtlCol="0" anchor="ctr"/>
          <a:lstStyle/>
          <a:p>
            <a:pPr indent="0" marL="0">
              <a:buNone/>
            </a:pPr>
            <a:r>
              <a:rPr lang="en-US" sz="1800" b="1" dirty="0">
                <a:solidFill>
                  <a:srgbClr val="2E5E6E"/>
                </a:solidFill>
                <a:latin typeface="Cambria" pitchFamily="34" charset="0"/>
                <a:ea typeface="Cambria" pitchFamily="34" charset="-122"/>
                <a:cs typeface="Cambria" pitchFamily="34" charset="-120"/>
              </a:rPr>
              <a:t>$284K</a:t>
            </a:r>
            <a:endParaRPr lang="en-US" sz="1800" dirty="0"/>
          </a:p>
        </p:txBody>
      </p:sp>
      <p:sp>
        <p:nvSpPr>
          <p:cNvPr id="14" name="Text 12"/>
          <p:cNvSpPr txBox="1"/>
          <p:nvPr/>
        </p:nvSpPr>
        <p:spPr>
          <a:xfrm>
            <a:off x="6309360" y="2889504"/>
            <a:ext cx="5150815" cy="658368"/>
          </a:xfrm>
          <a:prstGeom prst="rect">
            <a:avLst/>
          </a:prstGeom>
          <a:noFill/>
          <a:ln/>
        </p:spPr>
        <p:txBody>
          <a:bodyPr wrap="square" lIns="0" tIns="0" rIns="0" bIns="0" rtlCol="0" anchor="ctr"/>
          <a:lstStyle/>
          <a:p>
            <a:pPr indent="0" marL="0">
              <a:buNone/>
            </a:pPr>
            <a:r>
              <a:rPr lang="en-US" sz="1300" dirty="0">
                <a:solidFill>
                  <a:srgbClr val="5B6B72"/>
                </a:solidFill>
                <a:latin typeface="Calibri" pitchFamily="34" charset="0"/>
                <a:ea typeface="Calibri" pitchFamily="34" charset="-122"/>
                <a:cs typeface="Calibri" pitchFamily="34" charset="-120"/>
              </a:rPr>
              <a:t>Includes the Ostergaard Process Systems multi-site rollout, $128K</a:t>
            </a:r>
            <a:endParaRPr lang="en-US" sz="1300" dirty="0"/>
          </a:p>
        </p:txBody>
      </p:sp>
      <p:sp>
        <p:nvSpPr>
          <p:cNvPr id="15" name="Shape 13"/>
          <p:cNvSpPr/>
          <p:nvPr/>
        </p:nvSpPr>
        <p:spPr>
          <a:xfrm>
            <a:off x="548640" y="3602736"/>
            <a:ext cx="11094415" cy="658368"/>
          </a:xfrm>
          <a:prstGeom prst="rect">
            <a:avLst/>
          </a:prstGeom>
          <a:solidFill>
            <a:srgbClr val="FFFFFF"/>
          </a:solidFill>
          <a:ln w="12700">
            <a:solidFill>
              <a:srgbClr val="FFFFFF"/>
            </a:solidFill>
            <a:prstDash val="solid"/>
          </a:ln>
        </p:spPr>
      </p:sp>
      <p:sp>
        <p:nvSpPr>
          <p:cNvPr id="16" name="Text 14"/>
          <p:cNvSpPr txBox="1"/>
          <p:nvPr/>
        </p:nvSpPr>
        <p:spPr>
          <a:xfrm>
            <a:off x="777240" y="3602736"/>
            <a:ext cx="3291840" cy="658368"/>
          </a:xfrm>
          <a:prstGeom prst="rect">
            <a:avLst/>
          </a:prstGeom>
          <a:noFill/>
          <a:ln/>
        </p:spPr>
        <p:txBody>
          <a:bodyPr wrap="square" lIns="0" tIns="0" rIns="0" bIns="0" rtlCol="0" anchor="ctr"/>
          <a:lstStyle/>
          <a:p>
            <a:pPr indent="0" marL="0">
              <a:buNone/>
            </a:pPr>
            <a:r>
              <a:rPr lang="en-US" sz="1500" b="1" dirty="0">
                <a:solidFill>
                  <a:srgbClr val="1F2A30"/>
                </a:solidFill>
                <a:latin typeface="Calibri" pitchFamily="34" charset="0"/>
                <a:ea typeface="Calibri" pitchFamily="34" charset="-122"/>
                <a:cs typeface="Calibri" pitchFamily="34" charset="-120"/>
              </a:rPr>
              <a:t>Qualification</a:t>
            </a:r>
            <a:endParaRPr lang="en-US" sz="1500" dirty="0"/>
          </a:p>
        </p:txBody>
      </p:sp>
      <p:sp>
        <p:nvSpPr>
          <p:cNvPr id="17" name="Text 15"/>
          <p:cNvSpPr txBox="1"/>
          <p:nvPr/>
        </p:nvSpPr>
        <p:spPr>
          <a:xfrm>
            <a:off x="4114800" y="3602736"/>
            <a:ext cx="2011680" cy="658368"/>
          </a:xfrm>
          <a:prstGeom prst="rect">
            <a:avLst/>
          </a:prstGeom>
          <a:noFill/>
          <a:ln/>
        </p:spPr>
        <p:txBody>
          <a:bodyPr wrap="square" lIns="0" tIns="0" rIns="0" bIns="0" rtlCol="0" anchor="ctr"/>
          <a:lstStyle/>
          <a:p>
            <a:pPr indent="0" marL="0">
              <a:buNone/>
            </a:pPr>
            <a:r>
              <a:rPr lang="en-US" sz="1800" b="1" dirty="0">
                <a:solidFill>
                  <a:srgbClr val="2E5E6E"/>
                </a:solidFill>
                <a:latin typeface="Cambria" pitchFamily="34" charset="0"/>
                <a:ea typeface="Cambria" pitchFamily="34" charset="-122"/>
                <a:cs typeface="Cambria" pitchFamily="34" charset="-120"/>
              </a:rPr>
              <a:t>$322K</a:t>
            </a:r>
            <a:endParaRPr lang="en-US" sz="1800" dirty="0"/>
          </a:p>
        </p:txBody>
      </p:sp>
      <p:sp>
        <p:nvSpPr>
          <p:cNvPr id="18" name="Text 16"/>
          <p:cNvSpPr txBox="1"/>
          <p:nvPr/>
        </p:nvSpPr>
        <p:spPr>
          <a:xfrm>
            <a:off x="6309360" y="3602736"/>
            <a:ext cx="5150815" cy="658368"/>
          </a:xfrm>
          <a:prstGeom prst="rect">
            <a:avLst/>
          </a:prstGeom>
          <a:noFill/>
          <a:ln/>
        </p:spPr>
        <p:txBody>
          <a:bodyPr wrap="square" lIns="0" tIns="0" rIns="0" bIns="0" rtlCol="0" anchor="ctr"/>
          <a:lstStyle/>
          <a:p>
            <a:pPr indent="0" marL="0">
              <a:buNone/>
            </a:pPr>
            <a:r>
              <a:rPr lang="en-US" sz="1300" dirty="0">
                <a:solidFill>
                  <a:srgbClr val="5B6B72"/>
                </a:solidFill>
                <a:latin typeface="Calibri" pitchFamily="34" charset="0"/>
                <a:ea typeface="Calibri" pitchFamily="34" charset="-122"/>
                <a:cs typeface="Calibri" pitchFamily="34" charset="-120"/>
              </a:rPr>
              <a:t>Includes Blackmoor Energy, $134K</a:t>
            </a:r>
            <a:endParaRPr lang="en-US" sz="1300" dirty="0"/>
          </a:p>
        </p:txBody>
      </p:sp>
      <p:sp>
        <p:nvSpPr>
          <p:cNvPr id="19" name="Shape 17"/>
          <p:cNvSpPr/>
          <p:nvPr/>
        </p:nvSpPr>
        <p:spPr>
          <a:xfrm>
            <a:off x="548640" y="4315968"/>
            <a:ext cx="11094415" cy="658368"/>
          </a:xfrm>
          <a:prstGeom prst="rect">
            <a:avLst/>
          </a:prstGeom>
          <a:solidFill>
            <a:srgbClr val="EEF2F3"/>
          </a:solidFill>
          <a:ln w="12700">
            <a:solidFill>
              <a:srgbClr val="EEF2F3"/>
            </a:solidFill>
            <a:prstDash val="solid"/>
          </a:ln>
        </p:spPr>
      </p:sp>
      <p:sp>
        <p:nvSpPr>
          <p:cNvPr id="20" name="Text 18"/>
          <p:cNvSpPr txBox="1"/>
          <p:nvPr/>
        </p:nvSpPr>
        <p:spPr>
          <a:xfrm>
            <a:off x="777240" y="4315968"/>
            <a:ext cx="3291840" cy="658368"/>
          </a:xfrm>
          <a:prstGeom prst="rect">
            <a:avLst/>
          </a:prstGeom>
          <a:noFill/>
          <a:ln/>
        </p:spPr>
        <p:txBody>
          <a:bodyPr wrap="square" lIns="0" tIns="0" rIns="0" bIns="0" rtlCol="0" anchor="ctr"/>
          <a:lstStyle/>
          <a:p>
            <a:pPr indent="0" marL="0">
              <a:buNone/>
            </a:pPr>
            <a:r>
              <a:rPr lang="en-US" sz="1500" b="1" dirty="0">
                <a:solidFill>
                  <a:srgbClr val="1F2A30"/>
                </a:solidFill>
                <a:latin typeface="Calibri" pitchFamily="34" charset="0"/>
                <a:ea typeface="Calibri" pitchFamily="34" charset="-122"/>
                <a:cs typeface="Calibri" pitchFamily="34" charset="-120"/>
              </a:rPr>
              <a:t>Discovery</a:t>
            </a:r>
            <a:endParaRPr lang="en-US" sz="1500" dirty="0"/>
          </a:p>
        </p:txBody>
      </p:sp>
      <p:sp>
        <p:nvSpPr>
          <p:cNvPr id="21" name="Text 19"/>
          <p:cNvSpPr txBox="1"/>
          <p:nvPr/>
        </p:nvSpPr>
        <p:spPr>
          <a:xfrm>
            <a:off x="4114800" y="4315968"/>
            <a:ext cx="2011680" cy="658368"/>
          </a:xfrm>
          <a:prstGeom prst="rect">
            <a:avLst/>
          </a:prstGeom>
          <a:noFill/>
          <a:ln/>
        </p:spPr>
        <p:txBody>
          <a:bodyPr wrap="square" lIns="0" tIns="0" rIns="0" bIns="0" rtlCol="0" anchor="ctr"/>
          <a:lstStyle/>
          <a:p>
            <a:pPr indent="0" marL="0">
              <a:buNone/>
            </a:pPr>
            <a:r>
              <a:rPr lang="en-US" sz="1800" b="1" dirty="0">
                <a:solidFill>
                  <a:srgbClr val="2E5E6E"/>
                </a:solidFill>
                <a:latin typeface="Cambria" pitchFamily="34" charset="0"/>
                <a:ea typeface="Cambria" pitchFamily="34" charset="-122"/>
                <a:cs typeface="Cambria" pitchFamily="34" charset="-120"/>
              </a:rPr>
              <a:t>$215K</a:t>
            </a:r>
            <a:endParaRPr lang="en-US" sz="1800" dirty="0"/>
          </a:p>
        </p:txBody>
      </p:sp>
      <p:sp>
        <p:nvSpPr>
          <p:cNvPr id="22" name="Text 20"/>
          <p:cNvSpPr txBox="1"/>
          <p:nvPr/>
        </p:nvSpPr>
        <p:spPr>
          <a:xfrm>
            <a:off x="6309360" y="4315968"/>
            <a:ext cx="5150815" cy="658368"/>
          </a:xfrm>
          <a:prstGeom prst="rect">
            <a:avLst/>
          </a:prstGeom>
          <a:noFill/>
          <a:ln/>
        </p:spPr>
        <p:txBody>
          <a:bodyPr wrap="square" lIns="0" tIns="0" rIns="0" bIns="0" rtlCol="0" anchor="ctr"/>
          <a:lstStyle/>
          <a:p>
            <a:pPr indent="0" marL="0">
              <a:buNone/>
            </a:pPr>
            <a:r>
              <a:rPr lang="en-US" sz="1300" dirty="0">
                <a:solidFill>
                  <a:srgbClr val="5B6B72"/>
                </a:solidFill>
                <a:latin typeface="Calibri" pitchFamily="34" charset="0"/>
                <a:ea typeface="Calibri" pitchFamily="34" charset="-122"/>
                <a:cs typeface="Calibri" pitchFamily="34" charset="-120"/>
              </a:rPr>
              <a:t>Includes Carver Automation, $24K</a:t>
            </a:r>
            <a:endParaRPr lang="en-US" sz="1300" dirty="0"/>
          </a:p>
        </p:txBody>
      </p:sp>
      <p:sp>
        <p:nvSpPr>
          <p:cNvPr id="23" name="Shape 21"/>
          <p:cNvSpPr/>
          <p:nvPr/>
        </p:nvSpPr>
        <p:spPr>
          <a:xfrm>
            <a:off x="548640" y="5029200"/>
            <a:ext cx="11094415" cy="658368"/>
          </a:xfrm>
          <a:prstGeom prst="rect">
            <a:avLst/>
          </a:prstGeom>
          <a:solidFill>
            <a:srgbClr val="1F2A30"/>
          </a:solidFill>
          <a:ln w="12700">
            <a:solidFill>
              <a:srgbClr val="1F2A30"/>
            </a:solidFill>
            <a:prstDash val="solid"/>
          </a:ln>
        </p:spPr>
      </p:sp>
      <p:sp>
        <p:nvSpPr>
          <p:cNvPr id="24" name="Text 22"/>
          <p:cNvSpPr txBox="1"/>
          <p:nvPr/>
        </p:nvSpPr>
        <p:spPr>
          <a:xfrm>
            <a:off x="777240" y="5029200"/>
            <a:ext cx="3291840" cy="65836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Total open pipeline</a:t>
            </a:r>
            <a:endParaRPr lang="en-US" sz="1500" dirty="0"/>
          </a:p>
        </p:txBody>
      </p:sp>
      <p:sp>
        <p:nvSpPr>
          <p:cNvPr id="25" name="Text 23"/>
          <p:cNvSpPr txBox="1"/>
          <p:nvPr/>
        </p:nvSpPr>
        <p:spPr>
          <a:xfrm>
            <a:off x="4114800" y="5029200"/>
            <a:ext cx="2011680" cy="658368"/>
          </a:xfrm>
          <a:prstGeom prst="rect">
            <a:avLst/>
          </a:prstGeom>
          <a:noFill/>
          <a:ln/>
        </p:spPr>
        <p:txBody>
          <a:bodyPr wrap="square" lIns="0" tIns="0" rIns="0" bIns="0" rtlCol="0" anchor="ctr"/>
          <a:lstStyle/>
          <a:p>
            <a:pPr indent="0" marL="0">
              <a:buNone/>
            </a:pPr>
            <a:r>
              <a:rPr lang="en-US" sz="1800" b="1" dirty="0">
                <a:solidFill>
                  <a:srgbClr val="E0A33A"/>
                </a:solidFill>
                <a:latin typeface="Cambria" pitchFamily="34" charset="0"/>
                <a:ea typeface="Cambria" pitchFamily="34" charset="-122"/>
                <a:cs typeface="Cambria" pitchFamily="34" charset="-120"/>
              </a:rPr>
              <a:t>$2.12M</a:t>
            </a:r>
            <a:endParaRPr lang="en-US" sz="1800" dirty="0"/>
          </a:p>
        </p:txBody>
      </p:sp>
      <p:sp>
        <p:nvSpPr>
          <p:cNvPr id="26" name="Text 24"/>
          <p:cNvSpPr txBox="1"/>
          <p:nvPr/>
        </p:nvSpPr>
        <p:spPr>
          <a:xfrm>
            <a:off x="6309360" y="5029200"/>
            <a:ext cx="5150815" cy="658368"/>
          </a:xfrm>
          <a:prstGeom prst="rect">
            <a:avLst/>
          </a:prstGeom>
          <a:noFill/>
          <a:ln/>
        </p:spPr>
        <p:txBody>
          <a:bodyPr wrap="square" lIns="0" tIns="0" rIns="0" bIns="0" rtlCol="0" anchor="ctr"/>
          <a:lstStyle/>
          <a:p>
            <a:pPr indent="0" marL="0">
              <a:buNone/>
            </a:pPr>
            <a:r>
              <a:rPr lang="en-US" sz="1300" dirty="0">
                <a:solidFill>
                  <a:srgbClr val="C9D3D6"/>
                </a:solidFill>
                <a:latin typeface="Calibri" pitchFamily="34" charset="0"/>
                <a:ea typeface="Calibri" pitchFamily="34" charset="-122"/>
                <a:cs typeface="Calibri" pitchFamily="34" charset="-120"/>
              </a:rPr>
              <a:t>$1.26M weighted · about 1.45x coverage of the Q2 base case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000" b="1" dirty="0">
                <a:solidFill>
                  <a:srgbClr val="1F2A30"/>
                </a:solidFill>
                <a:latin typeface="Cambria" pitchFamily="34" charset="0"/>
                <a:ea typeface="Cambria" pitchFamily="34" charset="-122"/>
                <a:cs typeface="Cambria" pitchFamily="34" charset="-120"/>
              </a:rPr>
              <a:t>Q2 Forecast: Base Case and Downside</a:t>
            </a:r>
            <a:endParaRPr lang="en-US" sz="3000" dirty="0"/>
          </a:p>
        </p:txBody>
      </p:sp>
      <p:sp>
        <p:nvSpPr>
          <p:cNvPr id="3" name="Shape 1"/>
          <p:cNvSpPr/>
          <p:nvPr/>
        </p:nvSpPr>
        <p:spPr>
          <a:xfrm>
            <a:off x="548640" y="1463040"/>
            <a:ext cx="3515258" cy="4846320"/>
          </a:xfrm>
          <a:prstGeom prst="roundRect">
            <a:avLst>
              <a:gd name="adj" fmla="val 2081"/>
            </a:avLst>
          </a:prstGeom>
          <a:solidFill>
            <a:srgbClr val="EEF2F3"/>
          </a:solidFill>
          <a:ln w="12700">
            <a:solidFill>
              <a:srgbClr val="EEF2F3"/>
            </a:solidFill>
            <a:prstDash val="solid"/>
          </a:ln>
        </p:spPr>
      </p:sp>
      <p:sp>
        <p:nvSpPr>
          <p:cNvPr id="4" name="Text 2"/>
          <p:cNvSpPr txBox="1"/>
          <p:nvPr/>
        </p:nvSpPr>
        <p:spPr>
          <a:xfrm>
            <a:off x="777240" y="1691640"/>
            <a:ext cx="3058058" cy="731520"/>
          </a:xfrm>
          <a:prstGeom prst="rect">
            <a:avLst/>
          </a:prstGeom>
          <a:noFill/>
          <a:ln/>
        </p:spPr>
        <p:txBody>
          <a:bodyPr wrap="square" lIns="0" tIns="0" rIns="0" bIns="0" rtlCol="0" anchor="t"/>
          <a:lstStyle/>
          <a:p>
            <a:pPr indent="0" marL="0">
              <a:buNone/>
            </a:pPr>
            <a:r>
              <a:rPr lang="en-US" sz="2000" b="1" dirty="0">
                <a:solidFill>
                  <a:srgbClr val="2E5E6E"/>
                </a:solidFill>
                <a:latin typeface="Cambria" pitchFamily="34" charset="0"/>
                <a:ea typeface="Cambria" pitchFamily="34" charset="-122"/>
                <a:cs typeface="Cambria" pitchFamily="34" charset="-120"/>
              </a:rPr>
              <a:t>Base case — $1.45M</a:t>
            </a:r>
            <a:endParaRPr lang="en-US" sz="2000" dirty="0"/>
          </a:p>
        </p:txBody>
      </p:sp>
      <p:sp>
        <p:nvSpPr>
          <p:cNvPr id="5" name="Text 3"/>
          <p:cNvSpPr txBox="1"/>
          <p:nvPr/>
        </p:nvSpPr>
        <p:spPr>
          <a:xfrm>
            <a:off x="777240" y="2468880"/>
            <a:ext cx="3058058" cy="36576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Hendricks closes in April</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Carver converts after its demo</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Normal run-rate business on top</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27% above Q1 actuals</a:t>
            </a:r>
            <a:endParaRPr lang="en-US" sz="1500" dirty="0"/>
          </a:p>
        </p:txBody>
      </p:sp>
      <p:sp>
        <p:nvSpPr>
          <p:cNvPr id="6" name="Shape 4"/>
          <p:cNvSpPr/>
          <p:nvPr/>
        </p:nvSpPr>
        <p:spPr>
          <a:xfrm>
            <a:off x="4338218" y="1463040"/>
            <a:ext cx="3515258" cy="4846320"/>
          </a:xfrm>
          <a:prstGeom prst="roundRect">
            <a:avLst>
              <a:gd name="adj" fmla="val 2081"/>
            </a:avLst>
          </a:prstGeom>
          <a:solidFill>
            <a:srgbClr val="FBEDE6"/>
          </a:solidFill>
          <a:ln w="12700">
            <a:solidFill>
              <a:srgbClr val="FBEDE6"/>
            </a:solidFill>
            <a:prstDash val="solid"/>
          </a:ln>
        </p:spPr>
      </p:sp>
      <p:sp>
        <p:nvSpPr>
          <p:cNvPr id="7" name="Text 5"/>
          <p:cNvSpPr txBox="1"/>
          <p:nvPr/>
        </p:nvSpPr>
        <p:spPr>
          <a:xfrm>
            <a:off x="4566818" y="1691640"/>
            <a:ext cx="3058058" cy="731520"/>
          </a:xfrm>
          <a:prstGeom prst="rect">
            <a:avLst/>
          </a:prstGeom>
          <a:noFill/>
          <a:ln/>
        </p:spPr>
        <p:txBody>
          <a:bodyPr wrap="square" lIns="0" tIns="0" rIns="0" bIns="0" rtlCol="0" anchor="t"/>
          <a:lstStyle/>
          <a:p>
            <a:pPr indent="0" marL="0">
              <a:buNone/>
            </a:pPr>
            <a:r>
              <a:rPr lang="en-US" sz="2000" b="1" dirty="0">
                <a:solidFill>
                  <a:srgbClr val="B4532A"/>
                </a:solidFill>
                <a:latin typeface="Cambria" pitchFamily="34" charset="0"/>
                <a:ea typeface="Cambria" pitchFamily="34" charset="-122"/>
                <a:cs typeface="Cambria" pitchFamily="34" charset="-120"/>
              </a:rPr>
              <a:t>Downside — $1.20–1.25M</a:t>
            </a:r>
            <a:endParaRPr lang="en-US" sz="2000" dirty="0"/>
          </a:p>
        </p:txBody>
      </p:sp>
      <p:sp>
        <p:nvSpPr>
          <p:cNvPr id="8" name="Text 6"/>
          <p:cNvSpPr txBox="1"/>
          <p:nvPr/>
        </p:nvSpPr>
        <p:spPr>
          <a:xfrm>
            <a:off x="4566818" y="2468880"/>
            <a:ext cx="3058058" cy="36576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Hendricks slips a second time</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Everything else as in the base case</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Still growth over Q1, by 5–10%</a:t>
            </a:r>
            <a:endParaRPr lang="en-US" sz="1500" dirty="0"/>
          </a:p>
        </p:txBody>
      </p:sp>
      <p:sp>
        <p:nvSpPr>
          <p:cNvPr id="9" name="Shape 7"/>
          <p:cNvSpPr/>
          <p:nvPr/>
        </p:nvSpPr>
        <p:spPr>
          <a:xfrm>
            <a:off x="8127797" y="1463040"/>
            <a:ext cx="3515258" cy="4846320"/>
          </a:xfrm>
          <a:prstGeom prst="roundRect">
            <a:avLst>
              <a:gd name="adj" fmla="val 2081"/>
            </a:avLst>
          </a:prstGeom>
          <a:solidFill>
            <a:srgbClr val="EEF2F3"/>
          </a:solidFill>
          <a:ln w="12700">
            <a:solidFill>
              <a:srgbClr val="EEF2F3"/>
            </a:solidFill>
            <a:prstDash val="solid"/>
          </a:ln>
        </p:spPr>
      </p:sp>
      <p:sp>
        <p:nvSpPr>
          <p:cNvPr id="10" name="Text 8"/>
          <p:cNvSpPr txBox="1"/>
          <p:nvPr/>
        </p:nvSpPr>
        <p:spPr>
          <a:xfrm>
            <a:off x="8356397" y="1691640"/>
            <a:ext cx="3058058" cy="731520"/>
          </a:xfrm>
          <a:prstGeom prst="rect">
            <a:avLst/>
          </a:prstGeom>
          <a:noFill/>
          <a:ln/>
        </p:spPr>
        <p:txBody>
          <a:bodyPr wrap="square" lIns="0" tIns="0" rIns="0" bIns="0" rtlCol="0" anchor="t"/>
          <a:lstStyle/>
          <a:p>
            <a:pPr indent="0" marL="0">
              <a:buNone/>
            </a:pPr>
            <a:r>
              <a:rPr lang="en-US" sz="2000" b="1" dirty="0">
                <a:solidFill>
                  <a:srgbClr val="2E5E6E"/>
                </a:solidFill>
                <a:latin typeface="Cambria" pitchFamily="34" charset="0"/>
                <a:ea typeface="Cambria" pitchFamily="34" charset="-122"/>
                <a:cs typeface="Cambria" pitchFamily="34" charset="-120"/>
              </a:rPr>
              <a:t>Coverage</a:t>
            </a:r>
            <a:endParaRPr lang="en-US" sz="2000" dirty="0"/>
          </a:p>
        </p:txBody>
      </p:sp>
      <p:sp>
        <p:nvSpPr>
          <p:cNvPr id="11" name="Text 9"/>
          <p:cNvSpPr txBox="1"/>
          <p:nvPr/>
        </p:nvSpPr>
        <p:spPr>
          <a:xfrm>
            <a:off x="8356397" y="2468880"/>
            <a:ext cx="3058058" cy="36576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$2.12M pipeline against $1.45M: about 1.45x</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Tighter than we would like</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Offset by deals being later-stage than at this point in Q1</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000" b="1" dirty="0">
                <a:solidFill>
                  <a:srgbClr val="1F2A30"/>
                </a:solidFill>
                <a:latin typeface="Cambria" pitchFamily="34" charset="0"/>
                <a:ea typeface="Cambria" pitchFamily="34" charset="-122"/>
                <a:cs typeface="Cambria" pitchFamily="34" charset="-120"/>
              </a:rPr>
              <a:t>Service Contract Revenue Is Not Yet in the Numbers</a:t>
            </a:r>
            <a:endParaRPr lang="en-US" sz="3000" dirty="0"/>
          </a:p>
        </p:txBody>
      </p:sp>
      <p:sp>
        <p:nvSpPr>
          <p:cNvPr id="3" name="Text 1"/>
          <p:cNvSpPr txBox="1"/>
          <p:nvPr/>
        </p:nvSpPr>
        <p:spPr>
          <a:xfrm>
            <a:off x="548640" y="1508760"/>
            <a:ext cx="6766560" cy="475488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rgbClr val="2C3A40"/>
                </a:solidFill>
                <a:latin typeface="Calibri" pitchFamily="34" charset="0"/>
                <a:ea typeface="Calibri" pitchFamily="34" charset="-122"/>
                <a:cs typeface="Calibri" pitchFamily="34" charset="-120"/>
              </a:rPr>
              <a:t>Active service contracts are tracked by Customer Support, not in the sales pipeline</a:t>
            </a:r>
            <a:endParaRPr lang="en-US" sz="1700" dirty="0"/>
          </a:p>
          <a:p>
            <a:pPr marL="228600" indent="-228600">
              <a:spcAft>
                <a:spcPts val="800"/>
              </a:spcAft>
              <a:buSzPct val="100000"/>
              <a:buChar char="•"/>
            </a:pPr>
            <a:r>
              <a:rPr lang="en-US" sz="1700" dirty="0">
                <a:solidFill>
                  <a:srgbClr val="2C3A40"/>
                </a:solidFill>
                <a:latin typeface="Calibri" pitchFamily="34" charset="0"/>
                <a:ea typeface="Calibri" pitchFamily="34" charset="-122"/>
                <a:cs typeface="Calibri" pitchFamily="34" charset="-120"/>
              </a:rPr>
              <a:t>Partial figure from the last close: about $180K annualized</a:t>
            </a:r>
            <a:endParaRPr lang="en-US" sz="1700" dirty="0"/>
          </a:p>
          <a:p>
            <a:pPr marL="228600" indent="-228600">
              <a:spcAft>
                <a:spcPts val="800"/>
              </a:spcAft>
              <a:buSzPct val="100000"/>
              <a:buChar char="•"/>
            </a:pPr>
            <a:r>
              <a:rPr lang="en-US" sz="1700" dirty="0">
                <a:solidFill>
                  <a:srgbClr val="2C3A40"/>
                </a:solidFill>
                <a:latin typeface="Calibri" pitchFamily="34" charset="0"/>
                <a:ea typeface="Calibri" pitchFamily="34" charset="-122"/>
                <a:cs typeface="Calibri" pitchFamily="34" charset="-120"/>
              </a:rPr>
              <a:t>Elena and Theo are building a complete contract list with renewal dates</a:t>
            </a:r>
            <a:endParaRPr lang="en-US" sz="1700" dirty="0"/>
          </a:p>
          <a:p>
            <a:pPr marL="228600" indent="-228600">
              <a:spcAft>
                <a:spcPts val="800"/>
              </a:spcAft>
              <a:buSzPct val="100000"/>
              <a:buChar char="•"/>
            </a:pPr>
            <a:r>
              <a:rPr lang="en-US" sz="1700" dirty="0">
                <a:solidFill>
                  <a:srgbClr val="2C3A40"/>
                </a:solidFill>
                <a:latin typeface="Calibri" pitchFamily="34" charset="0"/>
                <a:ea typeface="Calibri" pitchFamily="34" charset="-122"/>
                <a:cs typeface="Calibri" pitchFamily="34" charset="-120"/>
              </a:rPr>
              <a:t>Renewal calendar and proactive outreach ahead of Q3 renewals</a:t>
            </a:r>
            <a:endParaRPr lang="en-US" sz="1700" dirty="0"/>
          </a:p>
          <a:p>
            <a:pPr marL="228600" indent="-228600">
              <a:spcAft>
                <a:spcPts val="800"/>
              </a:spcAft>
              <a:buSzPct val="100000"/>
              <a:buChar char="•"/>
            </a:pPr>
            <a:r>
              <a:rPr lang="en-US" sz="1700" dirty="0">
                <a:solidFill>
                  <a:srgbClr val="2C3A40"/>
                </a:solidFill>
                <a:latin typeface="Calibri" pitchFamily="34" charset="0"/>
                <a:ea typeface="Calibri" pitchFamily="34" charset="-122"/>
                <a:cs typeface="Calibri" pitchFamily="34" charset="-120"/>
              </a:rPr>
              <a:t>Service renewals become a standing part of pipeline review from Q2</a:t>
            </a:r>
            <a:endParaRPr lang="en-US" sz="1700" dirty="0"/>
          </a:p>
        </p:txBody>
      </p:sp>
      <p:sp>
        <p:nvSpPr>
          <p:cNvPr id="4" name="Shape 2"/>
          <p:cNvSpPr/>
          <p:nvPr/>
        </p:nvSpPr>
        <p:spPr>
          <a:xfrm>
            <a:off x="7772400" y="1508760"/>
            <a:ext cx="3870655" cy="4480560"/>
          </a:xfrm>
          <a:prstGeom prst="roundRect">
            <a:avLst>
              <a:gd name="adj" fmla="val 1890"/>
            </a:avLst>
          </a:prstGeom>
          <a:solidFill>
            <a:srgbClr val="1F2A30"/>
          </a:solidFill>
          <a:ln w="12700">
            <a:solidFill>
              <a:srgbClr val="1F2A30"/>
            </a:solidFill>
            <a:prstDash val="solid"/>
          </a:ln>
        </p:spPr>
      </p:sp>
      <p:sp>
        <p:nvSpPr>
          <p:cNvPr id="5" name="Text 3"/>
          <p:cNvSpPr txBox="1"/>
          <p:nvPr/>
        </p:nvSpPr>
        <p:spPr>
          <a:xfrm>
            <a:off x="8092440" y="1828800"/>
            <a:ext cx="3230575" cy="1188720"/>
          </a:xfrm>
          <a:prstGeom prst="rect">
            <a:avLst/>
          </a:prstGeom>
          <a:noFill/>
          <a:ln/>
        </p:spPr>
        <p:txBody>
          <a:bodyPr wrap="square" lIns="0" tIns="0" rIns="0" bIns="0" rtlCol="0" anchor="b"/>
          <a:lstStyle/>
          <a:p>
            <a:pPr indent="0" marL="0">
              <a:buNone/>
            </a:pPr>
            <a:r>
              <a:rPr lang="en-US" sz="4800" b="1" dirty="0">
                <a:solidFill>
                  <a:srgbClr val="E0A33A"/>
                </a:solidFill>
                <a:latin typeface="Cambria" pitchFamily="34" charset="0"/>
                <a:ea typeface="Cambria" pitchFamily="34" charset="-122"/>
                <a:cs typeface="Cambria" pitchFamily="34" charset="-120"/>
              </a:rPr>
              <a:t>~$180K</a:t>
            </a:r>
            <a:endParaRPr lang="en-US" sz="4800" dirty="0"/>
          </a:p>
        </p:txBody>
      </p:sp>
      <p:sp>
        <p:nvSpPr>
          <p:cNvPr id="6" name="Text 4"/>
          <p:cNvSpPr txBox="1"/>
          <p:nvPr/>
        </p:nvSpPr>
        <p:spPr>
          <a:xfrm>
            <a:off x="8092440" y="3154680"/>
            <a:ext cx="3230575" cy="25603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Annualized service contract revenue, from an incomplete list. The real figure is being reconciled.</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2A30"/>
        </a:solidFill>
      </p:bgPr>
    </p:bg>
    <p:spTree>
      <p:nvGrpSpPr>
        <p:cNvPr id="1" name=""/>
        <p:cNvGrpSpPr/>
        <p:nvPr/>
      </p:nvGrpSpPr>
      <p:grpSpPr>
        <a:xfrm>
          <a:off x="0" y="0"/>
          <a:ext cx="0" cy="0"/>
          <a:chOff x="0" y="0"/>
          <a:chExt cx="0" cy="0"/>
        </a:xfrm>
      </p:grpSpPr>
      <p:sp>
        <p:nvSpPr>
          <p:cNvPr id="2" name="Shape 0"/>
          <p:cNvSpPr/>
          <p:nvPr/>
        </p:nvSpPr>
        <p:spPr>
          <a:xfrm>
            <a:off x="548640" y="2148840"/>
            <a:ext cx="1188720" cy="1188720"/>
          </a:xfrm>
          <a:prstGeom prst="ellipse">
            <a:avLst/>
          </a:prstGeom>
          <a:solidFill>
            <a:srgbClr val="E0A33A"/>
          </a:solidFill>
          <a:ln w="12700">
            <a:solidFill>
              <a:srgbClr val="E0A33A"/>
            </a:solidFill>
            <a:prstDash val="solid"/>
          </a:ln>
        </p:spPr>
      </p:sp>
      <p:sp>
        <p:nvSpPr>
          <p:cNvPr id="3" name="Text 1"/>
          <p:cNvSpPr txBox="1"/>
          <p:nvPr/>
        </p:nvSpPr>
        <p:spPr>
          <a:xfrm>
            <a:off x="548640" y="2148840"/>
            <a:ext cx="1188720" cy="1188720"/>
          </a:xfrm>
          <a:prstGeom prst="rect">
            <a:avLst/>
          </a:prstGeom>
          <a:noFill/>
          <a:ln/>
        </p:spPr>
        <p:txBody>
          <a:bodyPr wrap="square" lIns="0" tIns="0" rIns="0" bIns="0" rtlCol="0" anchor="ctr"/>
          <a:lstStyle/>
          <a:p>
            <a:pPr algn="ctr" indent="0" marL="0">
              <a:buNone/>
            </a:pPr>
            <a:r>
              <a:rPr lang="en-US" sz="3000" b="1" dirty="0">
                <a:solidFill>
                  <a:srgbClr val="1F2A30"/>
                </a:solidFill>
                <a:latin typeface="Cambria" pitchFamily="34" charset="0"/>
                <a:ea typeface="Cambria" pitchFamily="34" charset="-122"/>
                <a:cs typeface="Cambria" pitchFamily="34" charset="-120"/>
              </a:rPr>
              <a:t>02</a:t>
            </a:r>
            <a:endParaRPr lang="en-US" sz="3000" dirty="0"/>
          </a:p>
        </p:txBody>
      </p:sp>
      <p:sp>
        <p:nvSpPr>
          <p:cNvPr id="4" name="Text 2"/>
          <p:cNvSpPr txBox="1"/>
          <p:nvPr/>
        </p:nvSpPr>
        <p:spPr>
          <a:xfrm>
            <a:off x="2103120" y="2057400"/>
            <a:ext cx="868680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Product Line</a:t>
            </a:r>
            <a:endParaRPr lang="en-US" sz="3600" dirty="0"/>
          </a:p>
        </p:txBody>
      </p:sp>
      <p:sp>
        <p:nvSpPr>
          <p:cNvPr id="5" name="Text 3"/>
          <p:cNvSpPr txBox="1"/>
          <p:nvPr/>
        </p:nvSpPr>
        <p:spPr>
          <a:xfrm>
            <a:off x="2103120" y="2880360"/>
            <a:ext cx="8686800" cy="548640"/>
          </a:xfrm>
          <a:prstGeom prst="rect">
            <a:avLst/>
          </a:prstGeom>
          <a:noFill/>
          <a:ln/>
        </p:spPr>
        <p:txBody>
          <a:bodyPr wrap="square" lIns="0" tIns="0" rIns="0" bIns="0" rtlCol="0" anchor="ctr"/>
          <a:lstStyle/>
          <a:p>
            <a:pPr indent="0" marL="0">
              <a:buNone/>
            </a:pPr>
            <a:r>
              <a:rPr lang="en-US" sz="1600" dirty="0">
                <a:solidFill>
                  <a:srgbClr val="C9D3D6"/>
                </a:solidFill>
                <a:latin typeface="Calibri" pitchFamily="34" charset="0"/>
                <a:ea typeface="Calibri" pitchFamily="34" charset="-122"/>
                <a:cs typeface="Calibri" pitchFamily="34" charset="-120"/>
              </a:rPr>
              <a:t>A launch, a cost overrun, and a field issue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000" b="1" dirty="0">
                <a:solidFill>
                  <a:srgbClr val="1F2A30"/>
                </a:solidFill>
                <a:latin typeface="Cambria" pitchFamily="34" charset="0"/>
                <a:ea typeface="Cambria" pitchFamily="34" charset="-122"/>
                <a:cs typeface="Cambria" pitchFamily="34" charset="-120"/>
              </a:rPr>
              <a:t>FieldSense 200 Series Launches April 7</a:t>
            </a:r>
            <a:endParaRPr lang="en-US" sz="3000" dirty="0"/>
          </a:p>
        </p:txBody>
      </p:sp>
      <p:sp>
        <p:nvSpPr>
          <p:cNvPr id="3" name="Shape 1"/>
          <p:cNvSpPr/>
          <p:nvPr/>
        </p:nvSpPr>
        <p:spPr>
          <a:xfrm>
            <a:off x="548640" y="1463040"/>
            <a:ext cx="3515258" cy="1828800"/>
          </a:xfrm>
          <a:prstGeom prst="roundRect">
            <a:avLst>
              <a:gd name="adj" fmla="val 4000"/>
            </a:avLst>
          </a:prstGeom>
          <a:solidFill>
            <a:srgbClr val="EEF2F3"/>
          </a:solidFill>
          <a:ln w="12700">
            <a:solidFill>
              <a:srgbClr val="EEF2F3"/>
            </a:solidFill>
            <a:prstDash val="solid"/>
          </a:ln>
        </p:spPr>
      </p:sp>
      <p:sp>
        <p:nvSpPr>
          <p:cNvPr id="4" name="Text 2"/>
          <p:cNvSpPr txBox="1"/>
          <p:nvPr/>
        </p:nvSpPr>
        <p:spPr>
          <a:xfrm>
            <a:off x="777240" y="1645920"/>
            <a:ext cx="3058058" cy="868680"/>
          </a:xfrm>
          <a:prstGeom prst="rect">
            <a:avLst/>
          </a:prstGeom>
          <a:noFill/>
          <a:ln/>
        </p:spPr>
        <p:txBody>
          <a:bodyPr wrap="square" lIns="0" tIns="0" rIns="0" bIns="0" rtlCol="0" anchor="ctr"/>
          <a:lstStyle/>
          <a:p>
            <a:pPr indent="0" marL="0">
              <a:buNone/>
            </a:pPr>
            <a:r>
              <a:rPr lang="en-US" sz="4000" b="1" dirty="0">
                <a:solidFill>
                  <a:srgbClr val="2E5E6E"/>
                </a:solidFill>
                <a:latin typeface="Cambria" pitchFamily="34" charset="0"/>
                <a:ea typeface="Cambria" pitchFamily="34" charset="-122"/>
                <a:cs typeface="Cambria" pitchFamily="34" charset="-120"/>
              </a:rPr>
              <a:t>300</a:t>
            </a:r>
            <a:endParaRPr lang="en-US" sz="4000" dirty="0"/>
          </a:p>
        </p:txBody>
      </p:sp>
      <p:sp>
        <p:nvSpPr>
          <p:cNvPr id="5" name="Text 3"/>
          <p:cNvSpPr txBox="1"/>
          <p:nvPr/>
        </p:nvSpPr>
        <p:spPr>
          <a:xfrm>
            <a:off x="777240" y="2514600"/>
            <a:ext cx="3058058" cy="640080"/>
          </a:xfrm>
          <a:prstGeom prst="rect">
            <a:avLst/>
          </a:prstGeom>
          <a:noFill/>
          <a:ln/>
        </p:spPr>
        <p:txBody>
          <a:bodyPr wrap="square" lIns="0" tIns="0" rIns="0" bIns="0" rtlCol="0" anchor="t"/>
          <a:lstStyle/>
          <a:p>
            <a:pPr indent="0" marL="0">
              <a:buNone/>
            </a:pPr>
            <a:r>
              <a:rPr lang="en-US" sz="1300" dirty="0">
                <a:solidFill>
                  <a:srgbClr val="5B6B72"/>
                </a:solidFill>
                <a:latin typeface="Calibri" pitchFamily="34" charset="0"/>
                <a:ea typeface="Calibri" pitchFamily="34" charset="-122"/>
                <a:cs typeface="Calibri" pitchFamily="34" charset="-120"/>
              </a:rPr>
              <a:t>Units built as of March 27</a:t>
            </a:r>
            <a:endParaRPr lang="en-US" sz="1300" dirty="0"/>
          </a:p>
          <a:p>
            <a:pPr indent="0" marL="0">
              <a:buNone/>
            </a:pPr>
            <a:r>
              <a:rPr lang="en-US" sz="1300" dirty="0">
                <a:solidFill>
                  <a:srgbClr val="5B6B72"/>
                </a:solidFill>
                <a:latin typeface="Calibri" pitchFamily="34" charset="0"/>
                <a:ea typeface="Calibri" pitchFamily="34" charset="-122"/>
                <a:cs typeface="Calibri" pitchFamily="34" charset="-120"/>
              </a:rPr>
              <a:t>250 sellable, 50 for samples and demos</a:t>
            </a:r>
            <a:endParaRPr lang="en-US" sz="1300" dirty="0"/>
          </a:p>
        </p:txBody>
      </p:sp>
      <p:sp>
        <p:nvSpPr>
          <p:cNvPr id="6" name="Shape 4"/>
          <p:cNvSpPr/>
          <p:nvPr/>
        </p:nvSpPr>
        <p:spPr>
          <a:xfrm>
            <a:off x="4338218" y="1463040"/>
            <a:ext cx="3515258" cy="1828800"/>
          </a:xfrm>
          <a:prstGeom prst="roundRect">
            <a:avLst>
              <a:gd name="adj" fmla="val 4000"/>
            </a:avLst>
          </a:prstGeom>
          <a:solidFill>
            <a:srgbClr val="EEF2F3"/>
          </a:solidFill>
          <a:ln w="12700">
            <a:solidFill>
              <a:srgbClr val="EEF2F3"/>
            </a:solidFill>
            <a:prstDash val="solid"/>
          </a:ln>
        </p:spPr>
      </p:sp>
      <p:sp>
        <p:nvSpPr>
          <p:cNvPr id="7" name="Text 5"/>
          <p:cNvSpPr txBox="1"/>
          <p:nvPr/>
        </p:nvSpPr>
        <p:spPr>
          <a:xfrm>
            <a:off x="4566818" y="1645920"/>
            <a:ext cx="3058058" cy="868680"/>
          </a:xfrm>
          <a:prstGeom prst="rect">
            <a:avLst/>
          </a:prstGeom>
          <a:noFill/>
          <a:ln/>
        </p:spPr>
        <p:txBody>
          <a:bodyPr wrap="square" lIns="0" tIns="0" rIns="0" bIns="0" rtlCol="0" anchor="ctr"/>
          <a:lstStyle/>
          <a:p>
            <a:pPr indent="0" marL="0">
              <a:buNone/>
            </a:pPr>
            <a:r>
              <a:rPr lang="en-US" sz="4000" b="1" dirty="0">
                <a:solidFill>
                  <a:srgbClr val="2E5E6E"/>
                </a:solidFill>
                <a:latin typeface="Cambria" pitchFamily="34" charset="0"/>
                <a:ea typeface="Cambria" pitchFamily="34" charset="-122"/>
                <a:cs typeface="Cambria" pitchFamily="34" charset="-120"/>
              </a:rPr>
              <a:t>$840</a:t>
            </a:r>
            <a:endParaRPr lang="en-US" sz="4000" dirty="0"/>
          </a:p>
        </p:txBody>
      </p:sp>
      <p:sp>
        <p:nvSpPr>
          <p:cNvPr id="8" name="Text 6"/>
          <p:cNvSpPr txBox="1"/>
          <p:nvPr/>
        </p:nvSpPr>
        <p:spPr>
          <a:xfrm>
            <a:off x="4566818" y="2514600"/>
            <a:ext cx="3058058" cy="640080"/>
          </a:xfrm>
          <a:prstGeom prst="rect">
            <a:avLst/>
          </a:prstGeom>
          <a:noFill/>
          <a:ln/>
        </p:spPr>
        <p:txBody>
          <a:bodyPr wrap="square" lIns="0" tIns="0" rIns="0" bIns="0" rtlCol="0" anchor="t"/>
          <a:lstStyle/>
          <a:p>
            <a:pPr indent="0" marL="0">
              <a:buNone/>
            </a:pPr>
            <a:r>
              <a:rPr lang="en-US" sz="1300" dirty="0">
                <a:solidFill>
                  <a:srgbClr val="5B6B72"/>
                </a:solidFill>
                <a:latin typeface="Calibri" pitchFamily="34" charset="0"/>
                <a:ea typeface="Calibri" pitchFamily="34" charset="-122"/>
                <a:cs typeface="Calibri" pitchFamily="34" charset="-120"/>
              </a:rPr>
              <a:t>List price per unit</a:t>
            </a:r>
            <a:endParaRPr lang="en-US" sz="1300" dirty="0"/>
          </a:p>
          <a:p>
            <a:pPr indent="0" marL="0">
              <a:buNone/>
            </a:pPr>
            <a:r>
              <a:rPr lang="en-US" sz="1300" dirty="0">
                <a:solidFill>
                  <a:srgbClr val="5B6B72"/>
                </a:solidFill>
                <a:latin typeface="Calibri" pitchFamily="34" charset="0"/>
                <a:ea typeface="Calibri" pitchFamily="34" charset="-122"/>
                <a:cs typeface="Calibri" pitchFamily="34" charset="-120"/>
              </a:rPr>
              <a:t>$800 at 25 units and above</a:t>
            </a:r>
            <a:endParaRPr lang="en-US" sz="1300" dirty="0"/>
          </a:p>
        </p:txBody>
      </p:sp>
      <p:sp>
        <p:nvSpPr>
          <p:cNvPr id="9" name="Shape 7"/>
          <p:cNvSpPr/>
          <p:nvPr/>
        </p:nvSpPr>
        <p:spPr>
          <a:xfrm>
            <a:off x="8127797" y="1463040"/>
            <a:ext cx="3515258" cy="1828800"/>
          </a:xfrm>
          <a:prstGeom prst="roundRect">
            <a:avLst>
              <a:gd name="adj" fmla="val 4000"/>
            </a:avLst>
          </a:prstGeom>
          <a:solidFill>
            <a:srgbClr val="EEF2F3"/>
          </a:solidFill>
          <a:ln w="12700">
            <a:solidFill>
              <a:srgbClr val="EEF2F3"/>
            </a:solidFill>
            <a:prstDash val="solid"/>
          </a:ln>
        </p:spPr>
      </p:sp>
      <p:sp>
        <p:nvSpPr>
          <p:cNvPr id="10" name="Text 8"/>
          <p:cNvSpPr txBox="1"/>
          <p:nvPr/>
        </p:nvSpPr>
        <p:spPr>
          <a:xfrm>
            <a:off x="8356397" y="1645920"/>
            <a:ext cx="3058058" cy="868680"/>
          </a:xfrm>
          <a:prstGeom prst="rect">
            <a:avLst/>
          </a:prstGeom>
          <a:noFill/>
          <a:ln/>
        </p:spPr>
        <p:txBody>
          <a:bodyPr wrap="square" lIns="0" tIns="0" rIns="0" bIns="0" rtlCol="0" anchor="ctr"/>
          <a:lstStyle/>
          <a:p>
            <a:pPr indent="0" marL="0">
              <a:buNone/>
            </a:pPr>
            <a:r>
              <a:rPr lang="en-US" sz="4000" b="1" dirty="0">
                <a:solidFill>
                  <a:srgbClr val="2E5E6E"/>
                </a:solidFill>
                <a:latin typeface="Cambria" pitchFamily="34" charset="0"/>
                <a:ea typeface="Cambria" pitchFamily="34" charset="-122"/>
                <a:cs typeface="Cambria" pitchFamily="34" charset="-120"/>
              </a:rPr>
              <a:t>±0.3%</a:t>
            </a:r>
            <a:endParaRPr lang="en-US" sz="4000" dirty="0"/>
          </a:p>
        </p:txBody>
      </p:sp>
      <p:sp>
        <p:nvSpPr>
          <p:cNvPr id="11" name="Text 9"/>
          <p:cNvSpPr txBox="1"/>
          <p:nvPr/>
        </p:nvSpPr>
        <p:spPr>
          <a:xfrm>
            <a:off x="8356397" y="2514600"/>
            <a:ext cx="3058058" cy="640080"/>
          </a:xfrm>
          <a:prstGeom prst="rect">
            <a:avLst/>
          </a:prstGeom>
          <a:noFill/>
          <a:ln/>
        </p:spPr>
        <p:txBody>
          <a:bodyPr wrap="square" lIns="0" tIns="0" rIns="0" bIns="0" rtlCol="0" anchor="t"/>
          <a:lstStyle/>
          <a:p>
            <a:pPr indent="0" marL="0">
              <a:buNone/>
            </a:pPr>
            <a:r>
              <a:rPr lang="en-US" sz="1300" dirty="0">
                <a:solidFill>
                  <a:srgbClr val="5B6B72"/>
                </a:solidFill>
                <a:latin typeface="Calibri" pitchFamily="34" charset="0"/>
                <a:ea typeface="Calibri" pitchFamily="34" charset="-122"/>
                <a:cs typeface="Calibri" pitchFamily="34" charset="-120"/>
              </a:rPr>
              <a:t>Accuracy under high vibration</a:t>
            </a:r>
            <a:endParaRPr lang="en-US" sz="1300" dirty="0"/>
          </a:p>
          <a:p>
            <a:pPr indent="0" marL="0">
              <a:buNone/>
            </a:pPr>
            <a:r>
              <a:rPr lang="en-US" sz="1300" dirty="0">
                <a:solidFill>
                  <a:srgbClr val="5B6B72"/>
                </a:solidFill>
                <a:latin typeface="Calibri" pitchFamily="34" charset="0"/>
                <a:ea typeface="Calibri" pitchFamily="34" charset="-122"/>
                <a:cs typeface="Calibri" pitchFamily="34" charset="-120"/>
              </a:rPr>
              <a:t>vs. about ±2% for competing units</a:t>
            </a:r>
            <a:endParaRPr lang="en-US" sz="1300" dirty="0"/>
          </a:p>
        </p:txBody>
      </p:sp>
      <p:sp>
        <p:nvSpPr>
          <p:cNvPr id="12" name="Text 10"/>
          <p:cNvSpPr txBox="1"/>
          <p:nvPr/>
        </p:nvSpPr>
        <p:spPr>
          <a:xfrm>
            <a:off x="548640" y="3657600"/>
            <a:ext cx="11094415" cy="274320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2C3A40"/>
                </a:solidFill>
                <a:latin typeface="Calibri" pitchFamily="34" charset="0"/>
                <a:ea typeface="Calibri" pitchFamily="34" charset="-122"/>
                <a:cs typeface="Calibri" pitchFamily="34" charset="-120"/>
              </a:rPr>
              <a:t>Product page live April 4; email, paid search, and press release April 7</a:t>
            </a:r>
            <a:endParaRPr lang="en-US" sz="1600" dirty="0"/>
          </a:p>
          <a:p>
            <a:pPr marL="228600" indent="-228600">
              <a:spcAft>
                <a:spcPts val="800"/>
              </a:spcAft>
              <a:buSzPct val="100000"/>
              <a:buChar char="•"/>
            </a:pPr>
            <a:r>
              <a:rPr lang="en-US" sz="1600" dirty="0">
                <a:solidFill>
                  <a:srgbClr val="2C3A40"/>
                </a:solidFill>
                <a:latin typeface="Calibri" pitchFamily="34" charset="0"/>
                <a:ea typeface="Calibri" pitchFamily="34" charset="-122"/>
                <a:cs typeface="Calibri" pitchFamily="34" charset="-120"/>
              </a:rPr>
              <a:t>Standard cost $491 fully loaded: 41.5% margin at list, 38.6% at the volume price</a:t>
            </a:r>
            <a:endParaRPr lang="en-US" sz="1600" dirty="0"/>
          </a:p>
          <a:p>
            <a:pPr marL="228600" indent="-228600">
              <a:spcAft>
                <a:spcPts val="800"/>
              </a:spcAft>
              <a:buSzPct val="100000"/>
              <a:buChar char="•"/>
            </a:pPr>
            <a:r>
              <a:rPr lang="en-US" sz="1600" dirty="0">
                <a:solidFill>
                  <a:srgbClr val="2C3A40"/>
                </a:solidFill>
                <a:latin typeface="Calibri" pitchFamily="34" charset="0"/>
                <a:ea typeface="Calibri" pitchFamily="34" charset="-122"/>
                <a:cs typeface="Calibri" pitchFamily="34" charset="-120"/>
              </a:rPr>
              <a:t>First order in Q1: Ostergaard Process Systems, 40-unit trial</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000" b="1" dirty="0">
                <a:solidFill>
                  <a:srgbClr val="1F2A30"/>
                </a:solidFill>
                <a:latin typeface="Cambria" pitchFamily="34" charset="0"/>
                <a:ea typeface="Cambria" pitchFamily="34" charset="-122"/>
                <a:cs typeface="Cambria" pitchFamily="34" charset="-120"/>
              </a:rPr>
              <a:t>ProximaSense X4: Unit Cost Over Model</a:t>
            </a:r>
            <a:endParaRPr lang="en-US" sz="3000" dirty="0"/>
          </a:p>
        </p:txBody>
      </p:sp>
      <p:sp>
        <p:nvSpPr>
          <p:cNvPr id="3" name="Shape 1"/>
          <p:cNvSpPr/>
          <p:nvPr/>
        </p:nvSpPr>
        <p:spPr>
          <a:xfrm>
            <a:off x="548640" y="1463040"/>
            <a:ext cx="2567864" cy="1828800"/>
          </a:xfrm>
          <a:prstGeom prst="roundRect">
            <a:avLst>
              <a:gd name="adj" fmla="val 4000"/>
            </a:avLst>
          </a:prstGeom>
          <a:solidFill>
            <a:srgbClr val="FBEDE6"/>
          </a:solidFill>
          <a:ln w="12700">
            <a:solidFill>
              <a:srgbClr val="FBEDE6"/>
            </a:solidFill>
            <a:prstDash val="solid"/>
          </a:ln>
        </p:spPr>
      </p:sp>
      <p:sp>
        <p:nvSpPr>
          <p:cNvPr id="4" name="Text 2"/>
          <p:cNvSpPr txBox="1"/>
          <p:nvPr/>
        </p:nvSpPr>
        <p:spPr>
          <a:xfrm>
            <a:off x="777240" y="1645920"/>
            <a:ext cx="2110664" cy="868680"/>
          </a:xfrm>
          <a:prstGeom prst="rect">
            <a:avLst/>
          </a:prstGeom>
          <a:noFill/>
          <a:ln/>
        </p:spPr>
        <p:txBody>
          <a:bodyPr wrap="square" lIns="0" tIns="0" rIns="0" bIns="0" rtlCol="0" anchor="ctr"/>
          <a:lstStyle/>
          <a:p>
            <a:pPr indent="0" marL="0">
              <a:buNone/>
            </a:pPr>
            <a:r>
              <a:rPr lang="en-US" sz="3400" b="1" dirty="0">
                <a:solidFill>
                  <a:srgbClr val="B4532A"/>
                </a:solidFill>
                <a:latin typeface="Cambria" pitchFamily="34" charset="0"/>
                <a:ea typeface="Cambria" pitchFamily="34" charset="-122"/>
                <a:cs typeface="Cambria" pitchFamily="34" charset="-120"/>
              </a:rPr>
              <a:t>$47.20</a:t>
            </a:r>
            <a:endParaRPr lang="en-US" sz="3400" dirty="0"/>
          </a:p>
        </p:txBody>
      </p:sp>
      <p:sp>
        <p:nvSpPr>
          <p:cNvPr id="5" name="Text 3"/>
          <p:cNvSpPr txBox="1"/>
          <p:nvPr/>
        </p:nvSpPr>
        <p:spPr>
          <a:xfrm>
            <a:off x="777240" y="2514600"/>
            <a:ext cx="2110664" cy="640080"/>
          </a:xfrm>
          <a:prstGeom prst="rect">
            <a:avLst/>
          </a:prstGeom>
          <a:noFill/>
          <a:ln/>
        </p:spPr>
        <p:txBody>
          <a:bodyPr wrap="square" lIns="0" tIns="0" rIns="0" bIns="0" rtlCol="0" anchor="t"/>
          <a:lstStyle/>
          <a:p>
            <a:pPr indent="0" marL="0">
              <a:buNone/>
            </a:pPr>
            <a:r>
              <a:rPr lang="en-US" sz="1300" dirty="0">
                <a:solidFill>
                  <a:srgbClr val="5B6B72"/>
                </a:solidFill>
                <a:latin typeface="Calibri" pitchFamily="34" charset="0"/>
                <a:ea typeface="Calibri" pitchFamily="34" charset="-122"/>
                <a:cs typeface="Calibri" pitchFamily="34" charset="-120"/>
              </a:rPr>
              <a:t>Landed cost per unit, last run</a:t>
            </a:r>
            <a:endParaRPr lang="en-US" sz="1300" dirty="0"/>
          </a:p>
        </p:txBody>
      </p:sp>
      <p:sp>
        <p:nvSpPr>
          <p:cNvPr id="6" name="Shape 4"/>
          <p:cNvSpPr/>
          <p:nvPr/>
        </p:nvSpPr>
        <p:spPr>
          <a:xfrm>
            <a:off x="3390824" y="1463040"/>
            <a:ext cx="2567864" cy="1828800"/>
          </a:xfrm>
          <a:prstGeom prst="roundRect">
            <a:avLst>
              <a:gd name="adj" fmla="val 4000"/>
            </a:avLst>
          </a:prstGeom>
          <a:solidFill>
            <a:srgbClr val="EEF2F3"/>
          </a:solidFill>
          <a:ln w="12700">
            <a:solidFill>
              <a:srgbClr val="EEF2F3"/>
            </a:solidFill>
            <a:prstDash val="solid"/>
          </a:ln>
        </p:spPr>
      </p:sp>
      <p:sp>
        <p:nvSpPr>
          <p:cNvPr id="7" name="Text 5"/>
          <p:cNvSpPr txBox="1"/>
          <p:nvPr/>
        </p:nvSpPr>
        <p:spPr>
          <a:xfrm>
            <a:off x="3619424" y="1645920"/>
            <a:ext cx="2110664" cy="868680"/>
          </a:xfrm>
          <a:prstGeom prst="rect">
            <a:avLst/>
          </a:prstGeom>
          <a:noFill/>
          <a:ln/>
        </p:spPr>
        <p:txBody>
          <a:bodyPr wrap="square" lIns="0" tIns="0" rIns="0" bIns="0" rtlCol="0" anchor="ctr"/>
          <a:lstStyle/>
          <a:p>
            <a:pPr indent="0" marL="0">
              <a:buNone/>
            </a:pPr>
            <a:r>
              <a:rPr lang="en-US" sz="3400" b="1" dirty="0">
                <a:solidFill>
                  <a:srgbClr val="2E5E6E"/>
                </a:solidFill>
                <a:latin typeface="Cambria" pitchFamily="34" charset="0"/>
                <a:ea typeface="Cambria" pitchFamily="34" charset="-122"/>
                <a:cs typeface="Cambria" pitchFamily="34" charset="-120"/>
              </a:rPr>
              <a:t>$38.20</a:t>
            </a:r>
            <a:endParaRPr lang="en-US" sz="3400" dirty="0"/>
          </a:p>
        </p:txBody>
      </p:sp>
      <p:sp>
        <p:nvSpPr>
          <p:cNvPr id="8" name="Text 6"/>
          <p:cNvSpPr txBox="1"/>
          <p:nvPr/>
        </p:nvSpPr>
        <p:spPr>
          <a:xfrm>
            <a:off x="3619424" y="2514600"/>
            <a:ext cx="2110664" cy="640080"/>
          </a:xfrm>
          <a:prstGeom prst="rect">
            <a:avLst/>
          </a:prstGeom>
          <a:noFill/>
          <a:ln/>
        </p:spPr>
        <p:txBody>
          <a:bodyPr wrap="square" lIns="0" tIns="0" rIns="0" bIns="0" rtlCol="0" anchor="t"/>
          <a:lstStyle/>
          <a:p>
            <a:pPr indent="0" marL="0">
              <a:buNone/>
            </a:pPr>
            <a:r>
              <a:rPr lang="en-US" sz="1300" dirty="0">
                <a:solidFill>
                  <a:srgbClr val="5B6B72"/>
                </a:solidFill>
                <a:latin typeface="Calibri" pitchFamily="34" charset="0"/>
                <a:ea typeface="Calibri" pitchFamily="34" charset="-122"/>
                <a:cs typeface="Calibri" pitchFamily="34" charset="-120"/>
              </a:rPr>
              <a:t>Cost modeled at pricing</a:t>
            </a:r>
            <a:endParaRPr lang="en-US" sz="1300" dirty="0"/>
          </a:p>
        </p:txBody>
      </p:sp>
      <p:sp>
        <p:nvSpPr>
          <p:cNvPr id="9" name="Shape 7"/>
          <p:cNvSpPr/>
          <p:nvPr/>
        </p:nvSpPr>
        <p:spPr>
          <a:xfrm>
            <a:off x="6233008" y="1463040"/>
            <a:ext cx="2567864" cy="1828800"/>
          </a:xfrm>
          <a:prstGeom prst="roundRect">
            <a:avLst>
              <a:gd name="adj" fmla="val 4000"/>
            </a:avLst>
          </a:prstGeom>
          <a:solidFill>
            <a:srgbClr val="FBEDE6"/>
          </a:solidFill>
          <a:ln w="12700">
            <a:solidFill>
              <a:srgbClr val="FBEDE6"/>
            </a:solidFill>
            <a:prstDash val="solid"/>
          </a:ln>
        </p:spPr>
      </p:sp>
      <p:sp>
        <p:nvSpPr>
          <p:cNvPr id="10" name="Text 8"/>
          <p:cNvSpPr txBox="1"/>
          <p:nvPr/>
        </p:nvSpPr>
        <p:spPr>
          <a:xfrm>
            <a:off x="6461608" y="1645920"/>
            <a:ext cx="2110664" cy="868680"/>
          </a:xfrm>
          <a:prstGeom prst="rect">
            <a:avLst/>
          </a:prstGeom>
          <a:noFill/>
          <a:ln/>
        </p:spPr>
        <p:txBody>
          <a:bodyPr wrap="square" lIns="0" tIns="0" rIns="0" bIns="0" rtlCol="0" anchor="ctr"/>
          <a:lstStyle/>
          <a:p>
            <a:pPr indent="0" marL="0">
              <a:buNone/>
            </a:pPr>
            <a:r>
              <a:rPr lang="en-US" sz="3400" b="1" dirty="0">
                <a:solidFill>
                  <a:srgbClr val="B4532A"/>
                </a:solidFill>
                <a:latin typeface="Cambria" pitchFamily="34" charset="0"/>
                <a:ea typeface="Cambria" pitchFamily="34" charset="-122"/>
                <a:cs typeface="Cambria" pitchFamily="34" charset="-120"/>
              </a:rPr>
              <a:t>12%</a:t>
            </a:r>
            <a:endParaRPr lang="en-US" sz="3400" dirty="0"/>
          </a:p>
        </p:txBody>
      </p:sp>
      <p:sp>
        <p:nvSpPr>
          <p:cNvPr id="11" name="Text 9"/>
          <p:cNvSpPr txBox="1"/>
          <p:nvPr/>
        </p:nvSpPr>
        <p:spPr>
          <a:xfrm>
            <a:off x="6461608" y="2514600"/>
            <a:ext cx="2110664" cy="640080"/>
          </a:xfrm>
          <a:prstGeom prst="rect">
            <a:avLst/>
          </a:prstGeom>
          <a:noFill/>
          <a:ln/>
        </p:spPr>
        <p:txBody>
          <a:bodyPr wrap="square" lIns="0" tIns="0" rIns="0" bIns="0" rtlCol="0" anchor="t"/>
          <a:lstStyle/>
          <a:p>
            <a:pPr indent="0" marL="0">
              <a:buNone/>
            </a:pPr>
            <a:r>
              <a:rPr lang="en-US" sz="1300" dirty="0">
                <a:solidFill>
                  <a:srgbClr val="5B6B72"/>
                </a:solidFill>
                <a:latin typeface="Calibri" pitchFamily="34" charset="0"/>
                <a:ea typeface="Calibri" pitchFamily="34" charset="-122"/>
                <a:cs typeface="Calibri" pitchFamily="34" charset="-120"/>
              </a:rPr>
              <a:t>Transducer reject rate</a:t>
            </a:r>
            <a:endParaRPr lang="en-US" sz="1300" dirty="0"/>
          </a:p>
          <a:p>
            <a:pPr indent="0" marL="0">
              <a:buNone/>
            </a:pPr>
            <a:r>
              <a:rPr lang="en-US" sz="1300" dirty="0">
                <a:solidFill>
                  <a:srgbClr val="5B6B72"/>
                </a:solidFill>
                <a:latin typeface="Calibri" pitchFamily="34" charset="0"/>
                <a:ea typeface="Calibri" pitchFamily="34" charset="-122"/>
                <a:cs typeface="Calibri" pitchFamily="34" charset="-120"/>
              </a:rPr>
              <a:t>vs. 6% planned</a:t>
            </a:r>
            <a:endParaRPr lang="en-US" sz="1300" dirty="0"/>
          </a:p>
        </p:txBody>
      </p:sp>
      <p:sp>
        <p:nvSpPr>
          <p:cNvPr id="12" name="Shape 10"/>
          <p:cNvSpPr/>
          <p:nvPr/>
        </p:nvSpPr>
        <p:spPr>
          <a:xfrm>
            <a:off x="9075191" y="1463040"/>
            <a:ext cx="2567864" cy="1828800"/>
          </a:xfrm>
          <a:prstGeom prst="roundRect">
            <a:avLst>
              <a:gd name="adj" fmla="val 4000"/>
            </a:avLst>
          </a:prstGeom>
          <a:solidFill>
            <a:srgbClr val="EEF2F3"/>
          </a:solidFill>
          <a:ln w="12700">
            <a:solidFill>
              <a:srgbClr val="EEF2F3"/>
            </a:solidFill>
            <a:prstDash val="solid"/>
          </a:ln>
        </p:spPr>
      </p:sp>
      <p:sp>
        <p:nvSpPr>
          <p:cNvPr id="13" name="Text 11"/>
          <p:cNvSpPr txBox="1"/>
          <p:nvPr/>
        </p:nvSpPr>
        <p:spPr>
          <a:xfrm>
            <a:off x="9303791" y="1645920"/>
            <a:ext cx="2110664" cy="868680"/>
          </a:xfrm>
          <a:prstGeom prst="rect">
            <a:avLst/>
          </a:prstGeom>
          <a:noFill/>
          <a:ln/>
        </p:spPr>
        <p:txBody>
          <a:bodyPr wrap="square" lIns="0" tIns="0" rIns="0" bIns="0" rtlCol="0" anchor="ctr"/>
          <a:lstStyle/>
          <a:p>
            <a:pPr indent="0" marL="0">
              <a:buNone/>
            </a:pPr>
            <a:r>
              <a:rPr lang="en-US" sz="3400" b="1" dirty="0">
                <a:solidFill>
                  <a:srgbClr val="2E5E6E"/>
                </a:solidFill>
                <a:latin typeface="Cambria" pitchFamily="34" charset="0"/>
                <a:ea typeface="Cambria" pitchFamily="34" charset="-122"/>
                <a:cs typeface="Cambria" pitchFamily="34" charset="-120"/>
              </a:rPr>
              <a:t>$41</a:t>
            </a:r>
            <a:endParaRPr lang="en-US" sz="3400" dirty="0"/>
          </a:p>
        </p:txBody>
      </p:sp>
      <p:sp>
        <p:nvSpPr>
          <p:cNvPr id="14" name="Text 12"/>
          <p:cNvSpPr txBox="1"/>
          <p:nvPr/>
        </p:nvSpPr>
        <p:spPr>
          <a:xfrm>
            <a:off x="9303791" y="2514600"/>
            <a:ext cx="2110664" cy="640080"/>
          </a:xfrm>
          <a:prstGeom prst="rect">
            <a:avLst/>
          </a:prstGeom>
          <a:noFill/>
          <a:ln/>
        </p:spPr>
        <p:txBody>
          <a:bodyPr wrap="square" lIns="0" tIns="0" rIns="0" bIns="0" rtlCol="0" anchor="t"/>
          <a:lstStyle/>
          <a:p>
            <a:pPr indent="0" marL="0">
              <a:buNone/>
            </a:pPr>
            <a:r>
              <a:rPr lang="en-US" sz="1300" dirty="0">
                <a:solidFill>
                  <a:srgbClr val="5B6B72"/>
                </a:solidFill>
                <a:latin typeface="Calibri" pitchFamily="34" charset="0"/>
                <a:ea typeface="Calibri" pitchFamily="34" charset="-122"/>
                <a:cs typeface="Calibri" pitchFamily="34" charset="-120"/>
              </a:rPr>
              <a:t>Target landed cost</a:t>
            </a:r>
            <a:endParaRPr lang="en-US" sz="1300" dirty="0"/>
          </a:p>
          <a:p>
            <a:pPr indent="0" marL="0">
              <a:buNone/>
            </a:pPr>
            <a:r>
              <a:rPr lang="en-US" sz="1300" dirty="0">
                <a:solidFill>
                  <a:srgbClr val="5B6B72"/>
                </a:solidFill>
                <a:latin typeface="Calibri" pitchFamily="34" charset="0"/>
                <a:ea typeface="Calibri" pitchFamily="34" charset="-122"/>
                <a:cs typeface="Calibri" pitchFamily="34" charset="-120"/>
              </a:rPr>
              <a:t>after remediation</a:t>
            </a:r>
            <a:endParaRPr lang="en-US" sz="1300" dirty="0"/>
          </a:p>
        </p:txBody>
      </p:sp>
      <p:sp>
        <p:nvSpPr>
          <p:cNvPr id="15" name="Text 13"/>
          <p:cNvSpPr txBox="1"/>
          <p:nvPr/>
        </p:nvSpPr>
        <p:spPr>
          <a:xfrm>
            <a:off x="548640" y="3657600"/>
            <a:ext cx="11094415" cy="274320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2C3A40"/>
                </a:solidFill>
                <a:latin typeface="Calibri" pitchFamily="34" charset="0"/>
                <a:ea typeface="Calibri" pitchFamily="34" charset="-122"/>
                <a:cs typeface="Calibri" pitchFamily="34" charset="-120"/>
              </a:rPr>
              <a:t>Hartwell Metals added a tooling surcharge on housing castings mid-run</a:t>
            </a:r>
            <a:endParaRPr lang="en-US" sz="1600" dirty="0"/>
          </a:p>
          <a:p>
            <a:pPr marL="228600" indent="-228600">
              <a:spcAft>
                <a:spcPts val="800"/>
              </a:spcAft>
              <a:buSzPct val="100000"/>
              <a:buChar char="•"/>
            </a:pPr>
            <a:r>
              <a:rPr lang="en-US" sz="1600" dirty="0">
                <a:solidFill>
                  <a:srgbClr val="2C3A40"/>
                </a:solidFill>
                <a:latin typeface="Calibri" pitchFamily="34" charset="0"/>
                <a:ea typeface="Calibri" pitchFamily="34" charset="-122"/>
                <a:cs typeface="Calibri" pitchFamily="34" charset="-120"/>
              </a:rPr>
              <a:t>Casting tolerance drift pushed transducer calibration out of range</a:t>
            </a:r>
            <a:endParaRPr lang="en-US" sz="1600" dirty="0"/>
          </a:p>
          <a:p>
            <a:pPr marL="228600" indent="-228600">
              <a:spcAft>
                <a:spcPts val="800"/>
              </a:spcAft>
              <a:buSzPct val="100000"/>
              <a:buChar char="•"/>
            </a:pPr>
            <a:r>
              <a:rPr lang="en-US" sz="1600" dirty="0">
                <a:solidFill>
                  <a:srgbClr val="2C3A40"/>
                </a:solidFill>
                <a:latin typeface="Calibri" pitchFamily="34" charset="0"/>
                <a:ea typeface="Calibri" pitchFamily="34" charset="-122"/>
                <a:cs typeface="Calibri" pitchFamily="34" charset="-120"/>
              </a:rPr>
              <a:t>Run of 511: 412 passed, 61 scrapped, 38 held as borderline</a:t>
            </a:r>
            <a:endParaRPr lang="en-US" sz="1600" dirty="0"/>
          </a:p>
          <a:p>
            <a:pPr marL="228600" indent="-228600">
              <a:spcAft>
                <a:spcPts val="800"/>
              </a:spcAft>
              <a:buSzPct val="100000"/>
              <a:buChar char="•"/>
            </a:pPr>
            <a:r>
              <a:rPr lang="en-US" sz="1600" dirty="0">
                <a:solidFill>
                  <a:srgbClr val="2C3A40"/>
                </a:solidFill>
                <a:latin typeface="Calibri" pitchFamily="34" charset="0"/>
                <a:ea typeface="Calibri" pitchFamily="34" charset="-122"/>
                <a:cs typeface="Calibri" pitchFamily="34" charset="-120"/>
              </a:rPr>
              <a:t>Margin on the Delvecchio order effectively eliminated</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000" b="1" dirty="0">
                <a:solidFill>
                  <a:srgbClr val="1F2A30"/>
                </a:solidFill>
                <a:latin typeface="Cambria" pitchFamily="34" charset="0"/>
                <a:ea typeface="Cambria" pitchFamily="34" charset="-122"/>
                <a:cs typeface="Cambria" pitchFamily="34" charset="-120"/>
              </a:rPr>
              <a:t>ProximaSense X4: Remediation Under Way</a:t>
            </a:r>
            <a:endParaRPr lang="en-US" sz="3000" dirty="0"/>
          </a:p>
        </p:txBody>
      </p:sp>
      <p:sp>
        <p:nvSpPr>
          <p:cNvPr id="3" name="Shape 1"/>
          <p:cNvSpPr/>
          <p:nvPr/>
        </p:nvSpPr>
        <p:spPr>
          <a:xfrm>
            <a:off x="548640" y="1463040"/>
            <a:ext cx="3515258" cy="4846320"/>
          </a:xfrm>
          <a:prstGeom prst="roundRect">
            <a:avLst>
              <a:gd name="adj" fmla="val 2081"/>
            </a:avLst>
          </a:prstGeom>
          <a:solidFill>
            <a:srgbClr val="EEF2F3"/>
          </a:solidFill>
          <a:ln w="12700">
            <a:solidFill>
              <a:srgbClr val="EEF2F3"/>
            </a:solidFill>
            <a:prstDash val="solid"/>
          </a:ln>
        </p:spPr>
      </p:sp>
      <p:sp>
        <p:nvSpPr>
          <p:cNvPr id="4" name="Text 2"/>
          <p:cNvSpPr txBox="1"/>
          <p:nvPr/>
        </p:nvSpPr>
        <p:spPr>
          <a:xfrm>
            <a:off x="777240" y="1691640"/>
            <a:ext cx="3058058" cy="731520"/>
          </a:xfrm>
          <a:prstGeom prst="rect">
            <a:avLst/>
          </a:prstGeom>
          <a:noFill/>
          <a:ln/>
        </p:spPr>
        <p:txBody>
          <a:bodyPr wrap="square" lIns="0" tIns="0" rIns="0" bIns="0" rtlCol="0" anchor="t"/>
          <a:lstStyle/>
          <a:p>
            <a:pPr indent="0" marL="0">
              <a:buNone/>
            </a:pPr>
            <a:r>
              <a:rPr lang="en-US" sz="2000" b="1" dirty="0">
                <a:solidFill>
                  <a:srgbClr val="2E5E6E"/>
                </a:solidFill>
                <a:latin typeface="Cambria" pitchFamily="34" charset="0"/>
                <a:ea typeface="Cambria" pitchFamily="34" charset="-122"/>
                <a:cs typeface="Cambria" pitchFamily="34" charset="-120"/>
              </a:rPr>
              <a:t>Held units</a:t>
            </a:r>
            <a:endParaRPr lang="en-US" sz="2000" dirty="0"/>
          </a:p>
        </p:txBody>
      </p:sp>
      <p:sp>
        <p:nvSpPr>
          <p:cNvPr id="5" name="Text 3"/>
          <p:cNvSpPr txBox="1"/>
          <p:nvPr/>
        </p:nvSpPr>
        <p:spPr>
          <a:xfrm>
            <a:off x="777240" y="2468880"/>
            <a:ext cx="3058058" cy="36576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Updated calibration firmware run on all 38</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31 re-tested inside spec and released</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7 scrapped rather than risk warranty returns</a:t>
            </a:r>
            <a:endParaRPr lang="en-US" sz="1500" dirty="0"/>
          </a:p>
        </p:txBody>
      </p:sp>
      <p:sp>
        <p:nvSpPr>
          <p:cNvPr id="6" name="Shape 4"/>
          <p:cNvSpPr/>
          <p:nvPr/>
        </p:nvSpPr>
        <p:spPr>
          <a:xfrm>
            <a:off x="4338218" y="1463040"/>
            <a:ext cx="3515258" cy="4846320"/>
          </a:xfrm>
          <a:prstGeom prst="roundRect">
            <a:avLst>
              <a:gd name="adj" fmla="val 2081"/>
            </a:avLst>
          </a:prstGeom>
          <a:solidFill>
            <a:srgbClr val="EEF2F3"/>
          </a:solidFill>
          <a:ln w="12700">
            <a:solidFill>
              <a:srgbClr val="EEF2F3"/>
            </a:solidFill>
            <a:prstDash val="solid"/>
          </a:ln>
        </p:spPr>
      </p:sp>
      <p:sp>
        <p:nvSpPr>
          <p:cNvPr id="7" name="Text 5"/>
          <p:cNvSpPr txBox="1"/>
          <p:nvPr/>
        </p:nvSpPr>
        <p:spPr>
          <a:xfrm>
            <a:off x="4566818" y="1691640"/>
            <a:ext cx="3058058" cy="731520"/>
          </a:xfrm>
          <a:prstGeom prst="rect">
            <a:avLst/>
          </a:prstGeom>
          <a:noFill/>
          <a:ln/>
        </p:spPr>
        <p:txBody>
          <a:bodyPr wrap="square" lIns="0" tIns="0" rIns="0" bIns="0" rtlCol="0" anchor="t"/>
          <a:lstStyle/>
          <a:p>
            <a:pPr indent="0" marL="0">
              <a:buNone/>
            </a:pPr>
            <a:r>
              <a:rPr lang="en-US" sz="2000" b="1" dirty="0">
                <a:solidFill>
                  <a:srgbClr val="2E5E6E"/>
                </a:solidFill>
                <a:latin typeface="Cambria" pitchFamily="34" charset="0"/>
                <a:ea typeface="Cambria" pitchFamily="34" charset="-122"/>
                <a:cs typeface="Cambria" pitchFamily="34" charset="-120"/>
              </a:rPr>
              <a:t>Castings</a:t>
            </a:r>
            <a:endParaRPr lang="en-US" sz="2000" dirty="0"/>
          </a:p>
        </p:txBody>
      </p:sp>
      <p:sp>
        <p:nvSpPr>
          <p:cNvPr id="8" name="Text 6"/>
          <p:cNvSpPr txBox="1"/>
          <p:nvPr/>
        </p:nvSpPr>
        <p:spPr>
          <a:xfrm>
            <a:off x="4566818" y="2468880"/>
            <a:ext cx="3058058" cy="36576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Quotes from Brightline Castings and Oakridge Foundry</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Best quote $3.80 per unit under Hartwell's base price</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Tolerance specs now written into the RFQ and PO</a:t>
            </a:r>
            <a:endParaRPr lang="en-US" sz="1500" dirty="0"/>
          </a:p>
        </p:txBody>
      </p:sp>
      <p:sp>
        <p:nvSpPr>
          <p:cNvPr id="9" name="Shape 7"/>
          <p:cNvSpPr/>
          <p:nvPr/>
        </p:nvSpPr>
        <p:spPr>
          <a:xfrm>
            <a:off x="8127797" y="1463040"/>
            <a:ext cx="3515258" cy="4846320"/>
          </a:xfrm>
          <a:prstGeom prst="roundRect">
            <a:avLst>
              <a:gd name="adj" fmla="val 2081"/>
            </a:avLst>
          </a:prstGeom>
          <a:solidFill>
            <a:srgbClr val="FBEDE6"/>
          </a:solidFill>
          <a:ln w="12700">
            <a:solidFill>
              <a:srgbClr val="FBEDE6"/>
            </a:solidFill>
            <a:prstDash val="solid"/>
          </a:ln>
        </p:spPr>
      </p:sp>
      <p:sp>
        <p:nvSpPr>
          <p:cNvPr id="10" name="Text 8"/>
          <p:cNvSpPr txBox="1"/>
          <p:nvPr/>
        </p:nvSpPr>
        <p:spPr>
          <a:xfrm>
            <a:off x="8356397" y="1691640"/>
            <a:ext cx="3058058" cy="731520"/>
          </a:xfrm>
          <a:prstGeom prst="rect">
            <a:avLst/>
          </a:prstGeom>
          <a:noFill/>
          <a:ln/>
        </p:spPr>
        <p:txBody>
          <a:bodyPr wrap="square" lIns="0" tIns="0" rIns="0" bIns="0" rtlCol="0" anchor="t"/>
          <a:lstStyle/>
          <a:p>
            <a:pPr indent="0" marL="0">
              <a:buNone/>
            </a:pPr>
            <a:r>
              <a:rPr lang="en-US" sz="2000" b="1" dirty="0">
                <a:solidFill>
                  <a:srgbClr val="B4532A"/>
                </a:solidFill>
                <a:latin typeface="Cambria" pitchFamily="34" charset="0"/>
                <a:ea typeface="Cambria" pitchFamily="34" charset="-122"/>
                <a:cs typeface="Cambria" pitchFamily="34" charset="-120"/>
              </a:rPr>
              <a:t>Hartwell surcharge</a:t>
            </a:r>
            <a:endParaRPr lang="en-US" sz="2000" dirty="0"/>
          </a:p>
        </p:txBody>
      </p:sp>
      <p:sp>
        <p:nvSpPr>
          <p:cNvPr id="11" name="Text 9"/>
          <p:cNvSpPr txBox="1"/>
          <p:nvPr/>
        </p:nvSpPr>
        <p:spPr>
          <a:xfrm>
            <a:off x="8356397" y="2468880"/>
            <a:ext cx="3058058" cy="36576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$14,300 surcharge under dispute</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Callum reviewing whether it was authorized under the PO terms</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No recovery assumed in the forecast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000" b="1" dirty="0">
                <a:solidFill>
                  <a:srgbClr val="1F2A30"/>
                </a:solidFill>
                <a:latin typeface="Cambria" pitchFamily="34" charset="0"/>
                <a:ea typeface="Cambria" pitchFamily="34" charset="-122"/>
                <a:cs typeface="Cambria" pitchFamily="34" charset="-120"/>
              </a:rPr>
              <a:t>XT-9 Rev B: Thermal Drift in the Field</a:t>
            </a:r>
            <a:endParaRPr lang="en-US" sz="3000" dirty="0"/>
          </a:p>
        </p:txBody>
      </p:sp>
      <p:sp>
        <p:nvSpPr>
          <p:cNvPr id="3" name="Shape 1"/>
          <p:cNvSpPr/>
          <p:nvPr/>
        </p:nvSpPr>
        <p:spPr>
          <a:xfrm>
            <a:off x="548640" y="1463040"/>
            <a:ext cx="3515258" cy="1828800"/>
          </a:xfrm>
          <a:prstGeom prst="roundRect">
            <a:avLst>
              <a:gd name="adj" fmla="val 4000"/>
            </a:avLst>
          </a:prstGeom>
          <a:solidFill>
            <a:srgbClr val="EEF2F3"/>
          </a:solidFill>
          <a:ln w="12700">
            <a:solidFill>
              <a:srgbClr val="EEF2F3"/>
            </a:solidFill>
            <a:prstDash val="solid"/>
          </a:ln>
        </p:spPr>
      </p:sp>
      <p:sp>
        <p:nvSpPr>
          <p:cNvPr id="4" name="Text 2"/>
          <p:cNvSpPr txBox="1"/>
          <p:nvPr/>
        </p:nvSpPr>
        <p:spPr>
          <a:xfrm>
            <a:off x="777240" y="1645920"/>
            <a:ext cx="3058058" cy="868680"/>
          </a:xfrm>
          <a:prstGeom prst="rect">
            <a:avLst/>
          </a:prstGeom>
          <a:noFill/>
          <a:ln/>
        </p:spPr>
        <p:txBody>
          <a:bodyPr wrap="square" lIns="0" tIns="0" rIns="0" bIns="0" rtlCol="0" anchor="ctr"/>
          <a:lstStyle/>
          <a:p>
            <a:pPr indent="0" marL="0">
              <a:buNone/>
            </a:pPr>
            <a:r>
              <a:rPr lang="en-US" sz="4000" b="1" dirty="0">
                <a:solidFill>
                  <a:srgbClr val="2E5E6E"/>
                </a:solidFill>
                <a:latin typeface="Cambria" pitchFamily="34" charset="0"/>
                <a:ea typeface="Cambria" pitchFamily="34" charset="-122"/>
                <a:cs typeface="Cambria" pitchFamily="34" charset="-120"/>
              </a:rPr>
              <a:t>~340</a:t>
            </a:r>
            <a:endParaRPr lang="en-US" sz="4000" dirty="0"/>
          </a:p>
        </p:txBody>
      </p:sp>
      <p:sp>
        <p:nvSpPr>
          <p:cNvPr id="5" name="Text 3"/>
          <p:cNvSpPr txBox="1"/>
          <p:nvPr/>
        </p:nvSpPr>
        <p:spPr>
          <a:xfrm>
            <a:off x="777240" y="2514600"/>
            <a:ext cx="3058058" cy="640080"/>
          </a:xfrm>
          <a:prstGeom prst="rect">
            <a:avLst/>
          </a:prstGeom>
          <a:noFill/>
          <a:ln/>
        </p:spPr>
        <p:txBody>
          <a:bodyPr wrap="square" lIns="0" tIns="0" rIns="0" bIns="0" rtlCol="0" anchor="t"/>
          <a:lstStyle/>
          <a:p>
            <a:pPr indent="0" marL="0">
              <a:buNone/>
            </a:pPr>
            <a:r>
              <a:rPr lang="en-US" sz="1300" dirty="0">
                <a:solidFill>
                  <a:srgbClr val="5B6B72"/>
                </a:solidFill>
                <a:latin typeface="Calibri" pitchFamily="34" charset="0"/>
                <a:ea typeface="Calibri" pitchFamily="34" charset="-122"/>
                <a:cs typeface="Calibri" pitchFamily="34" charset="-120"/>
              </a:rPr>
              <a:t>Rev B units shipped</a:t>
            </a:r>
            <a:endParaRPr lang="en-US" sz="1300" dirty="0"/>
          </a:p>
          <a:p>
            <a:pPr indent="0" marL="0">
              <a:buNone/>
            </a:pPr>
            <a:r>
              <a:rPr lang="en-US" sz="1300" dirty="0">
                <a:solidFill>
                  <a:srgbClr val="5B6B72"/>
                </a:solidFill>
                <a:latin typeface="Calibri" pitchFamily="34" charset="0"/>
                <a:ea typeface="Calibri" pitchFamily="34" charset="-122"/>
                <a:cs typeface="Calibri" pitchFamily="34" charset="-120"/>
              </a:rPr>
              <a:t>before Rev C</a:t>
            </a:r>
            <a:endParaRPr lang="en-US" sz="1300" dirty="0"/>
          </a:p>
        </p:txBody>
      </p:sp>
      <p:sp>
        <p:nvSpPr>
          <p:cNvPr id="6" name="Shape 4"/>
          <p:cNvSpPr/>
          <p:nvPr/>
        </p:nvSpPr>
        <p:spPr>
          <a:xfrm>
            <a:off x="4338218" y="1463040"/>
            <a:ext cx="3515258" cy="1828800"/>
          </a:xfrm>
          <a:prstGeom prst="roundRect">
            <a:avLst>
              <a:gd name="adj" fmla="val 4000"/>
            </a:avLst>
          </a:prstGeom>
          <a:solidFill>
            <a:srgbClr val="FBEDE6"/>
          </a:solidFill>
          <a:ln w="12700">
            <a:solidFill>
              <a:srgbClr val="FBEDE6"/>
            </a:solidFill>
            <a:prstDash val="solid"/>
          </a:ln>
        </p:spPr>
      </p:sp>
      <p:sp>
        <p:nvSpPr>
          <p:cNvPr id="7" name="Text 5"/>
          <p:cNvSpPr txBox="1"/>
          <p:nvPr/>
        </p:nvSpPr>
        <p:spPr>
          <a:xfrm>
            <a:off x="4566818" y="1645920"/>
            <a:ext cx="3058058" cy="868680"/>
          </a:xfrm>
          <a:prstGeom prst="rect">
            <a:avLst/>
          </a:prstGeom>
          <a:noFill/>
          <a:ln/>
        </p:spPr>
        <p:txBody>
          <a:bodyPr wrap="square" lIns="0" tIns="0" rIns="0" bIns="0" rtlCol="0" anchor="ctr"/>
          <a:lstStyle/>
          <a:p>
            <a:pPr indent="0" marL="0">
              <a:buNone/>
            </a:pPr>
            <a:r>
              <a:rPr lang="en-US" sz="4000" b="1" dirty="0">
                <a:solidFill>
                  <a:srgbClr val="B4532A"/>
                </a:solidFill>
                <a:latin typeface="Cambria" pitchFamily="34" charset="0"/>
                <a:ea typeface="Cambria" pitchFamily="34" charset="-122"/>
                <a:cs typeface="Cambria" pitchFamily="34" charset="-120"/>
              </a:rPr>
              <a:t>±1.8%</a:t>
            </a:r>
            <a:endParaRPr lang="en-US" sz="4000" dirty="0"/>
          </a:p>
        </p:txBody>
      </p:sp>
      <p:sp>
        <p:nvSpPr>
          <p:cNvPr id="8" name="Text 6"/>
          <p:cNvSpPr txBox="1"/>
          <p:nvPr/>
        </p:nvSpPr>
        <p:spPr>
          <a:xfrm>
            <a:off x="4566818" y="2514600"/>
            <a:ext cx="3058058" cy="640080"/>
          </a:xfrm>
          <a:prstGeom prst="rect">
            <a:avLst/>
          </a:prstGeom>
          <a:noFill/>
          <a:ln/>
        </p:spPr>
        <p:txBody>
          <a:bodyPr wrap="square" lIns="0" tIns="0" rIns="0" bIns="0" rtlCol="0" anchor="t"/>
          <a:lstStyle/>
          <a:p>
            <a:pPr indent="0" marL="0">
              <a:buNone/>
            </a:pPr>
            <a:r>
              <a:rPr lang="en-US" sz="1300" dirty="0">
                <a:solidFill>
                  <a:srgbClr val="5B6B72"/>
                </a:solidFill>
                <a:latin typeface="Calibri" pitchFamily="34" charset="0"/>
                <a:ea typeface="Calibri" pitchFamily="34" charset="-122"/>
                <a:cs typeface="Calibri" pitchFamily="34" charset="-120"/>
              </a:rPr>
              <a:t>Output error at 60°C</a:t>
            </a:r>
            <a:endParaRPr lang="en-US" sz="1300" dirty="0"/>
          </a:p>
          <a:p>
            <a:pPr indent="0" marL="0">
              <a:buNone/>
            </a:pPr>
            <a:r>
              <a:rPr lang="en-US" sz="1300" dirty="0">
                <a:solidFill>
                  <a:srgbClr val="5B6B72"/>
                </a:solidFill>
                <a:latin typeface="Calibri" pitchFamily="34" charset="0"/>
                <a:ea typeface="Calibri" pitchFamily="34" charset="-122"/>
                <a:cs typeface="Calibri" pitchFamily="34" charset="-120"/>
              </a:rPr>
              <a:t>against a ±0.3% spec</a:t>
            </a:r>
            <a:endParaRPr lang="en-US" sz="1300" dirty="0"/>
          </a:p>
        </p:txBody>
      </p:sp>
      <p:sp>
        <p:nvSpPr>
          <p:cNvPr id="9" name="Shape 7"/>
          <p:cNvSpPr/>
          <p:nvPr/>
        </p:nvSpPr>
        <p:spPr>
          <a:xfrm>
            <a:off x="8127797" y="1463040"/>
            <a:ext cx="3515258" cy="1828800"/>
          </a:xfrm>
          <a:prstGeom prst="roundRect">
            <a:avLst>
              <a:gd name="adj" fmla="val 4000"/>
            </a:avLst>
          </a:prstGeom>
          <a:solidFill>
            <a:srgbClr val="EEF2F3"/>
          </a:solidFill>
          <a:ln w="12700">
            <a:solidFill>
              <a:srgbClr val="EEF2F3"/>
            </a:solidFill>
            <a:prstDash val="solid"/>
          </a:ln>
        </p:spPr>
      </p:sp>
      <p:sp>
        <p:nvSpPr>
          <p:cNvPr id="10" name="Text 8"/>
          <p:cNvSpPr txBox="1"/>
          <p:nvPr/>
        </p:nvSpPr>
        <p:spPr>
          <a:xfrm>
            <a:off x="8356397" y="1645920"/>
            <a:ext cx="3058058" cy="868680"/>
          </a:xfrm>
          <a:prstGeom prst="rect">
            <a:avLst/>
          </a:prstGeom>
          <a:noFill/>
          <a:ln/>
        </p:spPr>
        <p:txBody>
          <a:bodyPr wrap="square" lIns="0" tIns="0" rIns="0" bIns="0" rtlCol="0" anchor="ctr"/>
          <a:lstStyle/>
          <a:p>
            <a:pPr indent="0" marL="0">
              <a:buNone/>
            </a:pPr>
            <a:r>
              <a:rPr lang="en-US" sz="4000" b="1" dirty="0">
                <a:solidFill>
                  <a:srgbClr val="2E5E6E"/>
                </a:solidFill>
                <a:latin typeface="Cambria" pitchFamily="34" charset="0"/>
                <a:ea typeface="Cambria" pitchFamily="34" charset="-122"/>
                <a:cs typeface="Cambria" pitchFamily="34" charset="-120"/>
              </a:rPr>
              <a:t>22</a:t>
            </a:r>
            <a:endParaRPr lang="en-US" sz="4000" dirty="0"/>
          </a:p>
        </p:txBody>
      </p:sp>
      <p:sp>
        <p:nvSpPr>
          <p:cNvPr id="11" name="Text 9"/>
          <p:cNvSpPr txBox="1"/>
          <p:nvPr/>
        </p:nvSpPr>
        <p:spPr>
          <a:xfrm>
            <a:off x="8356397" y="2514600"/>
            <a:ext cx="3058058" cy="640080"/>
          </a:xfrm>
          <a:prstGeom prst="rect">
            <a:avLst/>
          </a:prstGeom>
          <a:noFill/>
          <a:ln/>
        </p:spPr>
        <p:txBody>
          <a:bodyPr wrap="square" lIns="0" tIns="0" rIns="0" bIns="0" rtlCol="0" anchor="t"/>
          <a:lstStyle/>
          <a:p>
            <a:pPr indent="0" marL="0">
              <a:buNone/>
            </a:pPr>
            <a:r>
              <a:rPr lang="en-US" sz="1300" dirty="0">
                <a:solidFill>
                  <a:srgbClr val="5B6B72"/>
                </a:solidFill>
                <a:latin typeface="Calibri" pitchFamily="34" charset="0"/>
                <a:ea typeface="Calibri" pitchFamily="34" charset="-122"/>
                <a:cs typeface="Calibri" pitchFamily="34" charset="-120"/>
              </a:rPr>
              <a:t>Rev B units in finished goods</a:t>
            </a:r>
            <a:endParaRPr lang="en-US" sz="1300" dirty="0"/>
          </a:p>
          <a:p>
            <a:pPr indent="0" marL="0">
              <a:buNone/>
            </a:pPr>
            <a:r>
              <a:rPr lang="en-US" sz="1300" dirty="0">
                <a:solidFill>
                  <a:srgbClr val="5B6B72"/>
                </a:solidFill>
                <a:latin typeface="Calibri" pitchFamily="34" charset="0"/>
                <a:ea typeface="Calibri" pitchFamily="34" charset="-122"/>
                <a:cs typeface="Calibri" pitchFamily="34" charset="-120"/>
              </a:rPr>
              <a:t>on hold since March 5</a:t>
            </a:r>
            <a:endParaRPr lang="en-US" sz="1300" dirty="0"/>
          </a:p>
        </p:txBody>
      </p:sp>
      <p:sp>
        <p:nvSpPr>
          <p:cNvPr id="12" name="Text 10"/>
          <p:cNvSpPr txBox="1"/>
          <p:nvPr/>
        </p:nvSpPr>
        <p:spPr>
          <a:xfrm>
            <a:off x="548640" y="3657600"/>
            <a:ext cx="11094415" cy="274320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2C3A40"/>
                </a:solidFill>
                <a:latin typeface="Calibri" pitchFamily="34" charset="0"/>
                <a:ea typeface="Calibri" pitchFamily="34" charset="-122"/>
                <a:cs typeface="Calibri" pitchFamily="34" charset="-120"/>
              </a:rPr>
              <a:t>Two field reports from different accounts, both sites in the high 50s °C</a:t>
            </a:r>
            <a:endParaRPr lang="en-US" sz="1600" dirty="0"/>
          </a:p>
          <a:p>
            <a:pPr marL="228600" indent="-228600">
              <a:spcAft>
                <a:spcPts val="800"/>
              </a:spcAft>
              <a:buSzPct val="100000"/>
              <a:buChar char="•"/>
            </a:pPr>
            <a:r>
              <a:rPr lang="en-US" sz="1600" dirty="0">
                <a:solidFill>
                  <a:srgbClr val="2C3A40"/>
                </a:solidFill>
                <a:latin typeface="Calibri" pitchFamily="34" charset="0"/>
                <a:ea typeface="Calibri" pitchFamily="34" charset="-122"/>
                <a:cs typeface="Calibri" pitchFamily="34" charset="-120"/>
              </a:rPr>
              <a:t>Cause: Talcott VR-220 voltage reference in the analog output stage</a:t>
            </a:r>
            <a:endParaRPr lang="en-US" sz="1600" dirty="0"/>
          </a:p>
          <a:p>
            <a:pPr marL="228600" indent="-228600">
              <a:spcAft>
                <a:spcPts val="800"/>
              </a:spcAft>
              <a:buSzPct val="100000"/>
              <a:buChar char="•"/>
            </a:pPr>
            <a:r>
              <a:rPr lang="en-US" sz="1600" dirty="0">
                <a:solidFill>
                  <a:srgbClr val="2C3A40"/>
                </a:solidFill>
                <a:latin typeface="Calibri" pitchFamily="34" charset="0"/>
                <a:ea typeface="Calibri" pitchFamily="34" charset="-122"/>
                <a:cs typeface="Calibri" pitchFamily="34" charset="-120"/>
              </a:rPr>
              <a:t>Rev C uses the VR-240 and has not shown the problem; $6 more per unit in BOM</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000" b="1" dirty="0">
                <a:solidFill>
                  <a:srgbClr val="1F2A30"/>
                </a:solidFill>
                <a:latin typeface="Cambria" pitchFamily="34" charset="0"/>
                <a:ea typeface="Cambria" pitchFamily="34" charset="-122"/>
                <a:cs typeface="Cambria" pitchFamily="34" charset="-120"/>
              </a:rPr>
              <a:t>XT-9 Rev B: Mitigation Plan</a:t>
            </a:r>
            <a:endParaRPr lang="en-US" sz="3000" dirty="0"/>
          </a:p>
        </p:txBody>
      </p:sp>
      <p:sp>
        <p:nvSpPr>
          <p:cNvPr id="3" name="Shape 1"/>
          <p:cNvSpPr/>
          <p:nvPr/>
        </p:nvSpPr>
        <p:spPr>
          <a:xfrm>
            <a:off x="548640" y="1463040"/>
            <a:ext cx="3515258" cy="4846320"/>
          </a:xfrm>
          <a:prstGeom prst="roundRect">
            <a:avLst>
              <a:gd name="adj" fmla="val 2081"/>
            </a:avLst>
          </a:prstGeom>
          <a:solidFill>
            <a:srgbClr val="EEF2F3"/>
          </a:solidFill>
          <a:ln w="12700">
            <a:solidFill>
              <a:srgbClr val="EEF2F3"/>
            </a:solidFill>
            <a:prstDash val="solid"/>
          </a:ln>
        </p:spPr>
      </p:sp>
      <p:sp>
        <p:nvSpPr>
          <p:cNvPr id="4" name="Text 2"/>
          <p:cNvSpPr txBox="1"/>
          <p:nvPr/>
        </p:nvSpPr>
        <p:spPr>
          <a:xfrm>
            <a:off x="777240" y="1691640"/>
            <a:ext cx="3058058" cy="731520"/>
          </a:xfrm>
          <a:prstGeom prst="rect">
            <a:avLst/>
          </a:prstGeom>
          <a:noFill/>
          <a:ln/>
        </p:spPr>
        <p:txBody>
          <a:bodyPr wrap="square" lIns="0" tIns="0" rIns="0" bIns="0" rtlCol="0" anchor="t"/>
          <a:lstStyle/>
          <a:p>
            <a:pPr indent="0" marL="0">
              <a:buNone/>
            </a:pPr>
            <a:r>
              <a:rPr lang="en-US" sz="2000" b="1" dirty="0">
                <a:solidFill>
                  <a:srgbClr val="2E5E6E"/>
                </a:solidFill>
                <a:latin typeface="Cambria" pitchFamily="34" charset="0"/>
                <a:ea typeface="Cambria" pitchFamily="34" charset="-122"/>
                <a:cs typeface="Cambria" pitchFamily="34" charset="-120"/>
              </a:rPr>
              <a:t>Firmware compensation</a:t>
            </a:r>
            <a:endParaRPr lang="en-US" sz="2000" dirty="0"/>
          </a:p>
        </p:txBody>
      </p:sp>
      <p:sp>
        <p:nvSpPr>
          <p:cNvPr id="5" name="Text 3"/>
          <p:cNvSpPr txBox="1"/>
          <p:nvPr/>
        </p:nvSpPr>
        <p:spPr>
          <a:xfrm>
            <a:off x="777240" y="2468880"/>
            <a:ext cx="3058058" cy="36576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Temperature lookup table using the onboard sensor</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Cuts error at 60°C to about ±0.4–0.5%</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A partial mitigation, not a return to spec</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In bench testing now; Sofia leading</a:t>
            </a:r>
            <a:endParaRPr lang="en-US" sz="1500" dirty="0"/>
          </a:p>
        </p:txBody>
      </p:sp>
      <p:sp>
        <p:nvSpPr>
          <p:cNvPr id="6" name="Shape 4"/>
          <p:cNvSpPr/>
          <p:nvPr/>
        </p:nvSpPr>
        <p:spPr>
          <a:xfrm>
            <a:off x="4338218" y="1463040"/>
            <a:ext cx="3515258" cy="4846320"/>
          </a:xfrm>
          <a:prstGeom prst="roundRect">
            <a:avLst>
              <a:gd name="adj" fmla="val 2081"/>
            </a:avLst>
          </a:prstGeom>
          <a:solidFill>
            <a:srgbClr val="EEF2F3"/>
          </a:solidFill>
          <a:ln w="12700">
            <a:solidFill>
              <a:srgbClr val="EEF2F3"/>
            </a:solidFill>
            <a:prstDash val="solid"/>
          </a:ln>
        </p:spPr>
      </p:sp>
      <p:sp>
        <p:nvSpPr>
          <p:cNvPr id="7" name="Text 5"/>
          <p:cNvSpPr txBox="1"/>
          <p:nvPr/>
        </p:nvSpPr>
        <p:spPr>
          <a:xfrm>
            <a:off x="4566818" y="1691640"/>
            <a:ext cx="3058058" cy="731520"/>
          </a:xfrm>
          <a:prstGeom prst="rect">
            <a:avLst/>
          </a:prstGeom>
          <a:noFill/>
          <a:ln/>
        </p:spPr>
        <p:txBody>
          <a:bodyPr wrap="square" lIns="0" tIns="0" rIns="0" bIns="0" rtlCol="0" anchor="t"/>
          <a:lstStyle/>
          <a:p>
            <a:pPr indent="0" marL="0">
              <a:buNone/>
            </a:pPr>
            <a:r>
              <a:rPr lang="en-US" sz="2000" b="1" dirty="0">
                <a:solidFill>
                  <a:srgbClr val="2E5E6E"/>
                </a:solidFill>
                <a:latin typeface="Cambria" pitchFamily="34" charset="0"/>
                <a:ea typeface="Cambria" pitchFamily="34" charset="-122"/>
                <a:cs typeface="Cambria" pitchFamily="34" charset="-120"/>
              </a:rPr>
              <a:t>Rev C replacement</a:t>
            </a:r>
            <a:endParaRPr lang="en-US" sz="2000" dirty="0"/>
          </a:p>
        </p:txBody>
      </p:sp>
      <p:sp>
        <p:nvSpPr>
          <p:cNvPr id="8" name="Text 6"/>
          <p:cNvSpPr txBox="1"/>
          <p:nvPr/>
        </p:nvSpPr>
        <p:spPr>
          <a:xfrm>
            <a:off x="4566818" y="2468880"/>
            <a:ext cx="3058058" cy="36576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Swap to Rev C for any site reporting drift</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Replacement units held ready to ship</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No proactive swap of all ~340 units</a:t>
            </a:r>
            <a:endParaRPr lang="en-US" sz="1500" dirty="0"/>
          </a:p>
        </p:txBody>
      </p:sp>
      <p:sp>
        <p:nvSpPr>
          <p:cNvPr id="9" name="Shape 7"/>
          <p:cNvSpPr/>
          <p:nvPr/>
        </p:nvSpPr>
        <p:spPr>
          <a:xfrm>
            <a:off x="8127797" y="1463040"/>
            <a:ext cx="3515258" cy="4846320"/>
          </a:xfrm>
          <a:prstGeom prst="roundRect">
            <a:avLst>
              <a:gd name="adj" fmla="val 2081"/>
            </a:avLst>
          </a:prstGeom>
          <a:solidFill>
            <a:srgbClr val="FBEDE6"/>
          </a:solidFill>
          <a:ln w="12700">
            <a:solidFill>
              <a:srgbClr val="FBEDE6"/>
            </a:solidFill>
            <a:prstDash val="solid"/>
          </a:ln>
        </p:spPr>
      </p:sp>
      <p:sp>
        <p:nvSpPr>
          <p:cNvPr id="10" name="Text 8"/>
          <p:cNvSpPr txBox="1"/>
          <p:nvPr/>
        </p:nvSpPr>
        <p:spPr>
          <a:xfrm>
            <a:off x="8356397" y="1691640"/>
            <a:ext cx="3058058" cy="731520"/>
          </a:xfrm>
          <a:prstGeom prst="rect">
            <a:avLst/>
          </a:prstGeom>
          <a:noFill/>
          <a:ln/>
        </p:spPr>
        <p:txBody>
          <a:bodyPr wrap="square" lIns="0" tIns="0" rIns="0" bIns="0" rtlCol="0" anchor="t"/>
          <a:lstStyle/>
          <a:p>
            <a:pPr indent="0" marL="0">
              <a:buNone/>
            </a:pPr>
            <a:r>
              <a:rPr lang="en-US" sz="2000" b="1" dirty="0">
                <a:solidFill>
                  <a:srgbClr val="B4532A"/>
                </a:solidFill>
                <a:latin typeface="Cambria" pitchFamily="34" charset="0"/>
                <a:ea typeface="Cambria" pitchFamily="34" charset="-122"/>
                <a:cs typeface="Cambria" pitchFamily="34" charset="-120"/>
              </a:rPr>
              <a:t>Customer communication</a:t>
            </a:r>
            <a:endParaRPr lang="en-US" sz="2000" dirty="0"/>
          </a:p>
        </p:txBody>
      </p:sp>
      <p:sp>
        <p:nvSpPr>
          <p:cNvPr id="11" name="Text 9"/>
          <p:cNvSpPr txBox="1"/>
          <p:nvPr/>
        </p:nvSpPr>
        <p:spPr>
          <a:xfrm>
            <a:off x="8356397" y="2468880"/>
            <a:ext cx="3058058" cy="36576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Described accurately as a thermal compensation enhancement</a:t>
            </a:r>
            <a:endParaRPr lang="en-US" sz="1500" dirty="0"/>
          </a:p>
          <a:p>
            <a:pPr marL="228600" indent="-228600">
              <a:spcAft>
                <a:spcPts val="800"/>
              </a:spcAft>
              <a:buSzPct val="100000"/>
              <a:buChar char="•"/>
            </a:pPr>
            <a:r>
              <a:rPr lang="en-US" sz="1500" dirty="0">
                <a:solidFill>
                  <a:srgbClr val="2C3A40"/>
                </a:solidFill>
                <a:latin typeface="Calibri" pitchFamily="34" charset="0"/>
                <a:ea typeface="Calibri" pitchFamily="34" charset="-122"/>
                <a:cs typeface="Calibri" pitchFamily="34" charset="-120"/>
              </a:rPr>
              <a:t>All customer-facing language reviewed by Callum first</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2A30"/>
        </a:solidFill>
      </p:bgPr>
    </p:bg>
    <p:spTree>
      <p:nvGrpSpPr>
        <p:cNvPr id="1" name=""/>
        <p:cNvGrpSpPr/>
        <p:nvPr/>
      </p:nvGrpSpPr>
      <p:grpSpPr>
        <a:xfrm>
          <a:off x="0" y="0"/>
          <a:ext cx="0" cy="0"/>
          <a:chOff x="0" y="0"/>
          <a:chExt cx="0" cy="0"/>
        </a:xfrm>
      </p:grpSpPr>
      <p:sp>
        <p:nvSpPr>
          <p:cNvPr id="2" name="Shape 0"/>
          <p:cNvSpPr/>
          <p:nvPr/>
        </p:nvSpPr>
        <p:spPr>
          <a:xfrm>
            <a:off x="548640" y="2148840"/>
            <a:ext cx="1188720" cy="1188720"/>
          </a:xfrm>
          <a:prstGeom prst="ellipse">
            <a:avLst/>
          </a:prstGeom>
          <a:solidFill>
            <a:srgbClr val="E0A33A"/>
          </a:solidFill>
          <a:ln w="12700">
            <a:solidFill>
              <a:srgbClr val="E0A33A"/>
            </a:solidFill>
            <a:prstDash val="solid"/>
          </a:ln>
        </p:spPr>
      </p:sp>
      <p:sp>
        <p:nvSpPr>
          <p:cNvPr id="3" name="Text 1"/>
          <p:cNvSpPr txBox="1"/>
          <p:nvPr/>
        </p:nvSpPr>
        <p:spPr>
          <a:xfrm>
            <a:off x="548640" y="2148840"/>
            <a:ext cx="1188720" cy="1188720"/>
          </a:xfrm>
          <a:prstGeom prst="rect">
            <a:avLst/>
          </a:prstGeom>
          <a:noFill/>
          <a:ln/>
        </p:spPr>
        <p:txBody>
          <a:bodyPr wrap="square" lIns="0" tIns="0" rIns="0" bIns="0" rtlCol="0" anchor="ctr"/>
          <a:lstStyle/>
          <a:p>
            <a:pPr algn="ctr" indent="0" marL="0">
              <a:buNone/>
            </a:pPr>
            <a:r>
              <a:rPr lang="en-US" sz="3000" b="1" dirty="0">
                <a:solidFill>
                  <a:srgbClr val="1F2A30"/>
                </a:solidFill>
                <a:latin typeface="Cambria" pitchFamily="34" charset="0"/>
                <a:ea typeface="Cambria" pitchFamily="34" charset="-122"/>
                <a:cs typeface="Cambria" pitchFamily="34" charset="-120"/>
              </a:rPr>
              <a:t>03</a:t>
            </a:r>
            <a:endParaRPr lang="en-US" sz="3000" dirty="0"/>
          </a:p>
        </p:txBody>
      </p:sp>
      <p:sp>
        <p:nvSpPr>
          <p:cNvPr id="4" name="Text 2"/>
          <p:cNvSpPr txBox="1"/>
          <p:nvPr/>
        </p:nvSpPr>
        <p:spPr>
          <a:xfrm>
            <a:off x="2103120" y="2057400"/>
            <a:ext cx="868680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Certification and Board Asks</a:t>
            </a:r>
            <a:endParaRPr lang="en-US" sz="3600" dirty="0"/>
          </a:p>
        </p:txBody>
      </p:sp>
      <p:sp>
        <p:nvSpPr>
          <p:cNvPr id="5" name="Text 3"/>
          <p:cNvSpPr txBox="1"/>
          <p:nvPr/>
        </p:nvSpPr>
        <p:spPr>
          <a:xfrm>
            <a:off x="2103120" y="2880360"/>
            <a:ext cx="8686800" cy="548640"/>
          </a:xfrm>
          <a:prstGeom prst="rect">
            <a:avLst/>
          </a:prstGeom>
          <a:noFill/>
          <a:ln/>
        </p:spPr>
        <p:txBody>
          <a:bodyPr wrap="square" lIns="0" tIns="0" rIns="0" bIns="0" rtlCol="0" anchor="ctr"/>
          <a:lstStyle/>
          <a:p>
            <a:pPr indent="0" marL="0">
              <a:buNone/>
            </a:pPr>
            <a:r>
              <a:rPr lang="en-US" sz="1600" dirty="0">
                <a:solidFill>
                  <a:srgbClr val="C9D3D6"/>
                </a:solidFill>
                <a:latin typeface="Calibri" pitchFamily="34" charset="0"/>
                <a:ea typeface="Calibri" pitchFamily="34" charset="-122"/>
                <a:cs typeface="Calibri" pitchFamily="34" charset="-120"/>
              </a:rPr>
              <a:t>IEC 62443, and what we need from the board</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000" b="1" dirty="0">
                <a:solidFill>
                  <a:srgbClr val="1F2A30"/>
                </a:solidFill>
                <a:latin typeface="Cambria" pitchFamily="34" charset="0"/>
                <a:ea typeface="Cambria" pitchFamily="34" charset="-122"/>
                <a:cs typeface="Cambria" pitchFamily="34" charset="-120"/>
              </a:rPr>
              <a:t>IEC 62443: Meridian's Q3 Requirement</a:t>
            </a:r>
            <a:endParaRPr lang="en-US" sz="3000" dirty="0"/>
          </a:p>
        </p:txBody>
      </p:sp>
      <p:sp>
        <p:nvSpPr>
          <p:cNvPr id="3" name="Shape 1"/>
          <p:cNvSpPr/>
          <p:nvPr/>
        </p:nvSpPr>
        <p:spPr>
          <a:xfrm>
            <a:off x="548640" y="1463040"/>
            <a:ext cx="3515258" cy="1828800"/>
          </a:xfrm>
          <a:prstGeom prst="roundRect">
            <a:avLst>
              <a:gd name="adj" fmla="val 4000"/>
            </a:avLst>
          </a:prstGeom>
          <a:solidFill>
            <a:srgbClr val="FBEDE6"/>
          </a:solidFill>
          <a:ln w="12700">
            <a:solidFill>
              <a:srgbClr val="FBEDE6"/>
            </a:solidFill>
            <a:prstDash val="solid"/>
          </a:ln>
        </p:spPr>
      </p:sp>
      <p:sp>
        <p:nvSpPr>
          <p:cNvPr id="4" name="Text 2"/>
          <p:cNvSpPr txBox="1"/>
          <p:nvPr/>
        </p:nvSpPr>
        <p:spPr>
          <a:xfrm>
            <a:off x="777240" y="1645920"/>
            <a:ext cx="3058058" cy="868680"/>
          </a:xfrm>
          <a:prstGeom prst="rect">
            <a:avLst/>
          </a:prstGeom>
          <a:noFill/>
          <a:ln/>
        </p:spPr>
        <p:txBody>
          <a:bodyPr wrap="square" lIns="0" tIns="0" rIns="0" bIns="0" rtlCol="0" anchor="ctr"/>
          <a:lstStyle/>
          <a:p>
            <a:pPr indent="0" marL="0">
              <a:buNone/>
            </a:pPr>
            <a:r>
              <a:rPr lang="en-US" sz="4000" b="1" dirty="0">
                <a:solidFill>
                  <a:srgbClr val="B4532A"/>
                </a:solidFill>
                <a:latin typeface="Cambria" pitchFamily="34" charset="0"/>
                <a:ea typeface="Cambria" pitchFamily="34" charset="-122"/>
                <a:cs typeface="Cambria" pitchFamily="34" charset="-120"/>
              </a:rPr>
              <a:t>Q3</a:t>
            </a:r>
            <a:endParaRPr lang="en-US" sz="4000" dirty="0"/>
          </a:p>
        </p:txBody>
      </p:sp>
      <p:sp>
        <p:nvSpPr>
          <p:cNvPr id="5" name="Text 3"/>
          <p:cNvSpPr txBox="1"/>
          <p:nvPr/>
        </p:nvSpPr>
        <p:spPr>
          <a:xfrm>
            <a:off x="777240" y="2514600"/>
            <a:ext cx="3058058" cy="640080"/>
          </a:xfrm>
          <a:prstGeom prst="rect">
            <a:avLst/>
          </a:prstGeom>
          <a:noFill/>
          <a:ln/>
        </p:spPr>
        <p:txBody>
          <a:bodyPr wrap="square" lIns="0" tIns="0" rIns="0" bIns="0" rtlCol="0" anchor="t"/>
          <a:lstStyle/>
          <a:p>
            <a:pPr indent="0" marL="0">
              <a:buNone/>
            </a:pPr>
            <a:r>
              <a:rPr lang="en-US" sz="1300" dirty="0">
                <a:solidFill>
                  <a:srgbClr val="5B6B72"/>
                </a:solidFill>
                <a:latin typeface="Calibri" pitchFamily="34" charset="0"/>
                <a:ea typeface="Calibri" pitchFamily="34" charset="-122"/>
                <a:cs typeface="Calibri" pitchFamily="34" charset="-120"/>
              </a:rPr>
              <a:t>Meridian Industrial requires certification from July 1</a:t>
            </a:r>
            <a:endParaRPr lang="en-US" sz="1300" dirty="0"/>
          </a:p>
        </p:txBody>
      </p:sp>
      <p:sp>
        <p:nvSpPr>
          <p:cNvPr id="6" name="Shape 4"/>
          <p:cNvSpPr/>
          <p:nvPr/>
        </p:nvSpPr>
        <p:spPr>
          <a:xfrm>
            <a:off x="4338218" y="1463040"/>
            <a:ext cx="3515258" cy="1828800"/>
          </a:xfrm>
          <a:prstGeom prst="roundRect">
            <a:avLst>
              <a:gd name="adj" fmla="val 4000"/>
            </a:avLst>
          </a:prstGeom>
          <a:solidFill>
            <a:srgbClr val="EEF2F3"/>
          </a:solidFill>
          <a:ln w="12700">
            <a:solidFill>
              <a:srgbClr val="EEF2F3"/>
            </a:solidFill>
            <a:prstDash val="solid"/>
          </a:ln>
        </p:spPr>
      </p:sp>
      <p:sp>
        <p:nvSpPr>
          <p:cNvPr id="7" name="Text 5"/>
          <p:cNvSpPr txBox="1"/>
          <p:nvPr/>
        </p:nvSpPr>
        <p:spPr>
          <a:xfrm>
            <a:off x="4566818" y="1645920"/>
            <a:ext cx="3058058" cy="868680"/>
          </a:xfrm>
          <a:prstGeom prst="rect">
            <a:avLst/>
          </a:prstGeom>
          <a:noFill/>
          <a:ln/>
        </p:spPr>
        <p:txBody>
          <a:bodyPr wrap="square" lIns="0" tIns="0" rIns="0" bIns="0" rtlCol="0" anchor="ctr"/>
          <a:lstStyle/>
          <a:p>
            <a:pPr indent="0" marL="0">
              <a:buNone/>
            </a:pPr>
            <a:r>
              <a:rPr lang="en-US" sz="4000" b="1" dirty="0">
                <a:solidFill>
                  <a:srgbClr val="2E5E6E"/>
                </a:solidFill>
                <a:latin typeface="Cambria" pitchFamily="34" charset="0"/>
                <a:ea typeface="Cambria" pitchFamily="34" charset="-122"/>
                <a:cs typeface="Cambria" pitchFamily="34" charset="-120"/>
              </a:rPr>
              <a:t>$92–118K</a:t>
            </a:r>
            <a:endParaRPr lang="en-US" sz="4000" dirty="0"/>
          </a:p>
        </p:txBody>
      </p:sp>
      <p:sp>
        <p:nvSpPr>
          <p:cNvPr id="8" name="Text 6"/>
          <p:cNvSpPr txBox="1"/>
          <p:nvPr/>
        </p:nvSpPr>
        <p:spPr>
          <a:xfrm>
            <a:off x="4566818" y="2514600"/>
            <a:ext cx="3058058" cy="640080"/>
          </a:xfrm>
          <a:prstGeom prst="rect">
            <a:avLst/>
          </a:prstGeom>
          <a:noFill/>
          <a:ln/>
        </p:spPr>
        <p:txBody>
          <a:bodyPr wrap="square" lIns="0" tIns="0" rIns="0" bIns="0" rtlCol="0" anchor="t"/>
          <a:lstStyle/>
          <a:p>
            <a:pPr indent="0" marL="0">
              <a:buNone/>
            </a:pPr>
            <a:r>
              <a:rPr lang="en-US" sz="1300" dirty="0">
                <a:solidFill>
                  <a:srgbClr val="5B6B72"/>
                </a:solidFill>
                <a:latin typeface="Calibri" pitchFamily="34" charset="0"/>
                <a:ea typeface="Calibri" pitchFamily="34" charset="-122"/>
                <a:cs typeface="Calibri" pitchFamily="34" charset="-120"/>
              </a:rPr>
              <a:t>Assessment body quotes, three accredited bodies</a:t>
            </a:r>
            <a:endParaRPr lang="en-US" sz="1300" dirty="0"/>
          </a:p>
        </p:txBody>
      </p:sp>
      <p:sp>
        <p:nvSpPr>
          <p:cNvPr id="9" name="Shape 7"/>
          <p:cNvSpPr/>
          <p:nvPr/>
        </p:nvSpPr>
        <p:spPr>
          <a:xfrm>
            <a:off x="8127797" y="1463040"/>
            <a:ext cx="3515258" cy="1828800"/>
          </a:xfrm>
          <a:prstGeom prst="roundRect">
            <a:avLst>
              <a:gd name="adj" fmla="val 4000"/>
            </a:avLst>
          </a:prstGeom>
          <a:solidFill>
            <a:srgbClr val="EEF2F3"/>
          </a:solidFill>
          <a:ln w="12700">
            <a:solidFill>
              <a:srgbClr val="EEF2F3"/>
            </a:solidFill>
            <a:prstDash val="solid"/>
          </a:ln>
        </p:spPr>
      </p:sp>
      <p:sp>
        <p:nvSpPr>
          <p:cNvPr id="10" name="Text 8"/>
          <p:cNvSpPr txBox="1"/>
          <p:nvPr/>
        </p:nvSpPr>
        <p:spPr>
          <a:xfrm>
            <a:off x="8356397" y="1645920"/>
            <a:ext cx="3058058" cy="868680"/>
          </a:xfrm>
          <a:prstGeom prst="rect">
            <a:avLst/>
          </a:prstGeom>
          <a:noFill/>
          <a:ln/>
        </p:spPr>
        <p:txBody>
          <a:bodyPr wrap="square" lIns="0" tIns="0" rIns="0" bIns="0" rtlCol="0" anchor="ctr"/>
          <a:lstStyle/>
          <a:p>
            <a:pPr indent="0" marL="0">
              <a:buNone/>
            </a:pPr>
            <a:r>
              <a:rPr lang="en-US" sz="4000" b="1" dirty="0">
                <a:solidFill>
                  <a:srgbClr val="2E5E6E"/>
                </a:solidFill>
                <a:latin typeface="Cambria" pitchFamily="34" charset="0"/>
                <a:ea typeface="Cambria" pitchFamily="34" charset="-122"/>
                <a:cs typeface="Cambria" pitchFamily="34" charset="-120"/>
              </a:rPr>
              <a:t>3–4 mo</a:t>
            </a:r>
            <a:endParaRPr lang="en-US" sz="4000" dirty="0"/>
          </a:p>
        </p:txBody>
      </p:sp>
      <p:sp>
        <p:nvSpPr>
          <p:cNvPr id="11" name="Text 9"/>
          <p:cNvSpPr txBox="1"/>
          <p:nvPr/>
        </p:nvSpPr>
        <p:spPr>
          <a:xfrm>
            <a:off x="8356397" y="2514600"/>
            <a:ext cx="3058058" cy="640080"/>
          </a:xfrm>
          <a:prstGeom prst="rect">
            <a:avLst/>
          </a:prstGeom>
          <a:noFill/>
          <a:ln/>
        </p:spPr>
        <p:txBody>
          <a:bodyPr wrap="square" lIns="0" tIns="0" rIns="0" bIns="0" rtlCol="0" anchor="t"/>
          <a:lstStyle/>
          <a:p>
            <a:pPr indent="0" marL="0">
              <a:buNone/>
            </a:pPr>
            <a:r>
              <a:rPr lang="en-US" sz="1300" dirty="0">
                <a:solidFill>
                  <a:srgbClr val="5B6B72"/>
                </a:solidFill>
                <a:latin typeface="Calibri" pitchFamily="34" charset="0"/>
                <a:ea typeface="Calibri" pitchFamily="34" charset="-122"/>
                <a:cs typeface="Calibri" pitchFamily="34" charset="-120"/>
              </a:rPr>
              <a:t>To build authenticated firmware updates</a:t>
            </a:r>
            <a:endParaRPr lang="en-US" sz="1300" dirty="0"/>
          </a:p>
        </p:txBody>
      </p:sp>
      <p:sp>
        <p:nvSpPr>
          <p:cNvPr id="12" name="Text 10"/>
          <p:cNvSpPr txBox="1"/>
          <p:nvPr/>
        </p:nvSpPr>
        <p:spPr>
          <a:xfrm>
            <a:off x="548640" y="3657600"/>
            <a:ext cx="11094415" cy="274320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2C3A40"/>
                </a:solidFill>
                <a:latin typeface="Calibri" pitchFamily="34" charset="0"/>
                <a:ea typeface="Calibri" pitchFamily="34" charset="-122"/>
                <a:cs typeface="Calibri" pitchFamily="34" charset="-120"/>
              </a:rPr>
              <a:t>Meridian is one of our five largest accounts; certification is now a procurement requirement</a:t>
            </a:r>
            <a:endParaRPr lang="en-US" sz="1600" dirty="0"/>
          </a:p>
          <a:p>
            <a:pPr marL="228600" indent="-228600">
              <a:spcAft>
                <a:spcPts val="800"/>
              </a:spcAft>
              <a:buSzPct val="100000"/>
              <a:buChar char="•"/>
            </a:pPr>
            <a:r>
              <a:rPr lang="en-US" sz="1600" dirty="0">
                <a:solidFill>
                  <a:srgbClr val="2C3A40"/>
                </a:solidFill>
                <a:latin typeface="Calibri" pitchFamily="34" charset="0"/>
                <a:ea typeface="Calibri" pitchFamily="34" charset="-122"/>
                <a:cs typeface="Calibri" pitchFamily="34" charset="-120"/>
              </a:rPr>
              <a:t>Scope is 62443-4-1 (secure development lifecycle) and likely 62443-4-2 (component requirements)</a:t>
            </a:r>
            <a:endParaRPr lang="en-US" sz="1600" dirty="0"/>
          </a:p>
          <a:p>
            <a:pPr marL="228600" indent="-228600">
              <a:spcAft>
                <a:spcPts val="800"/>
              </a:spcAft>
              <a:buSzPct val="100000"/>
              <a:buChar char="•"/>
            </a:pPr>
            <a:r>
              <a:rPr lang="en-US" sz="1600" dirty="0">
                <a:solidFill>
                  <a:srgbClr val="2C3A40"/>
                </a:solidFill>
                <a:latin typeface="Calibri" pitchFamily="34" charset="0"/>
                <a:ea typeface="Calibri" pitchFamily="34" charset="-122"/>
                <a:cs typeface="Calibri" pitchFamily="34" charset="-120"/>
              </a:rPr>
              <a:t>Documentation gaps (vulnerability disclosure, secure coding) closing in 4–6 weeks</a:t>
            </a:r>
            <a:endParaRPr lang="en-US" sz="1600" dirty="0"/>
          </a:p>
          <a:p>
            <a:pPr marL="228600" indent="-228600">
              <a:spcAft>
                <a:spcPts val="800"/>
              </a:spcAft>
              <a:buSzPct val="100000"/>
              <a:buChar char="•"/>
            </a:pPr>
            <a:r>
              <a:rPr lang="en-US" sz="1600" dirty="0">
                <a:solidFill>
                  <a:srgbClr val="2C3A40"/>
                </a:solidFill>
                <a:latin typeface="Calibri" pitchFamily="34" charset="0"/>
                <a:ea typeface="Calibri" pitchFamily="34" charset="-122"/>
                <a:cs typeface="Calibri" pitchFamily="34" charset="-120"/>
              </a:rPr>
              <a:t>Full certification by July 1 is not realistic; Elena is confirming whether Meridian accepts an interim self-assessment</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822960"/>
          </a:xfrm>
          <a:prstGeom prst="rect">
            <a:avLst/>
          </a:prstGeom>
          <a:noFill/>
          <a:ln/>
        </p:spPr>
        <p:txBody>
          <a:bodyPr wrap="square" lIns="0" tIns="0" rIns="0" bIns="0" rtlCol="0" anchor="ctr"/>
          <a:lstStyle/>
          <a:p>
            <a:pPr indent="0" marL="0">
              <a:buNone/>
            </a:pPr>
            <a:r>
              <a:rPr lang="en-US" sz="3000" b="1" dirty="0">
                <a:solidFill>
                  <a:srgbClr val="1F2A30"/>
                </a:solidFill>
                <a:latin typeface="Cambria" pitchFamily="34" charset="0"/>
                <a:ea typeface="Cambria" pitchFamily="34" charset="-122"/>
                <a:cs typeface="Cambria" pitchFamily="34" charset="-120"/>
              </a:rPr>
              <a:t>What We Are Asking the Board to Approve</a:t>
            </a:r>
            <a:endParaRPr lang="en-US" sz="3000" dirty="0"/>
          </a:p>
        </p:txBody>
      </p:sp>
      <p:sp>
        <p:nvSpPr>
          <p:cNvPr id="3" name="Shape 1"/>
          <p:cNvSpPr/>
          <p:nvPr/>
        </p:nvSpPr>
        <p:spPr>
          <a:xfrm>
            <a:off x="548640" y="1463040"/>
            <a:ext cx="11094415" cy="658368"/>
          </a:xfrm>
          <a:prstGeom prst="rect">
            <a:avLst/>
          </a:prstGeom>
          <a:solidFill>
            <a:srgbClr val="EEF2F3"/>
          </a:solidFill>
          <a:ln w="12700">
            <a:solidFill>
              <a:srgbClr val="EEF2F3"/>
            </a:solidFill>
            <a:prstDash val="solid"/>
          </a:ln>
        </p:spPr>
      </p:sp>
      <p:sp>
        <p:nvSpPr>
          <p:cNvPr id="4" name="Text 2"/>
          <p:cNvSpPr txBox="1"/>
          <p:nvPr/>
        </p:nvSpPr>
        <p:spPr>
          <a:xfrm>
            <a:off x="777240" y="1463040"/>
            <a:ext cx="3291840" cy="658368"/>
          </a:xfrm>
          <a:prstGeom prst="rect">
            <a:avLst/>
          </a:prstGeom>
          <a:noFill/>
          <a:ln/>
        </p:spPr>
        <p:txBody>
          <a:bodyPr wrap="square" lIns="0" tIns="0" rIns="0" bIns="0" rtlCol="0" anchor="ctr"/>
          <a:lstStyle/>
          <a:p>
            <a:pPr indent="0" marL="0">
              <a:buNone/>
            </a:pPr>
            <a:r>
              <a:rPr lang="en-US" sz="1500" b="1" dirty="0">
                <a:solidFill>
                  <a:srgbClr val="1F2A30"/>
                </a:solidFill>
                <a:latin typeface="Calibri" pitchFamily="34" charset="0"/>
                <a:ea typeface="Calibri" pitchFamily="34" charset="-122"/>
                <a:cs typeface="Calibri" pitchFamily="34" charset="-120"/>
              </a:rPr>
              <a:t>IEC 62443 certification</a:t>
            </a:r>
            <a:endParaRPr lang="en-US" sz="1500" dirty="0"/>
          </a:p>
        </p:txBody>
      </p:sp>
      <p:sp>
        <p:nvSpPr>
          <p:cNvPr id="5" name="Text 3"/>
          <p:cNvSpPr txBox="1"/>
          <p:nvPr/>
        </p:nvSpPr>
        <p:spPr>
          <a:xfrm>
            <a:off x="4114800" y="1463040"/>
            <a:ext cx="2011680" cy="658368"/>
          </a:xfrm>
          <a:prstGeom prst="rect">
            <a:avLst/>
          </a:prstGeom>
          <a:noFill/>
          <a:ln/>
        </p:spPr>
        <p:txBody>
          <a:bodyPr wrap="square" lIns="0" tIns="0" rIns="0" bIns="0" rtlCol="0" anchor="ctr"/>
          <a:lstStyle/>
          <a:p>
            <a:pPr indent="0" marL="0">
              <a:buNone/>
            </a:pPr>
            <a:r>
              <a:rPr lang="en-US" sz="1800" b="1" dirty="0">
                <a:solidFill>
                  <a:srgbClr val="2E5E6E"/>
                </a:solidFill>
                <a:latin typeface="Cambria" pitchFamily="34" charset="0"/>
                <a:ea typeface="Cambria" pitchFamily="34" charset="-122"/>
                <a:cs typeface="Cambria" pitchFamily="34" charset="-120"/>
              </a:rPr>
              <a:t>$215K</a:t>
            </a:r>
            <a:endParaRPr lang="en-US" sz="1800" dirty="0"/>
          </a:p>
        </p:txBody>
      </p:sp>
      <p:sp>
        <p:nvSpPr>
          <p:cNvPr id="6" name="Text 4"/>
          <p:cNvSpPr txBox="1"/>
          <p:nvPr/>
        </p:nvSpPr>
        <p:spPr>
          <a:xfrm>
            <a:off x="6309360" y="1463040"/>
            <a:ext cx="5150815" cy="658368"/>
          </a:xfrm>
          <a:prstGeom prst="rect">
            <a:avLst/>
          </a:prstGeom>
          <a:noFill/>
          <a:ln/>
        </p:spPr>
        <p:txBody>
          <a:bodyPr wrap="square" lIns="0" tIns="0" rIns="0" bIns="0" rtlCol="0" anchor="ctr"/>
          <a:lstStyle/>
          <a:p>
            <a:pPr indent="0" marL="0">
              <a:buNone/>
            </a:pPr>
            <a:r>
              <a:rPr lang="en-US" sz="1300" dirty="0">
                <a:solidFill>
                  <a:srgbClr val="5B6B72"/>
                </a:solidFill>
                <a:latin typeface="Calibri" pitchFamily="34" charset="0"/>
                <a:ea typeface="Calibri" pitchFamily="34" charset="-122"/>
                <a:cs typeface="Calibri" pitchFamily="34" charset="-120"/>
              </a:rPr>
              <a:t>Budget exception: gap assessment, certification, and outside key-management expertise</a:t>
            </a:r>
            <a:endParaRPr lang="en-US" sz="1300" dirty="0"/>
          </a:p>
        </p:txBody>
      </p:sp>
      <p:sp>
        <p:nvSpPr>
          <p:cNvPr id="7" name="Shape 5"/>
          <p:cNvSpPr/>
          <p:nvPr/>
        </p:nvSpPr>
        <p:spPr>
          <a:xfrm>
            <a:off x="548640" y="2176272"/>
            <a:ext cx="11094415" cy="658368"/>
          </a:xfrm>
          <a:prstGeom prst="rect">
            <a:avLst/>
          </a:prstGeom>
          <a:solidFill>
            <a:srgbClr val="FFFFFF"/>
          </a:solidFill>
          <a:ln w="12700">
            <a:solidFill>
              <a:srgbClr val="FFFFFF"/>
            </a:solidFill>
            <a:prstDash val="solid"/>
          </a:ln>
        </p:spPr>
      </p:sp>
      <p:sp>
        <p:nvSpPr>
          <p:cNvPr id="8" name="Text 6"/>
          <p:cNvSpPr txBox="1"/>
          <p:nvPr/>
        </p:nvSpPr>
        <p:spPr>
          <a:xfrm>
            <a:off x="777240" y="2176272"/>
            <a:ext cx="3291840" cy="658368"/>
          </a:xfrm>
          <a:prstGeom prst="rect">
            <a:avLst/>
          </a:prstGeom>
          <a:noFill/>
          <a:ln/>
        </p:spPr>
        <p:txBody>
          <a:bodyPr wrap="square" lIns="0" tIns="0" rIns="0" bIns="0" rtlCol="0" anchor="ctr"/>
          <a:lstStyle/>
          <a:p>
            <a:pPr indent="0" marL="0">
              <a:buNone/>
            </a:pPr>
            <a:r>
              <a:rPr lang="en-US" sz="1500" b="1" dirty="0">
                <a:solidFill>
                  <a:srgbClr val="1F2A30"/>
                </a:solidFill>
                <a:latin typeface="Calibri" pitchFamily="34" charset="0"/>
                <a:ea typeface="Calibri" pitchFamily="34" charset="-122"/>
                <a:cs typeface="Calibri" pitchFamily="34" charset="-120"/>
              </a:rPr>
              <a:t>Q2 forecast</a:t>
            </a:r>
            <a:endParaRPr lang="en-US" sz="1500" dirty="0"/>
          </a:p>
        </p:txBody>
      </p:sp>
      <p:sp>
        <p:nvSpPr>
          <p:cNvPr id="9" name="Text 7"/>
          <p:cNvSpPr txBox="1"/>
          <p:nvPr/>
        </p:nvSpPr>
        <p:spPr>
          <a:xfrm>
            <a:off x="4114800" y="2176272"/>
            <a:ext cx="2011680" cy="658368"/>
          </a:xfrm>
          <a:prstGeom prst="rect">
            <a:avLst/>
          </a:prstGeom>
          <a:noFill/>
          <a:ln/>
        </p:spPr>
        <p:txBody>
          <a:bodyPr wrap="square" lIns="0" tIns="0" rIns="0" bIns="0" rtlCol="0" anchor="ctr"/>
          <a:lstStyle/>
          <a:p>
            <a:pPr indent="0" marL="0">
              <a:buNone/>
            </a:pPr>
            <a:r>
              <a:rPr lang="en-US" sz="1800" b="1" dirty="0">
                <a:solidFill>
                  <a:srgbClr val="2E5E6E"/>
                </a:solidFill>
                <a:latin typeface="Cambria" pitchFamily="34" charset="0"/>
                <a:ea typeface="Cambria" pitchFamily="34" charset="-122"/>
                <a:cs typeface="Cambria" pitchFamily="34" charset="-120"/>
              </a:rPr>
              <a:t>$1.45M</a:t>
            </a:r>
            <a:endParaRPr lang="en-US" sz="1800" dirty="0"/>
          </a:p>
        </p:txBody>
      </p:sp>
      <p:sp>
        <p:nvSpPr>
          <p:cNvPr id="10" name="Text 8"/>
          <p:cNvSpPr txBox="1"/>
          <p:nvPr/>
        </p:nvSpPr>
        <p:spPr>
          <a:xfrm>
            <a:off x="6309360" y="2176272"/>
            <a:ext cx="5150815" cy="658368"/>
          </a:xfrm>
          <a:prstGeom prst="rect">
            <a:avLst/>
          </a:prstGeom>
          <a:noFill/>
          <a:ln/>
        </p:spPr>
        <p:txBody>
          <a:bodyPr wrap="square" lIns="0" tIns="0" rIns="0" bIns="0" rtlCol="0" anchor="ctr"/>
          <a:lstStyle/>
          <a:p>
            <a:pPr indent="0" marL="0">
              <a:buNone/>
            </a:pPr>
            <a:r>
              <a:rPr lang="en-US" sz="1300" dirty="0">
                <a:solidFill>
                  <a:srgbClr val="5B6B72"/>
                </a:solidFill>
                <a:latin typeface="Calibri" pitchFamily="34" charset="0"/>
                <a:ea typeface="Calibri" pitchFamily="34" charset="-122"/>
                <a:cs typeface="Calibri" pitchFamily="34" charset="-120"/>
              </a:rPr>
              <a:t>For the record: base case, with $1.20–1.25M as the stated downside</a:t>
            </a:r>
            <a:endParaRPr lang="en-US" sz="1300" dirty="0"/>
          </a:p>
        </p:txBody>
      </p:sp>
      <p:sp>
        <p:nvSpPr>
          <p:cNvPr id="11" name="Shape 9"/>
          <p:cNvSpPr/>
          <p:nvPr/>
        </p:nvSpPr>
        <p:spPr>
          <a:xfrm>
            <a:off x="548640" y="2889504"/>
            <a:ext cx="11094415" cy="658368"/>
          </a:xfrm>
          <a:prstGeom prst="rect">
            <a:avLst/>
          </a:prstGeom>
          <a:solidFill>
            <a:srgbClr val="EEF2F3"/>
          </a:solidFill>
          <a:ln w="12700">
            <a:solidFill>
              <a:srgbClr val="EEF2F3"/>
            </a:solidFill>
            <a:prstDash val="solid"/>
          </a:ln>
        </p:spPr>
      </p:sp>
      <p:sp>
        <p:nvSpPr>
          <p:cNvPr id="12" name="Text 10"/>
          <p:cNvSpPr txBox="1"/>
          <p:nvPr/>
        </p:nvSpPr>
        <p:spPr>
          <a:xfrm>
            <a:off x="777240" y="2889504"/>
            <a:ext cx="3291840" cy="658368"/>
          </a:xfrm>
          <a:prstGeom prst="rect">
            <a:avLst/>
          </a:prstGeom>
          <a:noFill/>
          <a:ln/>
        </p:spPr>
        <p:txBody>
          <a:bodyPr wrap="square" lIns="0" tIns="0" rIns="0" bIns="0" rtlCol="0" anchor="ctr"/>
          <a:lstStyle/>
          <a:p>
            <a:pPr indent="0" marL="0">
              <a:buNone/>
            </a:pPr>
            <a:r>
              <a:rPr lang="en-US" sz="1500" b="1" dirty="0">
                <a:solidFill>
                  <a:srgbClr val="1F2A30"/>
                </a:solidFill>
                <a:latin typeface="Calibri" pitchFamily="34" charset="0"/>
                <a:ea typeface="Calibri" pitchFamily="34" charset="-122"/>
                <a:cs typeface="Calibri" pitchFamily="34" charset="-120"/>
              </a:rPr>
              <a:t>X4 cost remediation</a:t>
            </a:r>
            <a:endParaRPr lang="en-US" sz="1500" dirty="0"/>
          </a:p>
        </p:txBody>
      </p:sp>
      <p:sp>
        <p:nvSpPr>
          <p:cNvPr id="13" name="Text 11"/>
          <p:cNvSpPr txBox="1"/>
          <p:nvPr/>
        </p:nvSpPr>
        <p:spPr>
          <a:xfrm>
            <a:off x="4114800" y="2889504"/>
            <a:ext cx="2011680" cy="658368"/>
          </a:xfrm>
          <a:prstGeom prst="rect">
            <a:avLst/>
          </a:prstGeom>
          <a:noFill/>
          <a:ln/>
        </p:spPr>
        <p:txBody>
          <a:bodyPr wrap="square" lIns="0" tIns="0" rIns="0" bIns="0" rtlCol="0" anchor="ctr"/>
          <a:lstStyle/>
          <a:p>
            <a:pPr indent="0" marL="0">
              <a:buNone/>
            </a:pPr>
            <a:r>
              <a:rPr lang="en-US" sz="1800" b="1" dirty="0">
                <a:solidFill>
                  <a:srgbClr val="2E5E6E"/>
                </a:solidFill>
                <a:latin typeface="Cambria" pitchFamily="34" charset="0"/>
                <a:ea typeface="Cambria" pitchFamily="34" charset="-122"/>
                <a:cs typeface="Cambria" pitchFamily="34" charset="-120"/>
              </a:rPr>
              <a:t>No ask</a:t>
            </a:r>
            <a:endParaRPr lang="en-US" sz="1800" dirty="0"/>
          </a:p>
        </p:txBody>
      </p:sp>
      <p:sp>
        <p:nvSpPr>
          <p:cNvPr id="14" name="Text 12"/>
          <p:cNvSpPr txBox="1"/>
          <p:nvPr/>
        </p:nvSpPr>
        <p:spPr>
          <a:xfrm>
            <a:off x="6309360" y="2889504"/>
            <a:ext cx="5150815" cy="658368"/>
          </a:xfrm>
          <a:prstGeom prst="rect">
            <a:avLst/>
          </a:prstGeom>
          <a:noFill/>
          <a:ln/>
        </p:spPr>
        <p:txBody>
          <a:bodyPr wrap="square" lIns="0" tIns="0" rIns="0" bIns="0" rtlCol="0" anchor="ctr"/>
          <a:lstStyle/>
          <a:p>
            <a:pPr indent="0" marL="0">
              <a:buNone/>
            </a:pPr>
            <a:r>
              <a:rPr lang="en-US" sz="1300" dirty="0">
                <a:solidFill>
                  <a:srgbClr val="5B6B72"/>
                </a:solidFill>
                <a:latin typeface="Calibri" pitchFamily="34" charset="0"/>
                <a:ea typeface="Calibri" pitchFamily="34" charset="-122"/>
                <a:cs typeface="Calibri" pitchFamily="34" charset="-120"/>
              </a:rPr>
              <a:t>Supplier change and reject-rate target funded within the operating budget</a:t>
            </a:r>
            <a:endParaRPr lang="en-US" sz="1300" dirty="0"/>
          </a:p>
        </p:txBody>
      </p:sp>
      <p:sp>
        <p:nvSpPr>
          <p:cNvPr id="15" name="Shape 13"/>
          <p:cNvSpPr/>
          <p:nvPr/>
        </p:nvSpPr>
        <p:spPr>
          <a:xfrm>
            <a:off x="548640" y="3602736"/>
            <a:ext cx="11094415" cy="658368"/>
          </a:xfrm>
          <a:prstGeom prst="rect">
            <a:avLst/>
          </a:prstGeom>
          <a:solidFill>
            <a:srgbClr val="FFFFFF"/>
          </a:solidFill>
          <a:ln w="12700">
            <a:solidFill>
              <a:srgbClr val="FFFFFF"/>
            </a:solidFill>
            <a:prstDash val="solid"/>
          </a:ln>
        </p:spPr>
      </p:sp>
      <p:sp>
        <p:nvSpPr>
          <p:cNvPr id="16" name="Text 14"/>
          <p:cNvSpPr txBox="1"/>
          <p:nvPr/>
        </p:nvSpPr>
        <p:spPr>
          <a:xfrm>
            <a:off x="777240" y="3602736"/>
            <a:ext cx="3291840" cy="658368"/>
          </a:xfrm>
          <a:prstGeom prst="rect">
            <a:avLst/>
          </a:prstGeom>
          <a:noFill/>
          <a:ln/>
        </p:spPr>
        <p:txBody>
          <a:bodyPr wrap="square" lIns="0" tIns="0" rIns="0" bIns="0" rtlCol="0" anchor="ctr"/>
          <a:lstStyle/>
          <a:p>
            <a:pPr indent="0" marL="0">
              <a:buNone/>
            </a:pPr>
            <a:r>
              <a:rPr lang="en-US" sz="1500" b="1" dirty="0">
                <a:solidFill>
                  <a:srgbClr val="1F2A30"/>
                </a:solidFill>
                <a:latin typeface="Calibri" pitchFamily="34" charset="0"/>
                <a:ea typeface="Calibri" pitchFamily="34" charset="-122"/>
                <a:cs typeface="Calibri" pitchFamily="34" charset="-120"/>
              </a:rPr>
              <a:t>XT-9 Rev B</a:t>
            </a:r>
            <a:endParaRPr lang="en-US" sz="1500" dirty="0"/>
          </a:p>
        </p:txBody>
      </p:sp>
      <p:sp>
        <p:nvSpPr>
          <p:cNvPr id="17" name="Text 15"/>
          <p:cNvSpPr txBox="1"/>
          <p:nvPr/>
        </p:nvSpPr>
        <p:spPr>
          <a:xfrm>
            <a:off x="4114800" y="3602736"/>
            <a:ext cx="2011680" cy="658368"/>
          </a:xfrm>
          <a:prstGeom prst="rect">
            <a:avLst/>
          </a:prstGeom>
          <a:noFill/>
          <a:ln/>
        </p:spPr>
        <p:txBody>
          <a:bodyPr wrap="square" lIns="0" tIns="0" rIns="0" bIns="0" rtlCol="0" anchor="ctr"/>
          <a:lstStyle/>
          <a:p>
            <a:pPr indent="0" marL="0">
              <a:buNone/>
            </a:pPr>
            <a:r>
              <a:rPr lang="en-US" sz="1800" b="1" dirty="0">
                <a:solidFill>
                  <a:srgbClr val="2E5E6E"/>
                </a:solidFill>
                <a:latin typeface="Cambria" pitchFamily="34" charset="0"/>
                <a:ea typeface="Cambria" pitchFamily="34" charset="-122"/>
                <a:cs typeface="Cambria" pitchFamily="34" charset="-120"/>
              </a:rPr>
              <a:t>No ask</a:t>
            </a:r>
            <a:endParaRPr lang="en-US" sz="1800" dirty="0"/>
          </a:p>
        </p:txBody>
      </p:sp>
      <p:sp>
        <p:nvSpPr>
          <p:cNvPr id="18" name="Text 16"/>
          <p:cNvSpPr txBox="1"/>
          <p:nvPr/>
        </p:nvSpPr>
        <p:spPr>
          <a:xfrm>
            <a:off x="6309360" y="3602736"/>
            <a:ext cx="5150815" cy="658368"/>
          </a:xfrm>
          <a:prstGeom prst="rect">
            <a:avLst/>
          </a:prstGeom>
          <a:noFill/>
          <a:ln/>
        </p:spPr>
        <p:txBody>
          <a:bodyPr wrap="square" lIns="0" tIns="0" rIns="0" bIns="0" rtlCol="0" anchor="ctr"/>
          <a:lstStyle/>
          <a:p>
            <a:pPr indent="0" marL="0">
              <a:buNone/>
            </a:pPr>
            <a:r>
              <a:rPr lang="en-US" sz="1300" dirty="0">
                <a:solidFill>
                  <a:srgbClr val="5B6B72"/>
                </a:solidFill>
                <a:latin typeface="Calibri" pitchFamily="34" charset="0"/>
                <a:ea typeface="Calibri" pitchFamily="34" charset="-122"/>
                <a:cs typeface="Calibri" pitchFamily="34" charset="-120"/>
              </a:rPr>
              <a:t>Firmware update and Rev C replacements funded within the operating budget</a:t>
            </a:r>
            <a:endParaRPr lang="en-US" sz="1300" dirty="0"/>
          </a:p>
        </p:txBody>
      </p:sp>
      <p:sp>
        <p:nvSpPr>
          <p:cNvPr id="19" name="Text 17"/>
          <p:cNvSpPr txBox="1"/>
          <p:nvPr/>
        </p:nvSpPr>
        <p:spPr>
          <a:xfrm>
            <a:off x="548640" y="4453128"/>
            <a:ext cx="11094415" cy="457200"/>
          </a:xfrm>
          <a:prstGeom prst="rect">
            <a:avLst/>
          </a:prstGeom>
          <a:noFill/>
          <a:ln/>
        </p:spPr>
        <p:txBody>
          <a:bodyPr wrap="square" lIns="0" tIns="0" rIns="0" bIns="0" rtlCol="0" anchor="ctr"/>
          <a:lstStyle/>
          <a:p>
            <a:pPr indent="0" marL="0">
              <a:buNone/>
            </a:pPr>
            <a:r>
              <a:rPr lang="en-US" sz="1300" i="1" dirty="0">
                <a:solidFill>
                  <a:srgbClr val="5B6B72"/>
                </a:solidFill>
                <a:latin typeface="Calibri" pitchFamily="34" charset="0"/>
                <a:ea typeface="Calibri" pitchFamily="34" charset="-122"/>
                <a:cs typeface="Calibri" pitchFamily="34" charset="-120"/>
              </a:rPr>
              <a:t>The certification exception is the one decision needed today.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Q1 2026 Board Review</dc:title>
  <dc:subject/>
  <dc:creator>Priya</dc:creator>
  <cp:lastModifiedBy>Priya</cp:lastModifiedBy>
  <cp:revision>1</cp:revision>
  <dcterms:created xsi:type="dcterms:W3CDTF">2026-04-02T09:00:00Z</dcterms:created>
  <dcterms:modified xsi:type="dcterms:W3CDTF">2026-04-02T09:00:00Z</dcterms:modified>
  <cp:keywords/>
  <dc:description/>
</cp:coreProperties>
</file>