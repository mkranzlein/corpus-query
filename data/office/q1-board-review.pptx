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of the quarter: we sold more than we planned and made less on it. Revenue came in at $618,400 against a plan of $594,000, so we beat by $24,400, about four percent. Gross margin landed at 26.1 percent against 28.5 planned. The miss is concentrated in one product, the GX-7, and I'll take you through the three causes on the margin slide. Cash is fine: we ended the quarter with $412,000 in operating cash and nothing in the Q1 numbers points to a capital need beyond the small capex request at the end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beat is one deal. Hessanby Dynamics came in during the last week of March: 90 GX-7 units at a negotiated $198 a unit. It was a competitive situation and Jamal worked it hard, and it was not in the plan. The MX-3 line was essentially flat to forecast. Across the quarter we closed 18 new deals worth $385,800 in bookings, and reorders from accounts we already serve made up the rest of revenue. The Hessanby price is the one thing on this slide I'm not comfortable with, and it comes back on the margin and pricing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GX-7 cost us $174.20 per unit fully loaded in Q1. The plan, and the Hessanby deal, assumed $161. Three things drove the gap. The Kessendra PM-4 power component went on allocation in January and February and we bought on the spot market twice, at roughly $4.80 over standard. Test yield on the main assembly ran 89 percent in January and 91 in February against a 93 percent model; a placement correction at the contract manufacturer brought March back to 93. And freight ran over on a carrier surcharge. The MX-3 went the other way, at 31.2 percent margin against 29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acted on pricing before the quarter closed. GX-7 list went from $214 to $239 on April 1, which is what a 30 percent margin needs at the $167 effective cost we are modeling for Q2. Anyone already in active evaluation on March 11 keeps the old list for ninety days, so the pipeline is not surprised mid-negotiation. For Hessanby's renewal, expected at about 120 units, Renata has set $198 as the absolute floor and Elena will push for $209. The RV-2 launches at an introductory $189 for ninety days and steps to $209; the difference is a deliberate, documented launch subsidy with a hard end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pipeline is healthy but back-loaded. We have $486,000 of qualified pipeline with expected close dates in the quarter, $301,000 of it weighted by stage, and $171,000 in Commit. The three deals I want you to know by name: the Quennick GX-7 expansion for their second site at $64,200, which is in Commit and which the account recovery work is protecting; Kilnwarden's MX-3 substation refresh at $38,200, also Commit; and Ivelmoor's plant two rollout at $42,400, which is Best Case until their open support issue is closed. Our base-case forecast for the quarter is $535,000, with RV-2 orders landing in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RV-2 is on schedule for a June ship. The Rev C boards are through electrical qualification. Firmware 1.0.0 is in development, and unlike the MX-3, over-the-air updates are built in from the start rather than retrofitted, which matters more after this quarter than it did before it. The first production run is 400 units at the contract manufacturer in early June. Marketing assets are in review with sales, and the launch price is $189 for the first ninety days. CE marking will not be in place at launch; I cover that on the certification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quarter's one serious product problem was on the MX-3. Quennick, one of our largest accounts, reported units going into a fault state after long idle periods: eleven of the 312 we shipped them in February. Sofia traced it to a race between the watchdog and an interrupt handler when a unit wakes from low power. We told Quennick the root cause the same day, released the fix as firmware 2.4.2 on April 10, and pushed it to all five MX-3 customers running 2.4.1, subject to their contract notice terms. The gap was in our test coverage, not in anyone's work, and the test matrix now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supply, we looked hard at moving the GX-7 main assembly from Veskell to Norrask. The headline quote looked like a $2.75 saving per unit, but it assumed a six-layer board; on our eight-layer spec the gap is 25 cents. Norrask's lead time is better, and Veskell's two-week slip on the last order hurt a customer shipment, so we have not closed the door, but we will not switch on 25 cents without a reference check and a qualification run. The bigger supply risk is the Kessendra PM-4 at sixteen weeks' lead time; Marcus is evaluating a Tolvane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prospects in continental Europe, Fenstad Systems and Pellowdine Industrial, have asked for CE marking, which neither the GX-7 nor the RV-2 has. The scope is the Low Voltage and EMC directives, with RoHS documentation alongside. Lab testing for both products is estimated at $22,000 to $28,000, and we are running cheap pre-compliance scans first to avoid paying for a failed formal test. Labs are booking six to eight weeks out, so July is the earliest realistic date for the RV-2. We are not promising CE to anyone before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went wrong this quarter, and each has an owner. We priced the GX-7 against a cost we had not yet achieved; list is up and Renata now sets floor prices before deals are structured. A firmware fault reached a customer because our tests never exercised a long idle period; that is closed. A single power component on allocation cost us margin; Marcus is qualifying an alternative. And Theo has shown that seven of 23 open tickets in March were questions our documentation should have answered; Devon and Sofia are filling those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priorities for Q2. Ship the RV-2 on schedule. Get GX-7 cost to the $167 we are modeling, which depends mostly on holding yield at 93 percent and getting the PM-4 off the spot market. Renew Hessanby without going below $198. Publish a firmware lifecycle policy; Quennick asked for one in writing before the fault, and after it they will not accept an informal answer, and they are not the only customer asking. And book CE testing so the European prospects have a date we can stand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asks. First, introductions: if any of you know distributors or systems integrators in continental Europe, the time to meet them is before CE marking lands, not after. Second, a view on pricing discipline. On contested deals where Ovurel is in the room we have been discounting up to eighteen percent, and at the new list we will lose some of those. I think that is right, but I would like the board's view. For information only: Marcus has a thermal chamber request between $11,200 and $18,500 in review with Renata; it does not need board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3D"/>
        </a:solidFill>
      </p:bgPr>
    </p:bg>
    <p:spTree>
      <p:nvGrpSpPr>
        <p:cNvPr id="1" name=""/>
        <p:cNvGrpSpPr/>
        <p:nvPr/>
      </p:nvGrpSpPr>
      <p:grpSpPr>
        <a:xfrm>
          <a:off x="0" y="0"/>
          <a:ext cx="0" cy="0"/>
          <a:chOff x="0" y="0"/>
          <a:chExt cx="0" cy="0"/>
        </a:xfrm>
      </p:grpSpPr>
      <p:sp>
        <p:nvSpPr>
          <p:cNvPr id="2" name="Text 0"/>
          <p:cNvSpPr/>
          <p:nvPr/>
        </p:nvSpPr>
        <p:spPr>
          <a:xfrm>
            <a:off x="548640" y="1234440"/>
            <a:ext cx="8046720" cy="365760"/>
          </a:xfrm>
          <a:prstGeom prst="rect">
            <a:avLst/>
          </a:prstGeom>
          <a:noFill/>
          <a:ln/>
        </p:spPr>
        <p:txBody>
          <a:bodyPr wrap="square" lIns="0" tIns="0" rIns="0" bIns="0" rtlCol="0" anchor="ctr"/>
          <a:lstStyle/>
          <a:p>
            <a:pPr indent="0" marL="0">
              <a:buNone/>
            </a:pPr>
            <a:r>
              <a:rPr lang="en-US" sz="1200" b="1" spc="300" kern="0" dirty="0">
                <a:solidFill>
                  <a:srgbClr val="E9A23B"/>
                </a:solidFill>
                <a:latin typeface="Calibri" pitchFamily="34" charset="0"/>
                <a:ea typeface="Calibri" pitchFamily="34" charset="-122"/>
                <a:cs typeface="Calibri" pitchFamily="34" charset="-120"/>
              </a:rPr>
              <a:t>BOARD OF DIRECTORS</a:t>
            </a:r>
            <a:endParaRPr lang="en-US" sz="1200" dirty="0"/>
          </a:p>
        </p:txBody>
      </p:sp>
      <p:sp>
        <p:nvSpPr>
          <p:cNvPr id="3" name="Text 1"/>
          <p:cNvSpPr/>
          <p:nvPr/>
        </p:nvSpPr>
        <p:spPr>
          <a:xfrm>
            <a:off x="548640" y="1645920"/>
            <a:ext cx="8046720" cy="118872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Q1 2026 Board Review</a:t>
            </a:r>
            <a:endParaRPr lang="en-US" sz="3800" dirty="0"/>
          </a:p>
        </p:txBody>
      </p:sp>
      <p:sp>
        <p:nvSpPr>
          <p:cNvPr id="4" name="Text 2"/>
          <p:cNvSpPr/>
          <p:nvPr/>
        </p:nvSpPr>
        <p:spPr>
          <a:xfrm>
            <a:off x="548640" y="3017520"/>
            <a:ext cx="8046720" cy="548640"/>
          </a:xfrm>
          <a:prstGeom prst="rect">
            <a:avLst/>
          </a:prstGeom>
          <a:noFill/>
          <a:ln/>
        </p:spPr>
        <p:txBody>
          <a:bodyPr wrap="square" lIns="0" tIns="0" rIns="0" bIns="0" rtlCol="0" anchor="ctr">
            <a:normAutofit/>
          </a:bodyPr>
          <a:lstStyle/>
          <a:p>
            <a:pPr indent="0" marL="0">
              <a:buNone/>
            </a:pPr>
            <a:r>
              <a:rPr lang="en-US" sz="1600" dirty="0">
                <a:solidFill>
                  <a:srgbClr val="DCE8E6"/>
                </a:solidFill>
                <a:latin typeface="Calibri" pitchFamily="34" charset="0"/>
                <a:ea typeface="Calibri" pitchFamily="34" charset="-122"/>
                <a:cs typeface="Calibri" pitchFamily="34" charset="-120"/>
              </a:rPr>
              <a:t>Main St Widget Foundry LLC  ·  Priya, CEO  ·  April 28,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Q1 at a Glance</a:t>
            </a:r>
            <a:endParaRPr lang="en-US" sz="2800" dirty="0"/>
          </a:p>
        </p:txBody>
      </p:sp>
      <p:sp>
        <p:nvSpPr>
          <p:cNvPr id="3" name="Shape 1"/>
          <p:cNvSpPr/>
          <p:nvPr/>
        </p:nvSpPr>
        <p:spPr>
          <a:xfrm>
            <a:off x="457200" y="1188720"/>
            <a:ext cx="2590800" cy="1417320"/>
          </a:xfrm>
          <a:prstGeom prst="roundRect">
            <a:avLst>
              <a:gd name="adj" fmla="val 6452"/>
            </a:avLst>
          </a:prstGeom>
          <a:solidFill>
            <a:srgbClr val="DCE8E6"/>
          </a:solidFill>
          <a:ln w="12700">
            <a:solidFill>
              <a:srgbClr val="DCE8E6"/>
            </a:solidFill>
            <a:prstDash val="solid"/>
          </a:ln>
        </p:spPr>
      </p:sp>
      <p:sp>
        <p:nvSpPr>
          <p:cNvPr id="4" name="Text 2"/>
          <p:cNvSpPr/>
          <p:nvPr/>
        </p:nvSpPr>
        <p:spPr>
          <a:xfrm>
            <a:off x="5943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$618.4K</a:t>
            </a:r>
            <a:endParaRPr lang="en-US" sz="2600" dirty="0"/>
          </a:p>
        </p:txBody>
      </p:sp>
      <p:sp>
        <p:nvSpPr>
          <p:cNvPr id="5" name="Text 3"/>
          <p:cNvSpPr/>
          <p:nvPr/>
        </p:nvSpPr>
        <p:spPr>
          <a:xfrm>
            <a:off x="5943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Revenue, against a $594.0K plan</a:t>
            </a:r>
            <a:endParaRPr lang="en-US" sz="1200" dirty="0"/>
          </a:p>
        </p:txBody>
      </p:sp>
      <p:sp>
        <p:nvSpPr>
          <p:cNvPr id="6" name="Shape 4"/>
          <p:cNvSpPr/>
          <p:nvPr/>
        </p:nvSpPr>
        <p:spPr>
          <a:xfrm>
            <a:off x="3276600" y="1188720"/>
            <a:ext cx="2590800" cy="1417320"/>
          </a:xfrm>
          <a:prstGeom prst="roundRect">
            <a:avLst>
              <a:gd name="adj" fmla="val 6452"/>
            </a:avLst>
          </a:prstGeom>
          <a:solidFill>
            <a:srgbClr val="DCE8E6"/>
          </a:solidFill>
          <a:ln w="12700">
            <a:solidFill>
              <a:srgbClr val="DCE8E6"/>
            </a:solidFill>
            <a:prstDash val="solid"/>
          </a:ln>
        </p:spPr>
      </p:sp>
      <p:sp>
        <p:nvSpPr>
          <p:cNvPr id="7" name="Text 5"/>
          <p:cNvSpPr/>
          <p:nvPr/>
        </p:nvSpPr>
        <p:spPr>
          <a:xfrm>
            <a:off x="34137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26.1%</a:t>
            </a:r>
            <a:endParaRPr lang="en-US" sz="2600" dirty="0"/>
          </a:p>
        </p:txBody>
      </p:sp>
      <p:sp>
        <p:nvSpPr>
          <p:cNvPr id="8" name="Text 6"/>
          <p:cNvSpPr/>
          <p:nvPr/>
        </p:nvSpPr>
        <p:spPr>
          <a:xfrm>
            <a:off x="34137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Gross margin, against 28.5% plan</a:t>
            </a:r>
            <a:endParaRPr lang="en-US" sz="1200" dirty="0"/>
          </a:p>
        </p:txBody>
      </p:sp>
      <p:sp>
        <p:nvSpPr>
          <p:cNvPr id="9" name="Shape 7"/>
          <p:cNvSpPr/>
          <p:nvPr/>
        </p:nvSpPr>
        <p:spPr>
          <a:xfrm>
            <a:off x="6096000" y="1188720"/>
            <a:ext cx="2590800" cy="1417320"/>
          </a:xfrm>
          <a:prstGeom prst="roundRect">
            <a:avLst>
              <a:gd name="adj" fmla="val 6452"/>
            </a:avLst>
          </a:prstGeom>
          <a:solidFill>
            <a:srgbClr val="DCE8E6"/>
          </a:solidFill>
          <a:ln w="12700">
            <a:solidFill>
              <a:srgbClr val="DCE8E6"/>
            </a:solidFill>
            <a:prstDash val="solid"/>
          </a:ln>
        </p:spPr>
      </p:sp>
      <p:sp>
        <p:nvSpPr>
          <p:cNvPr id="10" name="Text 8"/>
          <p:cNvSpPr/>
          <p:nvPr/>
        </p:nvSpPr>
        <p:spPr>
          <a:xfrm>
            <a:off x="62331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$412K</a:t>
            </a:r>
            <a:endParaRPr lang="en-US" sz="2600" dirty="0"/>
          </a:p>
        </p:txBody>
      </p:sp>
      <p:sp>
        <p:nvSpPr>
          <p:cNvPr id="11" name="Text 9"/>
          <p:cNvSpPr/>
          <p:nvPr/>
        </p:nvSpPr>
        <p:spPr>
          <a:xfrm>
            <a:off x="62331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Operating cash at quarter end</a:t>
            </a:r>
            <a:endParaRPr lang="en-US" sz="1200" dirty="0"/>
          </a:p>
        </p:txBody>
      </p:sp>
      <p:sp>
        <p:nvSpPr>
          <p:cNvPr id="12" name="Text 10"/>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Top line beat plan by $24.4K, about 4%</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Margin missed by 2.4 points, almost all of it on the GX-7</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Books closed April 23</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Revenue: Where the Beat Came From</a:t>
            </a:r>
            <a:endParaRPr lang="en-US" sz="2800" dirty="0"/>
          </a:p>
        </p:txBody>
      </p:sp>
      <p:sp>
        <p:nvSpPr>
          <p:cNvPr id="3" name="Shape 1"/>
          <p:cNvSpPr/>
          <p:nvPr/>
        </p:nvSpPr>
        <p:spPr>
          <a:xfrm>
            <a:off x="6035040" y="1234440"/>
            <a:ext cx="2651760" cy="3291840"/>
          </a:xfrm>
          <a:prstGeom prst="roundRect">
            <a:avLst>
              <a:gd name="adj" fmla="val 4138"/>
            </a:avLst>
          </a:prstGeom>
          <a:solidFill>
            <a:srgbClr val="DCE8E6"/>
          </a:solidFill>
          <a:ln w="12700">
            <a:solidFill>
              <a:srgbClr val="DCE8E6"/>
            </a:solidFill>
            <a:prstDash val="solid"/>
          </a:ln>
        </p:spPr>
      </p:sp>
      <p:sp>
        <p:nvSpPr>
          <p:cNvPr id="4" name="Text 2"/>
          <p:cNvSpPr/>
          <p:nvPr/>
        </p:nvSpPr>
        <p:spPr>
          <a:xfrm>
            <a:off x="6217920" y="1463040"/>
            <a:ext cx="2286000" cy="914400"/>
          </a:xfrm>
          <a:prstGeom prst="rect">
            <a:avLst/>
          </a:prstGeom>
          <a:noFill/>
          <a:ln/>
        </p:spPr>
        <p:txBody>
          <a:bodyPr wrap="square" lIns="0" tIns="0" rIns="0" bIns="0" rtlCol="0" anchor="t">
            <a:normAutofit/>
          </a:bodyPr>
          <a:lstStyle/>
          <a:p>
            <a:pPr indent="0" marL="0">
              <a:buNone/>
            </a:pPr>
            <a:r>
              <a:rPr lang="en-US" sz="2200" b="1" dirty="0">
                <a:solidFill>
                  <a:srgbClr val="1F3A3D"/>
                </a:solidFill>
                <a:latin typeface="Cambria" pitchFamily="34" charset="0"/>
                <a:ea typeface="Cambria" pitchFamily="34" charset="-122"/>
                <a:cs typeface="Cambria" pitchFamily="34" charset="-120"/>
              </a:rPr>
              <a:t>$17,820</a:t>
            </a:r>
            <a:endParaRPr lang="en-US" sz="2200" dirty="0"/>
          </a:p>
        </p:txBody>
      </p:sp>
      <p:sp>
        <p:nvSpPr>
          <p:cNvPr id="5" name="Text 3"/>
          <p:cNvSpPr/>
          <p:nvPr/>
        </p:nvSpPr>
        <p:spPr>
          <a:xfrm>
            <a:off x="6217920" y="2468880"/>
            <a:ext cx="2286000" cy="1920240"/>
          </a:xfrm>
          <a:prstGeom prst="rect">
            <a:avLst/>
          </a:prstGeom>
          <a:noFill/>
          <a:ln/>
        </p:spPr>
        <p:txBody>
          <a:bodyPr wrap="square" lIns="0" tIns="0" rIns="0" bIns="0" rtlCol="0" anchor="t">
            <a:normAutofit/>
          </a:bodyPr>
          <a:lstStyle/>
          <a:p>
            <a:pPr indent="0" marL="0">
              <a:buNone/>
            </a:pPr>
            <a:r>
              <a:rPr lang="en-US" sz="1300" dirty="0">
                <a:solidFill>
                  <a:srgbClr val="22302F"/>
                </a:solidFill>
                <a:latin typeface="Calibri" pitchFamily="34" charset="0"/>
                <a:ea typeface="Calibri" pitchFamily="34" charset="-122"/>
                <a:cs typeface="Calibri" pitchFamily="34" charset="-120"/>
              </a:rPr>
              <a:t>Hessanby's first order, at a negotiated $198 per unit — upside to plan, and a new account</a:t>
            </a:r>
            <a:endParaRPr lang="en-US" sz="1300" dirty="0"/>
          </a:p>
        </p:txBody>
      </p:sp>
      <p:sp>
        <p:nvSpPr>
          <p:cNvPr id="6" name="Text 4"/>
          <p:cNvSpPr/>
          <p:nvPr/>
        </p:nvSpPr>
        <p:spPr>
          <a:xfrm>
            <a:off x="457200" y="1234440"/>
            <a:ext cx="530352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600" dirty="0">
                <a:solidFill>
                  <a:srgbClr val="22302F"/>
                </a:solidFill>
                <a:latin typeface="Calibri" pitchFamily="34" charset="0"/>
                <a:ea typeface="Calibri" pitchFamily="34" charset="-122"/>
                <a:cs typeface="Calibri" pitchFamily="34" charset="-120"/>
              </a:rPr>
              <a:t>Hessanby Dynamics: 90 GX-7 units, closed in the last week of March</a:t>
            </a:r>
            <a:endParaRPr lang="en-US" sz="1600" dirty="0"/>
          </a:p>
          <a:p>
            <a:pPr marL="342900" indent="-342900">
              <a:spcAft>
                <a:spcPts val="600"/>
              </a:spcAft>
              <a:buSzPct val="100000"/>
              <a:buChar char="•"/>
            </a:pPr>
            <a:r>
              <a:rPr lang="en-US" sz="1600" dirty="0">
                <a:solidFill>
                  <a:srgbClr val="22302F"/>
                </a:solidFill>
                <a:latin typeface="Calibri" pitchFamily="34" charset="0"/>
                <a:ea typeface="Calibri" pitchFamily="34" charset="-122"/>
                <a:cs typeface="Calibri" pitchFamily="34" charset="-120"/>
              </a:rPr>
              <a:t>MX-3 line flat to forecast</a:t>
            </a:r>
            <a:endParaRPr lang="en-US" sz="1600" dirty="0"/>
          </a:p>
          <a:p>
            <a:pPr marL="342900" indent="-342900">
              <a:spcAft>
                <a:spcPts val="600"/>
              </a:spcAft>
              <a:buSzPct val="100000"/>
              <a:buChar char="•"/>
            </a:pPr>
            <a:r>
              <a:rPr lang="en-US" sz="1600" dirty="0">
                <a:solidFill>
                  <a:srgbClr val="22302F"/>
                </a:solidFill>
                <a:latin typeface="Calibri" pitchFamily="34" charset="0"/>
                <a:ea typeface="Calibri" pitchFamily="34" charset="-122"/>
                <a:cs typeface="Calibri" pitchFamily="34" charset="-120"/>
              </a:rPr>
              <a:t>18 new deals closed in the quarter, $385.8K in bookings</a:t>
            </a:r>
            <a:endParaRPr lang="en-US" sz="1600" dirty="0"/>
          </a:p>
          <a:p>
            <a:pPr marL="342900" indent="-342900">
              <a:spcAft>
                <a:spcPts val="600"/>
              </a:spcAft>
              <a:buSzPct val="100000"/>
              <a:buChar char="•"/>
            </a:pPr>
            <a:r>
              <a:rPr lang="en-US" sz="1600" dirty="0">
                <a:solidFill>
                  <a:srgbClr val="22302F"/>
                </a:solidFill>
                <a:latin typeface="Calibri" pitchFamily="34" charset="0"/>
                <a:ea typeface="Calibri" pitchFamily="34" charset="-122"/>
                <a:cs typeface="Calibri" pitchFamily="34" charset="-120"/>
              </a:rPr>
              <a:t>Reorders from installed accounts made up the balance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Margin: Why We Missed</a:t>
            </a:r>
            <a:endParaRPr lang="en-US" sz="2800" dirty="0"/>
          </a:p>
        </p:txBody>
      </p:sp>
      <p:sp>
        <p:nvSpPr>
          <p:cNvPr id="3" name="Shape 1"/>
          <p:cNvSpPr/>
          <p:nvPr/>
        </p:nvSpPr>
        <p:spPr>
          <a:xfrm>
            <a:off x="457200" y="1188720"/>
            <a:ext cx="2590800" cy="1417320"/>
          </a:xfrm>
          <a:prstGeom prst="roundRect">
            <a:avLst>
              <a:gd name="adj" fmla="val 6452"/>
            </a:avLst>
          </a:prstGeom>
          <a:solidFill>
            <a:srgbClr val="DCE8E6"/>
          </a:solidFill>
          <a:ln w="12700">
            <a:solidFill>
              <a:srgbClr val="DCE8E6"/>
            </a:solidFill>
            <a:prstDash val="solid"/>
          </a:ln>
        </p:spPr>
      </p:sp>
      <p:sp>
        <p:nvSpPr>
          <p:cNvPr id="4" name="Text 2"/>
          <p:cNvSpPr/>
          <p:nvPr/>
        </p:nvSpPr>
        <p:spPr>
          <a:xfrm>
            <a:off x="5943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$174.20</a:t>
            </a:r>
            <a:endParaRPr lang="en-US" sz="2600" dirty="0"/>
          </a:p>
        </p:txBody>
      </p:sp>
      <p:sp>
        <p:nvSpPr>
          <p:cNvPr id="5" name="Text 3"/>
          <p:cNvSpPr/>
          <p:nvPr/>
        </p:nvSpPr>
        <p:spPr>
          <a:xfrm>
            <a:off x="5943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Actual GX-7 fully loaded cost per unit</a:t>
            </a:r>
            <a:endParaRPr lang="en-US" sz="1200" dirty="0"/>
          </a:p>
        </p:txBody>
      </p:sp>
      <p:sp>
        <p:nvSpPr>
          <p:cNvPr id="6" name="Shape 4"/>
          <p:cNvSpPr/>
          <p:nvPr/>
        </p:nvSpPr>
        <p:spPr>
          <a:xfrm>
            <a:off x="3276600" y="1188720"/>
            <a:ext cx="2590800" cy="1417320"/>
          </a:xfrm>
          <a:prstGeom prst="roundRect">
            <a:avLst>
              <a:gd name="adj" fmla="val 6452"/>
            </a:avLst>
          </a:prstGeom>
          <a:solidFill>
            <a:srgbClr val="DCE8E6"/>
          </a:solidFill>
          <a:ln w="12700">
            <a:solidFill>
              <a:srgbClr val="DCE8E6"/>
            </a:solidFill>
            <a:prstDash val="solid"/>
          </a:ln>
        </p:spPr>
      </p:sp>
      <p:sp>
        <p:nvSpPr>
          <p:cNvPr id="7" name="Text 5"/>
          <p:cNvSpPr/>
          <p:nvPr/>
        </p:nvSpPr>
        <p:spPr>
          <a:xfrm>
            <a:off x="34137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$161.00</a:t>
            </a:r>
            <a:endParaRPr lang="en-US" sz="2600" dirty="0"/>
          </a:p>
        </p:txBody>
      </p:sp>
      <p:sp>
        <p:nvSpPr>
          <p:cNvPr id="8" name="Text 6"/>
          <p:cNvSpPr/>
          <p:nvPr/>
        </p:nvSpPr>
        <p:spPr>
          <a:xfrm>
            <a:off x="34137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Cost the plan and the Hessanby deal assumed</a:t>
            </a:r>
            <a:endParaRPr lang="en-US" sz="1200" dirty="0"/>
          </a:p>
        </p:txBody>
      </p:sp>
      <p:sp>
        <p:nvSpPr>
          <p:cNvPr id="9" name="Shape 7"/>
          <p:cNvSpPr/>
          <p:nvPr/>
        </p:nvSpPr>
        <p:spPr>
          <a:xfrm>
            <a:off x="6096000" y="1188720"/>
            <a:ext cx="2590800" cy="1417320"/>
          </a:xfrm>
          <a:prstGeom prst="roundRect">
            <a:avLst>
              <a:gd name="adj" fmla="val 6452"/>
            </a:avLst>
          </a:prstGeom>
          <a:solidFill>
            <a:srgbClr val="DCE8E6"/>
          </a:solidFill>
          <a:ln w="12700">
            <a:solidFill>
              <a:srgbClr val="DCE8E6"/>
            </a:solidFill>
            <a:prstDash val="solid"/>
          </a:ln>
        </p:spPr>
      </p:sp>
      <p:sp>
        <p:nvSpPr>
          <p:cNvPr id="10" name="Text 8"/>
          <p:cNvSpPr/>
          <p:nvPr/>
        </p:nvSpPr>
        <p:spPr>
          <a:xfrm>
            <a:off x="62331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89 → 93%</a:t>
            </a:r>
            <a:endParaRPr lang="en-US" sz="2600" dirty="0"/>
          </a:p>
        </p:txBody>
      </p:sp>
      <p:sp>
        <p:nvSpPr>
          <p:cNvPr id="11" name="Text 9"/>
          <p:cNvSpPr/>
          <p:nvPr/>
        </p:nvSpPr>
        <p:spPr>
          <a:xfrm>
            <a:off x="62331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GX-7 test yield, January to March</a:t>
            </a:r>
            <a:endParaRPr lang="en-US" sz="1200" dirty="0"/>
          </a:p>
        </p:txBody>
      </p:sp>
      <p:sp>
        <p:nvSpPr>
          <p:cNvPr id="12" name="Text 10"/>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Kessendra PM-4 allocation: two spot buys at about $4.80 over standard cost</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Test yield below the 93% model in January and February</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Inbound freight carrier surcharge not in plan</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MX-3 margin beat plan: 31.2% against 29%</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Pricing Actions Taken in Q1</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GX-7 list raised from $214 to $239, effective April 1</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Deals in active evaluation on March 11 keep the old list for 90 days</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Hessanby renewal: $198 is the floor, we are asking $209</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RV-2 launches at $189 for 90 days, then $209 list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Q2 Pipeline by Stage</a:t>
            </a:r>
            <a:endParaRPr lang="en-US" sz="2800" dirty="0"/>
          </a:p>
        </p:txBody>
      </p:sp>
      <p:sp>
        <p:nvSpPr>
          <p:cNvPr id="3" name="Shape 1"/>
          <p:cNvSpPr/>
          <p:nvPr/>
        </p:nvSpPr>
        <p:spPr>
          <a:xfrm>
            <a:off x="457200" y="1188720"/>
            <a:ext cx="1885950" cy="1417320"/>
          </a:xfrm>
          <a:prstGeom prst="roundRect">
            <a:avLst>
              <a:gd name="adj" fmla="val 6452"/>
            </a:avLst>
          </a:prstGeom>
          <a:solidFill>
            <a:srgbClr val="DCE8E6"/>
          </a:solidFill>
          <a:ln w="12700">
            <a:solidFill>
              <a:srgbClr val="DCE8E6"/>
            </a:solidFill>
            <a:prstDash val="solid"/>
          </a:ln>
        </p:spPr>
      </p:sp>
      <p:sp>
        <p:nvSpPr>
          <p:cNvPr id="4" name="Text 2"/>
          <p:cNvSpPr/>
          <p:nvPr/>
        </p:nvSpPr>
        <p:spPr>
          <a:xfrm>
            <a:off x="59436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$486K</a:t>
            </a:r>
            <a:endParaRPr lang="en-US" sz="2600" dirty="0"/>
          </a:p>
        </p:txBody>
      </p:sp>
      <p:sp>
        <p:nvSpPr>
          <p:cNvPr id="5" name="Text 3"/>
          <p:cNvSpPr/>
          <p:nvPr/>
        </p:nvSpPr>
        <p:spPr>
          <a:xfrm>
            <a:off x="59436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Qualified pipeline closing in Q2</a:t>
            </a:r>
            <a:endParaRPr lang="en-US" sz="1200" dirty="0"/>
          </a:p>
        </p:txBody>
      </p:sp>
      <p:sp>
        <p:nvSpPr>
          <p:cNvPr id="6" name="Shape 4"/>
          <p:cNvSpPr/>
          <p:nvPr/>
        </p:nvSpPr>
        <p:spPr>
          <a:xfrm>
            <a:off x="2571750" y="1188720"/>
            <a:ext cx="1885950" cy="1417320"/>
          </a:xfrm>
          <a:prstGeom prst="roundRect">
            <a:avLst>
              <a:gd name="adj" fmla="val 6452"/>
            </a:avLst>
          </a:prstGeom>
          <a:solidFill>
            <a:srgbClr val="DCE8E6"/>
          </a:solidFill>
          <a:ln w="12700">
            <a:solidFill>
              <a:srgbClr val="DCE8E6"/>
            </a:solidFill>
            <a:prstDash val="solid"/>
          </a:ln>
        </p:spPr>
      </p:sp>
      <p:sp>
        <p:nvSpPr>
          <p:cNvPr id="7" name="Text 5"/>
          <p:cNvSpPr/>
          <p:nvPr/>
        </p:nvSpPr>
        <p:spPr>
          <a:xfrm>
            <a:off x="270891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$301K</a:t>
            </a:r>
            <a:endParaRPr lang="en-US" sz="2600" dirty="0"/>
          </a:p>
        </p:txBody>
      </p:sp>
      <p:sp>
        <p:nvSpPr>
          <p:cNvPr id="8" name="Text 6"/>
          <p:cNvSpPr/>
          <p:nvPr/>
        </p:nvSpPr>
        <p:spPr>
          <a:xfrm>
            <a:off x="270891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Weighted by stage</a:t>
            </a:r>
            <a:endParaRPr lang="en-US" sz="1200" dirty="0"/>
          </a:p>
        </p:txBody>
      </p:sp>
      <p:sp>
        <p:nvSpPr>
          <p:cNvPr id="9" name="Shape 7"/>
          <p:cNvSpPr/>
          <p:nvPr/>
        </p:nvSpPr>
        <p:spPr>
          <a:xfrm>
            <a:off x="4686300" y="1188720"/>
            <a:ext cx="1885950" cy="1417320"/>
          </a:xfrm>
          <a:prstGeom prst="roundRect">
            <a:avLst>
              <a:gd name="adj" fmla="val 6452"/>
            </a:avLst>
          </a:prstGeom>
          <a:solidFill>
            <a:srgbClr val="DCE8E6"/>
          </a:solidFill>
          <a:ln w="12700">
            <a:solidFill>
              <a:srgbClr val="DCE8E6"/>
            </a:solidFill>
            <a:prstDash val="solid"/>
          </a:ln>
        </p:spPr>
      </p:sp>
      <p:sp>
        <p:nvSpPr>
          <p:cNvPr id="10" name="Text 8"/>
          <p:cNvSpPr/>
          <p:nvPr/>
        </p:nvSpPr>
        <p:spPr>
          <a:xfrm>
            <a:off x="482346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$171K</a:t>
            </a:r>
            <a:endParaRPr lang="en-US" sz="2600" dirty="0"/>
          </a:p>
        </p:txBody>
      </p:sp>
      <p:sp>
        <p:nvSpPr>
          <p:cNvPr id="11" name="Text 9"/>
          <p:cNvSpPr/>
          <p:nvPr/>
        </p:nvSpPr>
        <p:spPr>
          <a:xfrm>
            <a:off x="482346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In Commit</a:t>
            </a:r>
            <a:endParaRPr lang="en-US" sz="1200" dirty="0"/>
          </a:p>
        </p:txBody>
      </p:sp>
      <p:sp>
        <p:nvSpPr>
          <p:cNvPr id="12" name="Shape 10"/>
          <p:cNvSpPr/>
          <p:nvPr/>
        </p:nvSpPr>
        <p:spPr>
          <a:xfrm>
            <a:off x="6800850" y="1188720"/>
            <a:ext cx="1885950" cy="1417320"/>
          </a:xfrm>
          <a:prstGeom prst="roundRect">
            <a:avLst>
              <a:gd name="adj" fmla="val 6452"/>
            </a:avLst>
          </a:prstGeom>
          <a:solidFill>
            <a:srgbClr val="DCE8E6"/>
          </a:solidFill>
          <a:ln w="12700">
            <a:solidFill>
              <a:srgbClr val="DCE8E6"/>
            </a:solidFill>
            <a:prstDash val="solid"/>
          </a:ln>
        </p:spPr>
      </p:sp>
      <p:sp>
        <p:nvSpPr>
          <p:cNvPr id="13" name="Text 11"/>
          <p:cNvSpPr/>
          <p:nvPr/>
        </p:nvSpPr>
        <p:spPr>
          <a:xfrm>
            <a:off x="693801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1F3A3D"/>
                </a:solidFill>
                <a:latin typeface="Cambria" pitchFamily="34" charset="0"/>
                <a:ea typeface="Cambria" pitchFamily="34" charset="-122"/>
                <a:cs typeface="Cambria" pitchFamily="34" charset="-120"/>
              </a:rPr>
              <a:t>$535K</a:t>
            </a:r>
            <a:endParaRPr lang="en-US" sz="2600" dirty="0"/>
          </a:p>
        </p:txBody>
      </p:sp>
      <p:sp>
        <p:nvSpPr>
          <p:cNvPr id="14" name="Text 12"/>
          <p:cNvSpPr/>
          <p:nvPr/>
        </p:nvSpPr>
        <p:spPr>
          <a:xfrm>
            <a:off x="693801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2302F"/>
                </a:solidFill>
                <a:latin typeface="Calibri" pitchFamily="34" charset="0"/>
                <a:ea typeface="Calibri" pitchFamily="34" charset="-122"/>
                <a:cs typeface="Calibri" pitchFamily="34" charset="-120"/>
              </a:rPr>
              <a:t>Q2 base-case forecast</a:t>
            </a:r>
            <a:endParaRPr lang="en-US" sz="1200" dirty="0"/>
          </a:p>
        </p:txBody>
      </p:sp>
      <p:sp>
        <p:nvSpPr>
          <p:cNvPr id="15" name="Text 13"/>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Quennick GX-7 expansion, second site — $64.2K, Commit</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Kilnwarden Utilities MX-3 substation refresh — $38.2K, Commit</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Ivelmoor Group GX-7 plant two — $42.4K, Best Case</a:t>
            </a:r>
            <a:endParaRPr lang="en-US" sz="1500" dirty="0"/>
          </a:p>
          <a:p>
            <a:pPr marL="342900" indent="-342900">
              <a:spcAft>
                <a:spcPts val="600"/>
              </a:spcAft>
              <a:buSzPct val="100000"/>
              <a:buChar char="•"/>
            </a:pPr>
            <a:r>
              <a:rPr lang="en-US" sz="1500" dirty="0">
                <a:solidFill>
                  <a:srgbClr val="22302F"/>
                </a:solidFill>
                <a:latin typeface="Calibri" pitchFamily="34" charset="0"/>
                <a:ea typeface="Calibri" pitchFamily="34" charset="-122"/>
                <a:cs typeface="Calibri" pitchFamily="34" charset="-120"/>
              </a:rPr>
              <a:t>RV-2 first orders sit in June, behind the launch</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A3D"/>
        </a:solidFill>
      </p:bgPr>
    </p:bg>
    <p:spTree>
      <p:nvGrpSpPr>
        <p:cNvPr id="1" name=""/>
        <p:cNvGrpSpPr/>
        <p:nvPr/>
      </p:nvGrpSpPr>
      <p:grpSpPr>
        <a:xfrm>
          <a:off x="0" y="0"/>
          <a:ext cx="0" cy="0"/>
          <a:chOff x="0" y="0"/>
          <a:chExt cx="0" cy="0"/>
        </a:xfrm>
      </p:grpSpPr>
      <p:sp>
        <p:nvSpPr>
          <p:cNvPr id="2" name="Text 0"/>
          <p:cNvSpPr/>
          <p:nvPr/>
        </p:nvSpPr>
        <p:spPr>
          <a:xfrm>
            <a:off x="548640" y="1234440"/>
            <a:ext cx="8046720" cy="365760"/>
          </a:xfrm>
          <a:prstGeom prst="rect">
            <a:avLst/>
          </a:prstGeom>
          <a:noFill/>
          <a:ln/>
        </p:spPr>
        <p:txBody>
          <a:bodyPr wrap="square" lIns="0" tIns="0" rIns="0" bIns="0" rtlCol="0" anchor="ctr"/>
          <a:lstStyle/>
          <a:p>
            <a:pPr indent="0" marL="0">
              <a:buNone/>
            </a:pPr>
            <a:r>
              <a:rPr lang="en-US" sz="1200" b="1" spc="300" kern="0" dirty="0">
                <a:solidFill>
                  <a:srgbClr val="E9A23B"/>
                </a:solidFill>
                <a:latin typeface="Calibri" pitchFamily="34" charset="0"/>
                <a:ea typeface="Calibri" pitchFamily="34" charset="-122"/>
                <a:cs typeface="Calibri" pitchFamily="34" charset="-120"/>
              </a:rPr>
              <a:t>SECTION 2</a:t>
            </a:r>
            <a:endParaRPr lang="en-US" sz="1200" dirty="0"/>
          </a:p>
        </p:txBody>
      </p:sp>
      <p:sp>
        <p:nvSpPr>
          <p:cNvPr id="3" name="Text 1"/>
          <p:cNvSpPr/>
          <p:nvPr/>
        </p:nvSpPr>
        <p:spPr>
          <a:xfrm>
            <a:off x="548640" y="1645920"/>
            <a:ext cx="8046720" cy="118872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mbria" pitchFamily="34" charset="0"/>
                <a:ea typeface="Cambria" pitchFamily="34" charset="-122"/>
                <a:cs typeface="Cambria" pitchFamily="34" charset="-120"/>
              </a:rPr>
              <a:t>The Product Line</a:t>
            </a:r>
            <a:endParaRPr lang="en-US" sz="3200" dirty="0"/>
          </a:p>
        </p:txBody>
      </p:sp>
      <p:sp>
        <p:nvSpPr>
          <p:cNvPr id="4" name="Text 2"/>
          <p:cNvSpPr/>
          <p:nvPr/>
        </p:nvSpPr>
        <p:spPr>
          <a:xfrm>
            <a:off x="548640" y="3017520"/>
            <a:ext cx="8046720" cy="548640"/>
          </a:xfrm>
          <a:prstGeom prst="rect">
            <a:avLst/>
          </a:prstGeom>
          <a:noFill/>
          <a:ln/>
        </p:spPr>
        <p:txBody>
          <a:bodyPr wrap="square" lIns="0" tIns="0" rIns="0" bIns="0" rtlCol="0" anchor="ctr">
            <a:normAutofit/>
          </a:bodyPr>
          <a:lstStyle/>
          <a:p>
            <a:pPr indent="0" marL="0">
              <a:buNone/>
            </a:pPr>
            <a:r>
              <a:rPr lang="en-US" sz="1600" dirty="0">
                <a:solidFill>
                  <a:srgbClr val="DCE8E6"/>
                </a:solidFill>
                <a:latin typeface="Calibri" pitchFamily="34" charset="0"/>
                <a:ea typeface="Calibri" pitchFamily="34" charset="-122"/>
                <a:cs typeface="Calibri" pitchFamily="34" charset="-120"/>
              </a:rPr>
              <a:t>RV-2 launch, the MX-3 firmware fault, GX-7 cost and supply, certification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RV-2: On Track for a June Ship</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Rev C boards through electrical qualification</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Firmware 1.0.0 in development; OTA updates built in from day one</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First production run of 400 units at the contract manufacturer in early June</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Campaign assets in review; launch price $189</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MX-3: The Quennick Firmware Fault</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11 of 312 units at Quennick faulted after long idle periods</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Cause: a watchdog race in firmware 2.4.1 on waking from low power</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Fix released as 2.4.2 on April 10, inside the contract's response window</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All five MX-3 customers on 2.4.1 moved to 2.4.2</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Six new idle-wake scenarios added to the regression suite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GX-7: Cost and Supply</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Norrask quoted against Veskell for the main assembly: 25 cents apart like for like</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No supplier switch without a reference check and qualification</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Kessendra PM-4 lead time is 16 weeks; Tolvane alternative under evaluation</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Yield back at the 93% model in March</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Certification: CE Marking</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Two European prospects need CE: Fenstad Systems and Pellowdine Industrial</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Scope: Low Voltage and EMC directives, plus RoHS documentation</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Estimated $22K–$28K for both products, plus pre-compliance scans</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Earliest realistic CE on the RV-2: July — we are not promising it before Q3</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A3D"/>
        </a:solidFill>
      </p:bgPr>
    </p:bg>
    <p:spTree>
      <p:nvGrpSpPr>
        <p:cNvPr id="1" name=""/>
        <p:cNvGrpSpPr/>
        <p:nvPr/>
      </p:nvGrpSpPr>
      <p:grpSpPr>
        <a:xfrm>
          <a:off x="0" y="0"/>
          <a:ext cx="0" cy="0"/>
          <a:chOff x="0" y="0"/>
          <a:chExt cx="0" cy="0"/>
        </a:xfrm>
      </p:grpSpPr>
      <p:sp>
        <p:nvSpPr>
          <p:cNvPr id="2" name="Text 0"/>
          <p:cNvSpPr/>
          <p:nvPr/>
        </p:nvSpPr>
        <p:spPr>
          <a:xfrm>
            <a:off x="548640" y="1234440"/>
            <a:ext cx="8046720" cy="365760"/>
          </a:xfrm>
          <a:prstGeom prst="rect">
            <a:avLst/>
          </a:prstGeom>
          <a:noFill/>
          <a:ln/>
        </p:spPr>
        <p:txBody>
          <a:bodyPr wrap="square" lIns="0" tIns="0" rIns="0" bIns="0" rtlCol="0" anchor="ctr"/>
          <a:lstStyle/>
          <a:p>
            <a:pPr indent="0" marL="0">
              <a:buNone/>
            </a:pPr>
            <a:r>
              <a:rPr lang="en-US" sz="1200" b="1" spc="300" kern="0" dirty="0">
                <a:solidFill>
                  <a:srgbClr val="E9A23B"/>
                </a:solidFill>
                <a:latin typeface="Calibri" pitchFamily="34" charset="0"/>
                <a:ea typeface="Calibri" pitchFamily="34" charset="-122"/>
                <a:cs typeface="Calibri" pitchFamily="34" charset="-120"/>
              </a:rPr>
              <a:t>SECTION 3</a:t>
            </a:r>
            <a:endParaRPr lang="en-US" sz="1200" dirty="0"/>
          </a:p>
        </p:txBody>
      </p:sp>
      <p:sp>
        <p:nvSpPr>
          <p:cNvPr id="3" name="Text 1"/>
          <p:cNvSpPr/>
          <p:nvPr/>
        </p:nvSpPr>
        <p:spPr>
          <a:xfrm>
            <a:off x="548640" y="1645920"/>
            <a:ext cx="8046720" cy="118872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mbria" pitchFamily="34" charset="0"/>
                <a:ea typeface="Cambria" pitchFamily="34" charset="-122"/>
                <a:cs typeface="Cambria" pitchFamily="34" charset="-120"/>
              </a:rPr>
              <a:t>Looking Ahead</a:t>
            </a:r>
            <a:endParaRPr lang="en-US" sz="3200" dirty="0"/>
          </a:p>
        </p:txBody>
      </p:sp>
      <p:sp>
        <p:nvSpPr>
          <p:cNvPr id="4" name="Text 2"/>
          <p:cNvSpPr/>
          <p:nvPr/>
        </p:nvSpPr>
        <p:spPr>
          <a:xfrm>
            <a:off x="548640" y="3017520"/>
            <a:ext cx="8046720" cy="548640"/>
          </a:xfrm>
          <a:prstGeom prst="rect">
            <a:avLst/>
          </a:prstGeom>
          <a:noFill/>
          <a:ln/>
        </p:spPr>
        <p:txBody>
          <a:bodyPr wrap="square" lIns="0" tIns="0" rIns="0" bIns="0" rtlCol="0" anchor="ctr">
            <a:normAutofit/>
          </a:bodyPr>
          <a:lstStyle/>
          <a:p>
            <a:pPr indent="0" marL="0">
              <a:buNone/>
            </a:pPr>
            <a:r>
              <a:rPr lang="en-US" sz="1600" dirty="0">
                <a:solidFill>
                  <a:srgbClr val="DCE8E6"/>
                </a:solidFill>
                <a:latin typeface="Calibri" pitchFamily="34" charset="0"/>
                <a:ea typeface="Calibri" pitchFamily="34" charset="-122"/>
                <a:cs typeface="Calibri" pitchFamily="34" charset="-120"/>
              </a:rPr>
              <a:t>What went wrong, what we are doing about it, and what we need from the board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What Went Wrong and What We Are Doing About It</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Margin: priced the GX-7 on a cost we did not reach — list raised, floor prices set</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Test coverage: a firmware fault reached a customer — regression suite extended</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Supply: one component on allocation — alternative part under evaluation</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Support: a third of tickets are documentation gaps — docs being updated</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Q2 Priorities</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Ship the RV-2 in June at $189, stepping to $209 after 90 days</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Bring GX-7 fully loaded cost to the $167 model</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Renew Hessanby at or above the $198 floor</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Publish a firmware lifecycle policy customers can rely on</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Book CE testing for the RV-2 and GX-7</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2302F"/>
                </a:solidFill>
                <a:latin typeface="Cambria" pitchFamily="34" charset="0"/>
                <a:ea typeface="Cambria" pitchFamily="34" charset="-122"/>
                <a:cs typeface="Cambria" pitchFamily="34" charset="-120"/>
              </a:rPr>
              <a:t>Asks of the Board</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Introductions to distributors or integrators in the EU, ahead of CE marking</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A view on how hard to hold GX-7 pricing where Ovurel is competing</a:t>
            </a:r>
            <a:endParaRPr lang="en-US" sz="1700" dirty="0"/>
          </a:p>
          <a:p>
            <a:pPr marL="342900" indent="-342900">
              <a:spcAft>
                <a:spcPts val="600"/>
              </a:spcAft>
              <a:buSzPct val="100000"/>
              <a:buChar char="•"/>
            </a:pPr>
            <a:r>
              <a:rPr lang="en-US" sz="1700" dirty="0">
                <a:solidFill>
                  <a:srgbClr val="22302F"/>
                </a:solidFill>
                <a:latin typeface="Calibri" pitchFamily="34" charset="0"/>
                <a:ea typeface="Calibri" pitchFamily="34" charset="-122"/>
                <a:cs typeface="Calibri" pitchFamily="34" charset="-120"/>
              </a:rPr>
              <a:t>Note: a thermal chamber capital request ($11.2K–$18.5K) is under review with Finance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Q1 2026 Board Review</dc:title>
  <dc:subject>PptxGenJS Presentation</dc:subject>
  <dc:creator>Priya</dc:creator>
  <cp:lastModifiedBy>Priya</cp:lastModifiedBy>
  <cp:revision>1</cp:revision>
  <dcterms:created xsi:type="dcterms:W3CDTF">2026-04-28T09:00:00Z</dcterms:created>
  <dcterms:modified xsi:type="dcterms:W3CDTF">2026-04-28T09:00:00Z</dcterms:modified>
</cp:coreProperties>
</file>