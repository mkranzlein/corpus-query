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plan covers the launch of the RV-2, our third product line. It ships on Rev C hardware with firmware 1.0.0, and it is the first product we have launched with over-the-air updates built in from the first unit, which is a genuine selling point with the accounts that had to wait for the MX-3 retrofit. First units ship in the first week of June. The campaign is built to go live on ship day and not a day earlier: we want nothing in market that a customer cannot order and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lead positioning line is Precision hardware for demanding environments. I know it is general. Two alternatives, Built for the edge of the network and Where reliability isn't optional, are being tested informally with beta customer contacts, and we will keep whichever confuses people least. The proof points underneath matter more than the line: the RV-2 connects into infrastructure our customers already run, and it is supported by the people who designed it. The tone throughout is plain and technical, because the reader is a procurement or controls engineer, not a buyer of slogans.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audiences. Our installed accounts come first, and the message to them leads with the upgrade angle: what the RV-2 does alongside the GX-7 and MX-3 they already run. The second audience is the prospect list, about 1,400 contacts, reached mostly through the email sequence. The third is our beta customers, who are the source of references and the customer story. European prospects are deliberately out of scope for the launch, because the RV-2 will not carry CE marking at launch; Callum will review any wording we use about certification status before it goes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launch offer is an introductory price of $179 a unit for the first ninety days, stepping to $209 list on day ninety-one. The introductory price does two jobs. It makes the launch an event with a reason to act now, which is what the press contacts respond to. And it keeps the RV-2 under the informal $200 threshold many procurement teams use, which Jamal says matters for several accounts. The step-up is stated up front in every asset, so no customer can say they were surprised. The introductory price appears on the one-pager, the landing page, and in the press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channels, all owned. The email sequence carries most of the load. The landing page is where every email and the press release points, with a demo request form that routes straight to Jamal. The one-pager is what sales hands to customers and is the asset that travels furthest, so it gets the most review. The press release goes to three trade press contacts under embargo. The customer story comes from one of our beta customers; I have informal approval to use their name, but nothing goes out until we have it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five emails over three weeks. Launch day is a plain announcement with no sales pressure. Day three is the integration story, how the RV-2 connects into existing infrastructure. Day seven is the one that carries the introductory price and the ninety-day window. Day fourteen is the customer story. Day twenty-one goes only to people who have not responded, and changes the call to action from a demo request to a downloadable integration guide, which is a lower commitment and should catch the engineers who are interested but not yet ready to talk to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works backwards from ship day. In March we finish testing the positioning and confirm pricing. In April every asset is drafted and the integration guide is started; Marcus is writing its technical section. In early May, Elena and Jamal review every asset before anything is final, because they are the ones who use them in front of customers. By mid-May the integration guide is complete and the domain redirect for the demo form is live. On ship day, the product page, the press release, and the first email go live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total ask is $46,500. Paid digital is the largest line at $14,000, almost all of it pointed at the landing page. Trade events are $10,000 for two regional shows in the introductory window. Content and design is $9,500, covering renders, the one-pager layout, and the integration guide. Press and PR is $8,000. Contingency is $5,000. There is no agency retainer: the assets are built in-house, which is slower but means the people writing them can walk across the room to ask engineering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Success is measured in units first. The target is 300 RV-2 units sold in the ninety-day introductory window. Leading indicators: 120 demo requests, an eight percent conversion rate on the landing page, and an open rate of twenty-five percent or better across the email sequence. We also want at least two published trade press pieces in the first month. Every form carries campaign tracking, so each lead shows its source and campaign in the CRM, and we can see which channel produced which accounts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outside marketing can hold this up. The integration guide is half Marcus's, and it is the call to action in the last email, so if it slips the sequence changes. The demo form depends on a domain redirect that has to be confirmed live before launch. We will not have finished production units to photograph, so the landing page and one-pager use product renders from Devon. And any statement about CE status, however carefully worded, goes through Callum before it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decisions. First, the introductory price and the step-up need to be confirmed at next week's pricing review, because the price is printed in everything and I do not want to reprint. Second, approval of the $46,500 budget. Third, somebody needs to own getting written sign-off from the beta customer for the customer story. Jamal knows their procurement contact and may get it faster than I can through the marketing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1F4A"/>
        </a:solidFill>
      </p:bgPr>
    </p:bg>
    <p:spTree>
      <p:nvGrpSpPr>
        <p:cNvPr id="1" name=""/>
        <p:cNvGrpSpPr/>
        <p:nvPr/>
      </p:nvGrpSpPr>
      <p:grpSpPr>
        <a:xfrm>
          <a:off x="0" y="0"/>
          <a:ext cx="0" cy="0"/>
          <a:chOff x="0" y="0"/>
          <a:chExt cx="0" cy="0"/>
        </a:xfrm>
      </p:grpSpPr>
      <p:sp>
        <p:nvSpPr>
          <p:cNvPr id="2" name="Text 0"/>
          <p:cNvSpPr/>
          <p:nvPr/>
        </p:nvSpPr>
        <p:spPr>
          <a:xfrm>
            <a:off x="548640" y="1234440"/>
            <a:ext cx="8046720" cy="36576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MARKETING  ·  GO-TO-MARKET PLAN</a:t>
            </a:r>
            <a:endParaRPr lang="en-US" sz="1200" dirty="0"/>
          </a:p>
        </p:txBody>
      </p:sp>
      <p:sp>
        <p:nvSpPr>
          <p:cNvPr id="3" name="Text 1"/>
          <p:cNvSpPr/>
          <p:nvPr/>
        </p:nvSpPr>
        <p:spPr>
          <a:xfrm>
            <a:off x="548640" y="1645920"/>
            <a:ext cx="8046720" cy="118872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RV-2 Launch Campaign Plan</a:t>
            </a:r>
            <a:endParaRPr lang="en-US" sz="3800" dirty="0"/>
          </a:p>
        </p:txBody>
      </p:sp>
      <p:sp>
        <p:nvSpPr>
          <p:cNvPr id="4" name="Text 2"/>
          <p:cNvSpPr/>
          <p:nvPr/>
        </p:nvSpPr>
        <p:spPr>
          <a:xfrm>
            <a:off x="548640" y="3017520"/>
            <a:ext cx="8046720" cy="548640"/>
          </a:xfrm>
          <a:prstGeom prst="rect">
            <a:avLst/>
          </a:prstGeom>
          <a:noFill/>
          <a:ln/>
        </p:spPr>
        <p:txBody>
          <a:bodyPr wrap="square" lIns="0" tIns="0" rIns="0" bIns="0" rtlCol="0" anchor="ctr">
            <a:normAutofit/>
          </a:bodyPr>
          <a:lstStyle/>
          <a:p>
            <a:pPr indent="0" marL="0">
              <a:buNone/>
            </a:pPr>
            <a:r>
              <a:rPr lang="en-US" sz="1600" dirty="0">
                <a:solidFill>
                  <a:srgbClr val="EDE3F2"/>
                </a:solidFill>
                <a:latin typeface="Calibri" pitchFamily="34" charset="0"/>
                <a:ea typeface="Calibri" pitchFamily="34" charset="-122"/>
                <a:cs typeface="Calibri" pitchFamily="34" charset="-120"/>
              </a:rPr>
              <a:t>Nadia, Head of Marketing  ·  March 4,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What We Are Launching</a:t>
            </a:r>
            <a:endParaRPr lang="en-US" sz="2800" dirty="0"/>
          </a:p>
        </p:txBody>
      </p:sp>
      <p:sp>
        <p:nvSpPr>
          <p:cNvPr id="3" name="Shape 1"/>
          <p:cNvSpPr/>
          <p:nvPr/>
        </p:nvSpPr>
        <p:spPr>
          <a:xfrm>
            <a:off x="6035040" y="1234440"/>
            <a:ext cx="2651760" cy="3291840"/>
          </a:xfrm>
          <a:prstGeom prst="roundRect">
            <a:avLst>
              <a:gd name="adj" fmla="val 4138"/>
            </a:avLst>
          </a:prstGeom>
          <a:solidFill>
            <a:srgbClr val="EDE3F2"/>
          </a:solidFill>
          <a:ln w="12700">
            <a:solidFill>
              <a:srgbClr val="EDE3F2"/>
            </a:solidFill>
            <a:prstDash val="solid"/>
          </a:ln>
        </p:spPr>
      </p:sp>
      <p:sp>
        <p:nvSpPr>
          <p:cNvPr id="4" name="Text 2"/>
          <p:cNvSpPr/>
          <p:nvPr/>
        </p:nvSpPr>
        <p:spPr>
          <a:xfrm>
            <a:off x="6217920" y="1463040"/>
            <a:ext cx="2286000" cy="914400"/>
          </a:xfrm>
          <a:prstGeom prst="rect">
            <a:avLst/>
          </a:prstGeom>
          <a:noFill/>
          <a:ln/>
        </p:spPr>
        <p:txBody>
          <a:bodyPr wrap="square" lIns="0" tIns="0" rIns="0" bIns="0" rtlCol="0" anchor="t">
            <a:normAutofit/>
          </a:bodyPr>
          <a:lstStyle/>
          <a:p>
            <a:pPr indent="0" marL="0">
              <a:buNone/>
            </a:pPr>
            <a:r>
              <a:rPr lang="en-US" sz="2200" b="1" dirty="0">
                <a:solidFill>
                  <a:srgbClr val="3B1F4A"/>
                </a:solidFill>
                <a:latin typeface="Cambria" pitchFamily="34" charset="0"/>
                <a:ea typeface="Cambria" pitchFamily="34" charset="-122"/>
                <a:cs typeface="Cambria" pitchFamily="34" charset="-120"/>
              </a:rPr>
              <a:t>June</a:t>
            </a:r>
            <a:endParaRPr lang="en-US" sz="2200" dirty="0"/>
          </a:p>
        </p:txBody>
      </p:sp>
      <p:sp>
        <p:nvSpPr>
          <p:cNvPr id="5" name="Text 3"/>
          <p:cNvSpPr/>
          <p:nvPr/>
        </p:nvSpPr>
        <p:spPr>
          <a:xfrm>
            <a:off x="6217920" y="2468880"/>
            <a:ext cx="2286000" cy="1920240"/>
          </a:xfrm>
          <a:prstGeom prst="rect">
            <a:avLst/>
          </a:prstGeom>
          <a:noFill/>
          <a:ln/>
        </p:spPr>
        <p:txBody>
          <a:bodyPr wrap="square" lIns="0" tIns="0" rIns="0" bIns="0" rtlCol="0" anchor="t">
            <a:normAutofit/>
          </a:bodyPr>
          <a:lstStyle/>
          <a:p>
            <a:pPr indent="0" marL="0">
              <a:buNone/>
            </a:pPr>
            <a:r>
              <a:rPr lang="en-US" sz="1300" dirty="0">
                <a:solidFill>
                  <a:srgbClr val="2A2230"/>
                </a:solidFill>
                <a:latin typeface="Calibri" pitchFamily="34" charset="0"/>
                <a:ea typeface="Calibri" pitchFamily="34" charset="-122"/>
                <a:cs typeface="Calibri" pitchFamily="34" charset="-120"/>
              </a:rPr>
              <a:t>Target ship month. Campaign goes live on ship day, not before.</a:t>
            </a:r>
            <a:endParaRPr lang="en-US" sz="1300" dirty="0"/>
          </a:p>
        </p:txBody>
      </p:sp>
      <p:sp>
        <p:nvSpPr>
          <p:cNvPr id="6" name="Text 4"/>
          <p:cNvSpPr/>
          <p:nvPr/>
        </p:nvSpPr>
        <p:spPr>
          <a:xfrm>
            <a:off x="457200" y="1234440"/>
            <a:ext cx="530352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600" dirty="0">
                <a:solidFill>
                  <a:srgbClr val="2A2230"/>
                </a:solidFill>
                <a:latin typeface="Calibri" pitchFamily="34" charset="0"/>
                <a:ea typeface="Calibri" pitchFamily="34" charset="-122"/>
                <a:cs typeface="Calibri" pitchFamily="34" charset="-120"/>
              </a:rPr>
              <a:t>The RV-2: a new product line alongside the GX-7 and MX-3</a:t>
            </a:r>
            <a:endParaRPr lang="en-US" sz="1600" dirty="0"/>
          </a:p>
          <a:p>
            <a:pPr marL="342900" indent="-342900">
              <a:spcAft>
                <a:spcPts val="600"/>
              </a:spcAft>
              <a:buSzPct val="100000"/>
              <a:buChar char="•"/>
            </a:pPr>
            <a:r>
              <a:rPr lang="en-US" sz="1600" dirty="0">
                <a:solidFill>
                  <a:srgbClr val="2A2230"/>
                </a:solidFill>
                <a:latin typeface="Calibri" pitchFamily="34" charset="0"/>
                <a:ea typeface="Calibri" pitchFamily="34" charset="-122"/>
                <a:cs typeface="Calibri" pitchFamily="34" charset="-120"/>
              </a:rPr>
              <a:t>Rev C hardware, firmware 1.0.0 at launch</a:t>
            </a:r>
            <a:endParaRPr lang="en-US" sz="1600" dirty="0"/>
          </a:p>
          <a:p>
            <a:pPr marL="342900" indent="-342900">
              <a:spcAft>
                <a:spcPts val="600"/>
              </a:spcAft>
              <a:buSzPct val="100000"/>
              <a:buChar char="•"/>
            </a:pPr>
            <a:r>
              <a:rPr lang="en-US" sz="1600" dirty="0">
                <a:solidFill>
                  <a:srgbClr val="2A2230"/>
                </a:solidFill>
                <a:latin typeface="Calibri" pitchFamily="34" charset="0"/>
                <a:ea typeface="Calibri" pitchFamily="34" charset="-122"/>
                <a:cs typeface="Calibri" pitchFamily="34" charset="-120"/>
              </a:rPr>
              <a:t>Over-the-air updates built in from the first unit</a:t>
            </a:r>
            <a:endParaRPr lang="en-US" sz="1600" dirty="0"/>
          </a:p>
          <a:p>
            <a:pPr marL="342900" indent="-342900">
              <a:spcAft>
                <a:spcPts val="600"/>
              </a:spcAft>
              <a:buSzPct val="100000"/>
              <a:buChar char="•"/>
            </a:pPr>
            <a:r>
              <a:rPr lang="en-US" sz="1600" dirty="0">
                <a:solidFill>
                  <a:srgbClr val="2A2230"/>
                </a:solidFill>
                <a:latin typeface="Calibri" pitchFamily="34" charset="0"/>
                <a:ea typeface="Calibri" pitchFamily="34" charset="-122"/>
                <a:cs typeface="Calibri" pitchFamily="34" charset="-120"/>
              </a:rPr>
              <a:t>First units ship in the first week of June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Positioning</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Lead line: "Precision hardware for demanding environments"</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Alternatives in testing: "Built for the edge of the network" and "Where reliability isn't optional"</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Proof points: integration with what customers already run, support from the people who built it</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Tone: plain and technical — written for the engineer who has to specify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Who We Are Selling To</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Existing GX-7 and MX-3 accounts: lead with the upgrade story</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Prospect list: about 1,400 contacts</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North America first; European prospects wait for CE marking</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Beta customers: first references and the customer story</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The Introductory Offer</a:t>
            </a:r>
            <a:endParaRPr lang="en-US" sz="2800" dirty="0"/>
          </a:p>
        </p:txBody>
      </p:sp>
      <p:sp>
        <p:nvSpPr>
          <p:cNvPr id="3" name="Shape 1"/>
          <p:cNvSpPr/>
          <p:nvPr/>
        </p:nvSpPr>
        <p:spPr>
          <a:xfrm>
            <a:off x="457200" y="1188720"/>
            <a:ext cx="2590800" cy="1417320"/>
          </a:xfrm>
          <a:prstGeom prst="roundRect">
            <a:avLst>
              <a:gd name="adj" fmla="val 6452"/>
            </a:avLst>
          </a:prstGeom>
          <a:solidFill>
            <a:srgbClr val="EDE3F2"/>
          </a:solidFill>
          <a:ln w="12700">
            <a:solidFill>
              <a:srgbClr val="EDE3F2"/>
            </a:solidFill>
            <a:prstDash val="solid"/>
          </a:ln>
        </p:spPr>
      </p:sp>
      <p:sp>
        <p:nvSpPr>
          <p:cNvPr id="4" name="Text 2"/>
          <p:cNvSpPr/>
          <p:nvPr/>
        </p:nvSpPr>
        <p:spPr>
          <a:xfrm>
            <a:off x="5943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$179</a:t>
            </a:r>
            <a:endParaRPr lang="en-US" sz="2600" dirty="0"/>
          </a:p>
        </p:txBody>
      </p:sp>
      <p:sp>
        <p:nvSpPr>
          <p:cNvPr id="5" name="Text 3"/>
          <p:cNvSpPr/>
          <p:nvPr/>
        </p:nvSpPr>
        <p:spPr>
          <a:xfrm>
            <a:off x="5943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Introductory price per unit</a:t>
            </a:r>
            <a:endParaRPr lang="en-US" sz="1200" dirty="0"/>
          </a:p>
        </p:txBody>
      </p:sp>
      <p:sp>
        <p:nvSpPr>
          <p:cNvPr id="6" name="Shape 4"/>
          <p:cNvSpPr/>
          <p:nvPr/>
        </p:nvSpPr>
        <p:spPr>
          <a:xfrm>
            <a:off x="3276600" y="1188720"/>
            <a:ext cx="2590800" cy="1417320"/>
          </a:xfrm>
          <a:prstGeom prst="roundRect">
            <a:avLst>
              <a:gd name="adj" fmla="val 6452"/>
            </a:avLst>
          </a:prstGeom>
          <a:solidFill>
            <a:srgbClr val="EDE3F2"/>
          </a:solidFill>
          <a:ln w="12700">
            <a:solidFill>
              <a:srgbClr val="EDE3F2"/>
            </a:solidFill>
            <a:prstDash val="solid"/>
          </a:ln>
        </p:spPr>
      </p:sp>
      <p:sp>
        <p:nvSpPr>
          <p:cNvPr id="7" name="Text 5"/>
          <p:cNvSpPr/>
          <p:nvPr/>
        </p:nvSpPr>
        <p:spPr>
          <a:xfrm>
            <a:off x="34137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90 days</a:t>
            </a:r>
            <a:endParaRPr lang="en-US" sz="2600" dirty="0"/>
          </a:p>
        </p:txBody>
      </p:sp>
      <p:sp>
        <p:nvSpPr>
          <p:cNvPr id="8" name="Text 6"/>
          <p:cNvSpPr/>
          <p:nvPr/>
        </p:nvSpPr>
        <p:spPr>
          <a:xfrm>
            <a:off x="34137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Length of the introductory window</a:t>
            </a:r>
            <a:endParaRPr lang="en-US" sz="1200" dirty="0"/>
          </a:p>
        </p:txBody>
      </p:sp>
      <p:sp>
        <p:nvSpPr>
          <p:cNvPr id="9" name="Shape 7"/>
          <p:cNvSpPr/>
          <p:nvPr/>
        </p:nvSpPr>
        <p:spPr>
          <a:xfrm>
            <a:off x="6096000" y="1188720"/>
            <a:ext cx="2590800" cy="1417320"/>
          </a:xfrm>
          <a:prstGeom prst="roundRect">
            <a:avLst>
              <a:gd name="adj" fmla="val 6452"/>
            </a:avLst>
          </a:prstGeom>
          <a:solidFill>
            <a:srgbClr val="EDE3F2"/>
          </a:solidFill>
          <a:ln w="12700">
            <a:solidFill>
              <a:srgbClr val="EDE3F2"/>
            </a:solidFill>
            <a:prstDash val="solid"/>
          </a:ln>
        </p:spPr>
      </p:sp>
      <p:sp>
        <p:nvSpPr>
          <p:cNvPr id="10" name="Text 8"/>
          <p:cNvSpPr/>
          <p:nvPr/>
        </p:nvSpPr>
        <p:spPr>
          <a:xfrm>
            <a:off x="62331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$209</a:t>
            </a:r>
            <a:endParaRPr lang="en-US" sz="2600" dirty="0"/>
          </a:p>
        </p:txBody>
      </p:sp>
      <p:sp>
        <p:nvSpPr>
          <p:cNvPr id="11" name="Text 9"/>
          <p:cNvSpPr/>
          <p:nvPr/>
        </p:nvSpPr>
        <p:spPr>
          <a:xfrm>
            <a:off x="62331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List price from day 91</a:t>
            </a:r>
            <a:endParaRPr lang="en-US" sz="1200" dirty="0"/>
          </a:p>
        </p:txBody>
      </p:sp>
      <p:sp>
        <p:nvSpPr>
          <p:cNvPr id="12" name="Text 10"/>
          <p:cNvSpPr/>
          <p:nvPr/>
        </p:nvSpPr>
        <p:spPr>
          <a:xfrm>
            <a:off x="457200" y="2834640"/>
            <a:ext cx="8229600" cy="192024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500" dirty="0">
                <a:solidFill>
                  <a:srgbClr val="2A2230"/>
                </a:solidFill>
                <a:latin typeface="Calibri" pitchFamily="34" charset="0"/>
                <a:ea typeface="Calibri" pitchFamily="34" charset="-122"/>
                <a:cs typeface="Calibri" pitchFamily="34" charset="-120"/>
              </a:rPr>
              <a:t>Introductory price keeps the RV-2 under common $200 procurement thresholds</a:t>
            </a:r>
            <a:endParaRPr lang="en-US" sz="1500" dirty="0"/>
          </a:p>
          <a:p>
            <a:pPr marL="342900" indent="-342900">
              <a:spcAft>
                <a:spcPts val="600"/>
              </a:spcAft>
              <a:buSzPct val="100000"/>
              <a:buChar char="•"/>
            </a:pPr>
            <a:r>
              <a:rPr lang="en-US" sz="1500" dirty="0">
                <a:solidFill>
                  <a:srgbClr val="2A2230"/>
                </a:solidFill>
                <a:latin typeface="Calibri" pitchFamily="34" charset="0"/>
                <a:ea typeface="Calibri" pitchFamily="34" charset="-122"/>
                <a:cs typeface="Calibri" pitchFamily="34" charset="-120"/>
              </a:rPr>
              <a:t>Step-up date stated up front so no customer is surprised</a:t>
            </a:r>
            <a:endParaRPr lang="en-US" sz="1500" dirty="0"/>
          </a:p>
          <a:p>
            <a:pPr marL="342900" indent="-342900">
              <a:spcAft>
                <a:spcPts val="600"/>
              </a:spcAft>
              <a:buSzPct val="100000"/>
              <a:buChar char="•"/>
            </a:pPr>
            <a:r>
              <a:rPr lang="en-US" sz="1500" dirty="0">
                <a:solidFill>
                  <a:srgbClr val="2A2230"/>
                </a:solidFill>
                <a:latin typeface="Calibri" pitchFamily="34" charset="0"/>
                <a:ea typeface="Calibri" pitchFamily="34" charset="-122"/>
                <a:cs typeface="Calibri" pitchFamily="34" charset="-120"/>
              </a:rPr>
              <a:t>Introductory price appears in the one-pager, landing page, and press release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Channels</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Five-email sequence to the prospect list, starting on launch day</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Landing page with a demo request form routed to Jamal</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One-page product sheet for sales</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Press release under embargo with three trade press contacts</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Customer story from a beta customer, subject to written sign-off</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The Email Sequence</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Day 0: announcement, no hard sell</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Day 3: the integration story</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Day 7: introductory price and the 90-day window</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Day 14: customer story</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Day 21: non-responders get the integration guide instead of a demo request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B1F4A"/>
        </a:solidFill>
      </p:bgPr>
    </p:bg>
    <p:spTree>
      <p:nvGrpSpPr>
        <p:cNvPr id="1" name=""/>
        <p:cNvGrpSpPr/>
        <p:nvPr/>
      </p:nvGrpSpPr>
      <p:grpSpPr>
        <a:xfrm>
          <a:off x="0" y="0"/>
          <a:ext cx="0" cy="0"/>
          <a:chOff x="0" y="0"/>
          <a:chExt cx="0" cy="0"/>
        </a:xfrm>
      </p:grpSpPr>
      <p:sp>
        <p:nvSpPr>
          <p:cNvPr id="2" name="Text 0"/>
          <p:cNvSpPr/>
          <p:nvPr/>
        </p:nvSpPr>
        <p:spPr>
          <a:xfrm>
            <a:off x="548640" y="1234440"/>
            <a:ext cx="8046720" cy="365760"/>
          </a:xfrm>
          <a:prstGeom prst="rect">
            <a:avLst/>
          </a:prstGeom>
          <a:noFill/>
          <a:ln/>
        </p:spPr>
        <p:txBody>
          <a:bodyPr wrap="square" lIns="0" tIns="0" rIns="0" bIns="0" rtlCol="0" anchor="ctr"/>
          <a:lstStyle/>
          <a:p>
            <a:pPr indent="0" marL="0">
              <a:buNone/>
            </a:pPr>
            <a:r>
              <a:rPr lang="en-US" sz="1200" b="1" spc="300" kern="0" dirty="0">
                <a:solidFill>
                  <a:srgbClr val="F2B84B"/>
                </a:solidFill>
                <a:latin typeface="Calibri" pitchFamily="34" charset="0"/>
                <a:ea typeface="Calibri" pitchFamily="34" charset="-122"/>
                <a:cs typeface="Calibri" pitchFamily="34" charset="-120"/>
              </a:rPr>
              <a:t>PART 2</a:t>
            </a:r>
            <a:endParaRPr lang="en-US" sz="1200" dirty="0"/>
          </a:p>
        </p:txBody>
      </p:sp>
      <p:sp>
        <p:nvSpPr>
          <p:cNvPr id="3" name="Text 1"/>
          <p:cNvSpPr/>
          <p:nvPr/>
        </p:nvSpPr>
        <p:spPr>
          <a:xfrm>
            <a:off x="548640" y="1645920"/>
            <a:ext cx="8046720" cy="118872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mbria" pitchFamily="34" charset="0"/>
                <a:ea typeface="Cambria" pitchFamily="34" charset="-122"/>
                <a:cs typeface="Cambria" pitchFamily="34" charset="-120"/>
              </a:rPr>
              <a:t>Timeline, Budget, and Measures</a:t>
            </a:r>
            <a:endParaRPr lang="en-US" sz="3200" dirty="0"/>
          </a:p>
        </p:txBody>
      </p:sp>
      <p:sp>
        <p:nvSpPr>
          <p:cNvPr id="4" name="Text 2"/>
          <p:cNvSpPr/>
          <p:nvPr/>
        </p:nvSpPr>
        <p:spPr>
          <a:xfrm>
            <a:off x="548640" y="3017520"/>
            <a:ext cx="8046720" cy="548640"/>
          </a:xfrm>
          <a:prstGeom prst="rect">
            <a:avLst/>
          </a:prstGeom>
          <a:noFill/>
          <a:ln/>
        </p:spPr>
        <p:txBody>
          <a:bodyPr wrap="square" lIns="0" tIns="0" rIns="0" bIns="0" rtlCol="0" anchor="ctr">
            <a:normAutofit/>
          </a:bodyPr>
          <a:lstStyle/>
          <a:p>
            <a:pPr indent="0" marL="0">
              <a:buNone/>
            </a:pPr>
            <a:r>
              <a:rPr lang="en-US" sz="1600" dirty="0">
                <a:solidFill>
                  <a:srgbClr val="EDE3F2"/>
                </a:solidFill>
                <a:latin typeface="Calibri" pitchFamily="34" charset="0"/>
                <a:ea typeface="Calibri" pitchFamily="34" charset="-122"/>
                <a:cs typeface="Calibri" pitchFamily="34" charset="-120"/>
              </a:rPr>
              <a:t>When each piece lands, what it costs, and how we will know it worked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Timeline to Launch</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March: positioning tested with beta contacts; pricing confirmed</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April: all assets drafted; integration guide started</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Early May: sales review of every asset with Elena and Jamal</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Mid-May: integration guide complete; domain redirect live</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Ship day: product page, press release, and email one go live together</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Budget</a:t>
            </a:r>
            <a:endParaRPr lang="en-US" sz="2800" dirty="0"/>
          </a:p>
        </p:txBody>
      </p:sp>
      <p:sp>
        <p:nvSpPr>
          <p:cNvPr id="3" name="Shape 1"/>
          <p:cNvSpPr/>
          <p:nvPr/>
        </p:nvSpPr>
        <p:spPr>
          <a:xfrm>
            <a:off x="457200" y="1188720"/>
            <a:ext cx="1885950" cy="1417320"/>
          </a:xfrm>
          <a:prstGeom prst="roundRect">
            <a:avLst>
              <a:gd name="adj" fmla="val 6452"/>
            </a:avLst>
          </a:prstGeom>
          <a:solidFill>
            <a:srgbClr val="EDE3F2"/>
          </a:solidFill>
          <a:ln w="12700">
            <a:solidFill>
              <a:srgbClr val="EDE3F2"/>
            </a:solidFill>
            <a:prstDash val="solid"/>
          </a:ln>
        </p:spPr>
      </p:sp>
      <p:sp>
        <p:nvSpPr>
          <p:cNvPr id="4" name="Text 2"/>
          <p:cNvSpPr/>
          <p:nvPr/>
        </p:nvSpPr>
        <p:spPr>
          <a:xfrm>
            <a:off x="594360" y="1280160"/>
            <a:ext cx="161163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$46.5K</a:t>
            </a:r>
            <a:endParaRPr lang="en-US" sz="2600" dirty="0"/>
          </a:p>
        </p:txBody>
      </p:sp>
      <p:sp>
        <p:nvSpPr>
          <p:cNvPr id="5" name="Text 3"/>
          <p:cNvSpPr/>
          <p:nvPr/>
        </p:nvSpPr>
        <p:spPr>
          <a:xfrm>
            <a:off x="594360" y="1965960"/>
            <a:ext cx="161163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Total launch budget</a:t>
            </a:r>
            <a:endParaRPr lang="en-US" sz="1200" dirty="0"/>
          </a:p>
        </p:txBody>
      </p:sp>
      <p:sp>
        <p:nvSpPr>
          <p:cNvPr id="6" name="Shape 4"/>
          <p:cNvSpPr/>
          <p:nvPr/>
        </p:nvSpPr>
        <p:spPr>
          <a:xfrm>
            <a:off x="2571750" y="1188720"/>
            <a:ext cx="1885950" cy="1417320"/>
          </a:xfrm>
          <a:prstGeom prst="roundRect">
            <a:avLst>
              <a:gd name="adj" fmla="val 6452"/>
            </a:avLst>
          </a:prstGeom>
          <a:solidFill>
            <a:srgbClr val="EDE3F2"/>
          </a:solidFill>
          <a:ln w="12700">
            <a:solidFill>
              <a:srgbClr val="EDE3F2"/>
            </a:solidFill>
            <a:prstDash val="solid"/>
          </a:ln>
        </p:spPr>
      </p:sp>
      <p:sp>
        <p:nvSpPr>
          <p:cNvPr id="7" name="Text 5"/>
          <p:cNvSpPr/>
          <p:nvPr/>
        </p:nvSpPr>
        <p:spPr>
          <a:xfrm>
            <a:off x="2708910" y="1280160"/>
            <a:ext cx="161163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$14.0K</a:t>
            </a:r>
            <a:endParaRPr lang="en-US" sz="2600" dirty="0"/>
          </a:p>
        </p:txBody>
      </p:sp>
      <p:sp>
        <p:nvSpPr>
          <p:cNvPr id="8" name="Text 6"/>
          <p:cNvSpPr/>
          <p:nvPr/>
        </p:nvSpPr>
        <p:spPr>
          <a:xfrm>
            <a:off x="2708910" y="1965960"/>
            <a:ext cx="161163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Paid digital</a:t>
            </a:r>
            <a:endParaRPr lang="en-US" sz="1200" dirty="0"/>
          </a:p>
        </p:txBody>
      </p:sp>
      <p:sp>
        <p:nvSpPr>
          <p:cNvPr id="9" name="Shape 7"/>
          <p:cNvSpPr/>
          <p:nvPr/>
        </p:nvSpPr>
        <p:spPr>
          <a:xfrm>
            <a:off x="4686300" y="1188720"/>
            <a:ext cx="1885950" cy="1417320"/>
          </a:xfrm>
          <a:prstGeom prst="roundRect">
            <a:avLst>
              <a:gd name="adj" fmla="val 6452"/>
            </a:avLst>
          </a:prstGeom>
          <a:solidFill>
            <a:srgbClr val="EDE3F2"/>
          </a:solidFill>
          <a:ln w="12700">
            <a:solidFill>
              <a:srgbClr val="EDE3F2"/>
            </a:solidFill>
            <a:prstDash val="solid"/>
          </a:ln>
        </p:spPr>
      </p:sp>
      <p:sp>
        <p:nvSpPr>
          <p:cNvPr id="10" name="Text 8"/>
          <p:cNvSpPr/>
          <p:nvPr/>
        </p:nvSpPr>
        <p:spPr>
          <a:xfrm>
            <a:off x="4823460" y="1280160"/>
            <a:ext cx="161163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$10.0K</a:t>
            </a:r>
            <a:endParaRPr lang="en-US" sz="2600" dirty="0"/>
          </a:p>
        </p:txBody>
      </p:sp>
      <p:sp>
        <p:nvSpPr>
          <p:cNvPr id="11" name="Text 9"/>
          <p:cNvSpPr/>
          <p:nvPr/>
        </p:nvSpPr>
        <p:spPr>
          <a:xfrm>
            <a:off x="4823460" y="1965960"/>
            <a:ext cx="161163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Trade events</a:t>
            </a:r>
            <a:endParaRPr lang="en-US" sz="1200" dirty="0"/>
          </a:p>
        </p:txBody>
      </p:sp>
      <p:sp>
        <p:nvSpPr>
          <p:cNvPr id="12" name="Shape 10"/>
          <p:cNvSpPr/>
          <p:nvPr/>
        </p:nvSpPr>
        <p:spPr>
          <a:xfrm>
            <a:off x="6800850" y="1188720"/>
            <a:ext cx="1885950" cy="1417320"/>
          </a:xfrm>
          <a:prstGeom prst="roundRect">
            <a:avLst>
              <a:gd name="adj" fmla="val 6452"/>
            </a:avLst>
          </a:prstGeom>
          <a:solidFill>
            <a:srgbClr val="EDE3F2"/>
          </a:solidFill>
          <a:ln w="12700">
            <a:solidFill>
              <a:srgbClr val="EDE3F2"/>
            </a:solidFill>
            <a:prstDash val="solid"/>
          </a:ln>
        </p:spPr>
      </p:sp>
      <p:sp>
        <p:nvSpPr>
          <p:cNvPr id="13" name="Text 11"/>
          <p:cNvSpPr/>
          <p:nvPr/>
        </p:nvSpPr>
        <p:spPr>
          <a:xfrm>
            <a:off x="6938010" y="1280160"/>
            <a:ext cx="161163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$9.5K</a:t>
            </a:r>
            <a:endParaRPr lang="en-US" sz="2600" dirty="0"/>
          </a:p>
        </p:txBody>
      </p:sp>
      <p:sp>
        <p:nvSpPr>
          <p:cNvPr id="14" name="Text 12"/>
          <p:cNvSpPr/>
          <p:nvPr/>
        </p:nvSpPr>
        <p:spPr>
          <a:xfrm>
            <a:off x="6938010" y="1965960"/>
            <a:ext cx="161163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Content and design</a:t>
            </a:r>
            <a:endParaRPr lang="en-US" sz="1200" dirty="0"/>
          </a:p>
        </p:txBody>
      </p:sp>
      <p:sp>
        <p:nvSpPr>
          <p:cNvPr id="15" name="Text 13"/>
          <p:cNvSpPr/>
          <p:nvPr/>
        </p:nvSpPr>
        <p:spPr>
          <a:xfrm>
            <a:off x="457200" y="2834640"/>
            <a:ext cx="8229600" cy="192024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500" dirty="0">
                <a:solidFill>
                  <a:srgbClr val="2A2230"/>
                </a:solidFill>
                <a:latin typeface="Calibri" pitchFamily="34" charset="0"/>
                <a:ea typeface="Calibri" pitchFamily="34" charset="-122"/>
                <a:cs typeface="Calibri" pitchFamily="34" charset="-120"/>
              </a:rPr>
              <a:t>Press and PR: $8.0K</a:t>
            </a:r>
            <a:endParaRPr lang="en-US" sz="1500" dirty="0"/>
          </a:p>
          <a:p>
            <a:pPr marL="342900" indent="-342900">
              <a:spcAft>
                <a:spcPts val="600"/>
              </a:spcAft>
              <a:buSzPct val="100000"/>
              <a:buChar char="•"/>
            </a:pPr>
            <a:r>
              <a:rPr lang="en-US" sz="1500" dirty="0">
                <a:solidFill>
                  <a:srgbClr val="2A2230"/>
                </a:solidFill>
                <a:latin typeface="Calibri" pitchFamily="34" charset="0"/>
                <a:ea typeface="Calibri" pitchFamily="34" charset="-122"/>
                <a:cs typeface="Calibri" pitchFamily="34" charset="-120"/>
              </a:rPr>
              <a:t>Contingency: $5.0K</a:t>
            </a:r>
            <a:endParaRPr lang="en-US" sz="1500" dirty="0"/>
          </a:p>
          <a:p>
            <a:pPr marL="342900" indent="-342900">
              <a:spcAft>
                <a:spcPts val="600"/>
              </a:spcAft>
              <a:buSzPct val="100000"/>
              <a:buChar char="•"/>
            </a:pPr>
            <a:r>
              <a:rPr lang="en-US" sz="1500" dirty="0">
                <a:solidFill>
                  <a:srgbClr val="2A2230"/>
                </a:solidFill>
                <a:latin typeface="Calibri" pitchFamily="34" charset="0"/>
                <a:ea typeface="Calibri" pitchFamily="34" charset="-122"/>
                <a:cs typeface="Calibri" pitchFamily="34" charset="-120"/>
              </a:rPr>
              <a:t>No agency retainer; assets built in-house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How Success Is Measured</a:t>
            </a:r>
            <a:endParaRPr lang="en-US" sz="2800" dirty="0"/>
          </a:p>
        </p:txBody>
      </p:sp>
      <p:sp>
        <p:nvSpPr>
          <p:cNvPr id="3" name="Shape 1"/>
          <p:cNvSpPr/>
          <p:nvPr/>
        </p:nvSpPr>
        <p:spPr>
          <a:xfrm>
            <a:off x="457200" y="1188720"/>
            <a:ext cx="2590800" cy="1417320"/>
          </a:xfrm>
          <a:prstGeom prst="roundRect">
            <a:avLst>
              <a:gd name="adj" fmla="val 6452"/>
            </a:avLst>
          </a:prstGeom>
          <a:solidFill>
            <a:srgbClr val="EDE3F2"/>
          </a:solidFill>
          <a:ln w="12700">
            <a:solidFill>
              <a:srgbClr val="EDE3F2"/>
            </a:solidFill>
            <a:prstDash val="solid"/>
          </a:ln>
        </p:spPr>
      </p:sp>
      <p:sp>
        <p:nvSpPr>
          <p:cNvPr id="4" name="Text 2"/>
          <p:cNvSpPr/>
          <p:nvPr/>
        </p:nvSpPr>
        <p:spPr>
          <a:xfrm>
            <a:off x="5943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300</a:t>
            </a:r>
            <a:endParaRPr lang="en-US" sz="2600" dirty="0"/>
          </a:p>
        </p:txBody>
      </p:sp>
      <p:sp>
        <p:nvSpPr>
          <p:cNvPr id="5" name="Text 3"/>
          <p:cNvSpPr/>
          <p:nvPr/>
        </p:nvSpPr>
        <p:spPr>
          <a:xfrm>
            <a:off x="5943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Units sold in the introductory window</a:t>
            </a:r>
            <a:endParaRPr lang="en-US" sz="1200" dirty="0"/>
          </a:p>
        </p:txBody>
      </p:sp>
      <p:sp>
        <p:nvSpPr>
          <p:cNvPr id="6" name="Shape 4"/>
          <p:cNvSpPr/>
          <p:nvPr/>
        </p:nvSpPr>
        <p:spPr>
          <a:xfrm>
            <a:off x="3276600" y="1188720"/>
            <a:ext cx="2590800" cy="1417320"/>
          </a:xfrm>
          <a:prstGeom prst="roundRect">
            <a:avLst>
              <a:gd name="adj" fmla="val 6452"/>
            </a:avLst>
          </a:prstGeom>
          <a:solidFill>
            <a:srgbClr val="EDE3F2"/>
          </a:solidFill>
          <a:ln w="12700">
            <a:solidFill>
              <a:srgbClr val="EDE3F2"/>
            </a:solidFill>
            <a:prstDash val="solid"/>
          </a:ln>
        </p:spPr>
      </p:sp>
      <p:sp>
        <p:nvSpPr>
          <p:cNvPr id="7" name="Text 5"/>
          <p:cNvSpPr/>
          <p:nvPr/>
        </p:nvSpPr>
        <p:spPr>
          <a:xfrm>
            <a:off x="34137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120</a:t>
            </a:r>
            <a:endParaRPr lang="en-US" sz="2600" dirty="0"/>
          </a:p>
        </p:txBody>
      </p:sp>
      <p:sp>
        <p:nvSpPr>
          <p:cNvPr id="8" name="Text 6"/>
          <p:cNvSpPr/>
          <p:nvPr/>
        </p:nvSpPr>
        <p:spPr>
          <a:xfrm>
            <a:off x="34137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Demo requests</a:t>
            </a:r>
            <a:endParaRPr lang="en-US" sz="1200" dirty="0"/>
          </a:p>
        </p:txBody>
      </p:sp>
      <p:sp>
        <p:nvSpPr>
          <p:cNvPr id="9" name="Shape 7"/>
          <p:cNvSpPr/>
          <p:nvPr/>
        </p:nvSpPr>
        <p:spPr>
          <a:xfrm>
            <a:off x="6096000" y="1188720"/>
            <a:ext cx="2590800" cy="1417320"/>
          </a:xfrm>
          <a:prstGeom prst="roundRect">
            <a:avLst>
              <a:gd name="adj" fmla="val 6452"/>
            </a:avLst>
          </a:prstGeom>
          <a:solidFill>
            <a:srgbClr val="EDE3F2"/>
          </a:solidFill>
          <a:ln w="12700">
            <a:solidFill>
              <a:srgbClr val="EDE3F2"/>
            </a:solidFill>
            <a:prstDash val="solid"/>
          </a:ln>
        </p:spPr>
      </p:sp>
      <p:sp>
        <p:nvSpPr>
          <p:cNvPr id="10" name="Text 8"/>
          <p:cNvSpPr/>
          <p:nvPr/>
        </p:nvSpPr>
        <p:spPr>
          <a:xfrm>
            <a:off x="62331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3B1F4A"/>
                </a:solidFill>
                <a:latin typeface="Cambria" pitchFamily="34" charset="0"/>
                <a:ea typeface="Cambria" pitchFamily="34" charset="-122"/>
                <a:cs typeface="Cambria" pitchFamily="34" charset="-120"/>
              </a:rPr>
              <a:t>8%</a:t>
            </a:r>
            <a:endParaRPr lang="en-US" sz="2600" dirty="0"/>
          </a:p>
        </p:txBody>
      </p:sp>
      <p:sp>
        <p:nvSpPr>
          <p:cNvPr id="11" name="Text 9"/>
          <p:cNvSpPr/>
          <p:nvPr/>
        </p:nvSpPr>
        <p:spPr>
          <a:xfrm>
            <a:off x="62331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A2230"/>
                </a:solidFill>
                <a:latin typeface="Calibri" pitchFamily="34" charset="0"/>
                <a:ea typeface="Calibri" pitchFamily="34" charset="-122"/>
                <a:cs typeface="Calibri" pitchFamily="34" charset="-120"/>
              </a:rPr>
              <a:t>Landing page conversion</a:t>
            </a:r>
            <a:endParaRPr lang="en-US" sz="1200" dirty="0"/>
          </a:p>
        </p:txBody>
      </p:sp>
      <p:sp>
        <p:nvSpPr>
          <p:cNvPr id="12" name="Text 10"/>
          <p:cNvSpPr/>
          <p:nvPr/>
        </p:nvSpPr>
        <p:spPr>
          <a:xfrm>
            <a:off x="457200" y="2834640"/>
            <a:ext cx="8229600" cy="192024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500" dirty="0">
                <a:solidFill>
                  <a:srgbClr val="2A2230"/>
                </a:solidFill>
                <a:latin typeface="Calibri" pitchFamily="34" charset="0"/>
                <a:ea typeface="Calibri" pitchFamily="34" charset="-122"/>
                <a:cs typeface="Calibri" pitchFamily="34" charset="-120"/>
              </a:rPr>
              <a:t>Email open rate of 25% or better across the sequence</a:t>
            </a:r>
            <a:endParaRPr lang="en-US" sz="1500" dirty="0"/>
          </a:p>
          <a:p>
            <a:pPr marL="342900" indent="-342900">
              <a:spcAft>
                <a:spcPts val="600"/>
              </a:spcAft>
              <a:buSzPct val="100000"/>
              <a:buChar char="•"/>
            </a:pPr>
            <a:r>
              <a:rPr lang="en-US" sz="1500" dirty="0">
                <a:solidFill>
                  <a:srgbClr val="2A2230"/>
                </a:solidFill>
                <a:latin typeface="Calibri" pitchFamily="34" charset="0"/>
                <a:ea typeface="Calibri" pitchFamily="34" charset="-122"/>
                <a:cs typeface="Calibri" pitchFamily="34" charset="-120"/>
              </a:rPr>
              <a:t>At least two published trade press pieces in the first month</a:t>
            </a:r>
            <a:endParaRPr lang="en-US" sz="1500" dirty="0"/>
          </a:p>
          <a:p>
            <a:pPr marL="342900" indent="-342900">
              <a:spcAft>
                <a:spcPts val="600"/>
              </a:spcAft>
              <a:buSzPct val="100000"/>
              <a:buChar char="•"/>
            </a:pPr>
            <a:r>
              <a:rPr lang="en-US" sz="1500" dirty="0">
                <a:solidFill>
                  <a:srgbClr val="2A2230"/>
                </a:solidFill>
                <a:latin typeface="Calibri" pitchFamily="34" charset="0"/>
                <a:ea typeface="Calibri" pitchFamily="34" charset="-122"/>
                <a:cs typeface="Calibri" pitchFamily="34" charset="-120"/>
              </a:rPr>
              <a:t>Tracked in the CRM through campaign codes on every form</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Dependencies and Risks</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Integration guide depends on Marcus's technical section</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Demo form depends on the domain redirect being live</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No production units to photograph; renders from Devon instead</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Any statement about certification needs Callum's review</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A2230"/>
                </a:solidFill>
                <a:latin typeface="Cambria" pitchFamily="34" charset="0"/>
                <a:ea typeface="Cambria" pitchFamily="34" charset="-122"/>
                <a:cs typeface="Cambria" pitchFamily="34" charset="-120"/>
              </a:rPr>
              <a:t>Decisions Needed</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Confirm the introductory price and step-up at next week's pricing review</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Approve the $46.5K launch budget</a:t>
            </a:r>
            <a:endParaRPr lang="en-US" sz="1700" dirty="0"/>
          </a:p>
          <a:p>
            <a:pPr marL="342900" indent="-342900">
              <a:spcAft>
                <a:spcPts val="600"/>
              </a:spcAft>
              <a:buSzPct val="100000"/>
              <a:buChar char="•"/>
            </a:pPr>
            <a:r>
              <a:rPr lang="en-US" sz="1700" dirty="0">
                <a:solidFill>
                  <a:srgbClr val="2A2230"/>
                </a:solidFill>
                <a:latin typeface="Calibri" pitchFamily="34" charset="0"/>
                <a:ea typeface="Calibri" pitchFamily="34" charset="-122"/>
                <a:cs typeface="Calibri" pitchFamily="34" charset="-120"/>
              </a:rPr>
              <a:t>Agree who gets the written sign-off for the customer story</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RV-2 Launch Campaign Plan</dc:title>
  <dc:subject>PptxGenJS Presentation</dc:subject>
  <dc:creator>Nadia</dc:creator>
  <cp:lastModifiedBy>Nadia</cp:lastModifiedBy>
  <cp:revision>1</cp:revision>
  <dcterms:created xsi:type="dcterms:W3CDTF">2026-03-04T09:00:00Z</dcterms:created>
  <dcterms:modified xsi:type="dcterms:W3CDTF">2026-03-04T09:00:00Z</dcterms:modified>
</cp:coreProperties>
</file>