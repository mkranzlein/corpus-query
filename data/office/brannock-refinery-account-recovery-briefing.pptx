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we are as of this morning. The three XT-9 units that were failing at Brannock were replaced with Rev C hardware on April 9, and both of the process lines Brannock took offline as a precaution were back in service by April 10. So the immediate technical problem is contained. What is not fixed is the relationship. Their operations director had to call us to find out what was going on, and that is the part he is angry about. We have a $38,400 service agreement renewing on May 31 and a 16-unit expansion for their crude unit 2 worth $44,800 that was due to close at the end of April. Both are at risk, and neither conversation restarts until he has a written account from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played out over three weeks. Brannock's first ticket came in on March 18 for unit BRN-0042, intermittent dropout on the analog output. Theo's team walked them through a recalibration, Brannock reported it resolved, and the ticket was closed. On March 31 a second unit, BRN-0067, reported the same symptom. Theo pulled the logs from both and flagged them to Marcus. On April 8, Brannock opened a third ticket for BRN-0091, and later that morning their operations director called me directly to say two process lines were down and he wanted someone on site by Thursday. We merged the three tickets into a single priority-one escalation that day, and Marcus was on site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logs from the first two units show dropouts starting at roughly the same ambient temperature, a little above 58 degrees Celsius. All three Brannock units are Rev B. Rev B has a known thermal sensitivity in the analog output stage, and it is the reason Rev C exists. Marcus's position, which I agree with, is that we did not knowingly ship defective units: Rev B is rated to 60 degrees and these were running at 58. The honest problem is that the rating was too generous, which field data has since shown us. For Brannock the remedy is a component change on the output stage, and that means replacing the hardware. It is not something we can correct remotely in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direct about this, because the recovery depends on us being honest with ourselves before we are honest with Brannock. We handled the first ticket as a routine recalibration. When the second came in with the same symptom, the logs were flagged to engineering but sat for a week without a full analysis; Marcus has said plainly that is on him. We already knew Rev B units were drifting in hot environments at two other accounts, and nobody checked which customers had Rev B hardware in hot locations. And Jamal was talking to Brannock's procurement lead about renewal the week before, with no idea any of this was happening. Twenty-one days passed between their first ticket and our first real call to them. That is the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Marcus flew out on Thursday, April 9, with three Rev C units Devon had pulled from inventory the afternoon before. He replaced BRN-0042, BRN-0067 and BRN-0091, and the removed Rev B units are back with us for teardown. Brannock ran the lines under monitoring for twenty-four hours before restarting, and both were back in service on April 10 with no dropouts since. The part of the visit that matters most for what comes next is the site survey. Marcus measured ambient temperature at every sensor location through the day. The range was 54 to 63 degrees, and two of the three locations go above 60 degrees at the afternoon peak, which is higher than Brannock had told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survey changes the conversation. Two of the three locations regularly run above 55 degrees, and one peaks at 63. Rev C resolves the drift we saw in Rev B, but Marcus's concern is that those two locations are at the edge of where any XT-9 should be operating, and he does not want to replace the units and have the same complaint return in August. The options are to relocate or heat-shield the two sensors, which Brannock may or may not be able to do on a running line, or to talk honestly about whether the XT-9 is the right sensor for those positions at all. Marcus will give me a recommendation by April 21, and I will not take a position with Brannock before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Callum reviewed the Brannock agreement after the escalation. It excludes consequential damages and caps our liability at fees paid in the previous twelve months, so the production lost while the two lines were down is not something Brannock can recover from us under the contract. That does not mean we lean on it. The contract protects us; it does not win the account back. Everything written that goes to Brannock goes through Callum first, and it describes what we found and what we fixed without language that assigns fault. What I want to offer is goodwill: one quarter of service fees waived, which is $9,600, and two spare Rev C units kept on site at no charge. Renata has to approve the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written account goes to Brannock's operations director on April 16, after Callum has reviewed it. It covers what failed, why, what we replaced, and what we are changing in how we handle repeat tickets. Marcus's fit recommendation comes on April 21, and on April 24 I want a single call with both Brannock's operations team and their procurement lead, because part of how this went wrong is that those two groups do not talk to each other, and we let that keep us in the dark. Jamal resumes the renewal and expansion conversations on April 28, not before. We review thirty days of output data from the new units on May 8, ahead of the May 31 renewal.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of the briefing I most need people to act on. Marcus owns the fit recommendation and the teardown of the three Rev B units. Devon needs two spare Rev C units staged for Brannock by Thursday and a confirmation that no Rev B stock can reach any customer order. Theo is producing the list of Rev B accounts that have opened analog output tickets, and any Brannock ticket gets a four-hour response until further notice. Callum needs to review the written account and the goodwill wording by tomorrow so it can go out on the 16th. Renata's approval of the $9,600 credit is needed by the same date. Jamal stays off the commercial conversation until after the joint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Brannock is the account that escalated, not the only one exposed. Theo and Marcus finished cross-referencing the shipping manifest against the hardware revision log: 338 Rev B units went out, across nineteen accounts. Five of those accounts have installations we believe run above 50 degrees, and two of the five have already opened tickets about the analog output. I am not going to let either of those two become the next Brannock. Jamal and I will call both of them this week, before they call us, and we will offer Rev C swaps to all five hot-site accounts before summer, when ambient temperatures in these plants are at their highest. Devon is sizing how many Rev C units that 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F24"/>
        </a:solidFill>
      </p:bgPr>
    </p:bg>
    <p:spTree>
      <p:nvGrpSpPr>
        <p:cNvPr id="1" name=""/>
        <p:cNvGrpSpPr/>
        <p:nvPr/>
      </p:nvGrpSpPr>
      <p:grpSpPr>
        <a:xfrm>
          <a:off x="0" y="0"/>
          <a:ext cx="0" cy="0"/>
          <a:chOff x="0" y="0"/>
          <a:chExt cx="0" cy="0"/>
        </a:xfrm>
      </p:grpSpPr>
      <p:sp>
        <p:nvSpPr>
          <p:cNvPr id="2" name="Shape 0"/>
          <p:cNvSpPr/>
          <p:nvPr/>
        </p:nvSpPr>
        <p:spPr>
          <a:xfrm>
            <a:off x="8412480" y="-1463040"/>
            <a:ext cx="5669280" cy="5669280"/>
          </a:xfrm>
          <a:prstGeom prst="ellipse">
            <a:avLst/>
          </a:prstGeom>
          <a:solidFill>
            <a:srgbClr val="E86F4F">
              <a:alpha val="20000"/>
            </a:srgbClr>
          </a:solidFill>
          <a:ln w="12700">
            <a:solidFill>
              <a:srgbClr val="E86F4F">
                <a:alpha val="20000"/>
              </a:srgbClr>
            </a:solidFill>
            <a:prstDash val="solid"/>
          </a:ln>
        </p:spPr>
      </p:sp>
      <p:sp>
        <p:nvSpPr>
          <p:cNvPr id="3" name="Text 1"/>
          <p:cNvSpPr txBox="1"/>
          <p:nvPr/>
        </p:nvSpPr>
        <p:spPr>
          <a:xfrm>
            <a:off x="548640" y="1828800"/>
            <a:ext cx="8229600" cy="365760"/>
          </a:xfrm>
          <a:prstGeom prst="rect">
            <a:avLst/>
          </a:prstGeom>
          <a:noFill/>
          <a:ln/>
        </p:spPr>
        <p:txBody>
          <a:bodyPr wrap="square" lIns="0" tIns="0" rIns="0" bIns="0" rtlCol="0" anchor="ctr"/>
          <a:lstStyle/>
          <a:p>
            <a:pPr indent="0" marL="0">
              <a:buNone/>
            </a:pPr>
            <a:r>
              <a:rPr lang="en-US" sz="1400" b="1" spc="200" kern="0" dirty="0">
                <a:solidFill>
                  <a:srgbClr val="E86F4F"/>
                </a:solidFill>
                <a:latin typeface="Arial" pitchFamily="34" charset="0"/>
                <a:ea typeface="Arial" pitchFamily="34" charset="-122"/>
                <a:cs typeface="Arial" pitchFamily="34" charset="-120"/>
              </a:rPr>
              <a:t>INTERNAL BRIEFING</a:t>
            </a:r>
            <a:endParaRPr lang="en-US" sz="1400" dirty="0"/>
          </a:p>
        </p:txBody>
      </p:sp>
      <p:sp>
        <p:nvSpPr>
          <p:cNvPr id="4" name="Text 2"/>
          <p:cNvSpPr txBox="1"/>
          <p:nvPr/>
        </p:nvSpPr>
        <p:spPr>
          <a:xfrm>
            <a:off x="548640" y="2286000"/>
            <a:ext cx="9601200" cy="1645920"/>
          </a:xfrm>
          <a:prstGeom prst="rect">
            <a:avLst/>
          </a:prstGeom>
          <a:noFill/>
          <a:ln/>
        </p:spPr>
        <p:txBody>
          <a:bodyPr wrap="square" lIns="0" tIns="0" rIns="0" bIns="0" rtlCol="0" anchor="t"/>
          <a:lstStyle/>
          <a:p>
            <a:pPr indent="0" marL="0">
              <a:buNone/>
            </a:pPr>
            <a:r>
              <a:rPr lang="en-US" sz="4400" b="1" dirty="0">
                <a:solidFill>
                  <a:srgbClr val="FFFFFF"/>
                </a:solidFill>
                <a:latin typeface="Century Schoolbook" pitchFamily="34" charset="0"/>
                <a:ea typeface="Century Schoolbook" pitchFamily="34" charset="-122"/>
                <a:cs typeface="Century Schoolbook" pitchFamily="34" charset="-120"/>
              </a:rPr>
              <a:t>Brannock Refinery Account Recovery Briefing</a:t>
            </a:r>
            <a:endParaRPr lang="en-US" sz="4400" dirty="0"/>
          </a:p>
        </p:txBody>
      </p:sp>
      <p:sp>
        <p:nvSpPr>
          <p:cNvPr id="5" name="Text 3"/>
          <p:cNvSpPr txBox="1"/>
          <p:nvPr/>
        </p:nvSpPr>
        <p:spPr>
          <a:xfrm>
            <a:off x="548640" y="4206240"/>
            <a:ext cx="9144000" cy="822960"/>
          </a:xfrm>
          <a:prstGeom prst="rect">
            <a:avLst/>
          </a:prstGeom>
          <a:noFill/>
          <a:ln/>
        </p:spPr>
        <p:txBody>
          <a:bodyPr wrap="square" lIns="0" tIns="0" rIns="0" bIns="0" rtlCol="0" anchor="ctr"/>
          <a:lstStyle/>
          <a:p>
            <a:pPr indent="0" marL="0">
              <a:buNone/>
            </a:pPr>
            <a:r>
              <a:rPr lang="en-US" sz="1600" dirty="0">
                <a:solidFill>
                  <a:srgbClr val="D8C9CD"/>
                </a:solidFill>
                <a:latin typeface="Arial" pitchFamily="34" charset="0"/>
                <a:ea typeface="Arial" pitchFamily="34" charset="-122"/>
                <a:cs typeface="Arial" pitchFamily="34" charset="-120"/>
              </a:rPr>
              <a:t>Sales  ·  Elena  ·  April 14,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2B1F24"/>
                </a:solidFill>
                <a:latin typeface="Century Schoolbook" pitchFamily="34" charset="0"/>
                <a:ea typeface="Century Schoolbook" pitchFamily="34" charset="-122"/>
                <a:cs typeface="Century Schoolbook" pitchFamily="34" charset="-120"/>
              </a:rPr>
              <a:t>Where the Brannock Account Stands Today</a:t>
            </a:r>
            <a:endParaRPr lang="en-US" sz="3000" dirty="0"/>
          </a:p>
        </p:txBody>
      </p:sp>
      <p:sp>
        <p:nvSpPr>
          <p:cNvPr id="3" name="Shape 1"/>
          <p:cNvSpPr/>
          <p:nvPr/>
        </p:nvSpPr>
        <p:spPr>
          <a:xfrm>
            <a:off x="548640" y="1463040"/>
            <a:ext cx="2567864" cy="1828800"/>
          </a:xfrm>
          <a:prstGeom prst="roundRect">
            <a:avLst>
              <a:gd name="adj" fmla="val 4000"/>
            </a:avLst>
          </a:prstGeom>
          <a:solidFill>
            <a:srgbClr val="F3EEEF"/>
          </a:solidFill>
          <a:ln w="12700">
            <a:solidFill>
              <a:srgbClr val="F3EEEF"/>
            </a:solidFill>
            <a:prstDash val="solid"/>
          </a:ln>
        </p:spPr>
      </p:sp>
      <p:sp>
        <p:nvSpPr>
          <p:cNvPr id="4" name="Text 2"/>
          <p:cNvSpPr txBox="1"/>
          <p:nvPr/>
        </p:nvSpPr>
        <p:spPr>
          <a:xfrm>
            <a:off x="777240" y="1645920"/>
            <a:ext cx="2110664" cy="868680"/>
          </a:xfrm>
          <a:prstGeom prst="rect">
            <a:avLst/>
          </a:prstGeom>
          <a:noFill/>
          <a:ln/>
        </p:spPr>
        <p:txBody>
          <a:bodyPr wrap="square" lIns="0" tIns="0" rIns="0" bIns="0" rtlCol="0" anchor="ctr"/>
          <a:lstStyle/>
          <a:p>
            <a:pPr indent="0" marL="0">
              <a:buNone/>
            </a:pPr>
            <a:r>
              <a:rPr lang="en-US" sz="3400" b="1" dirty="0">
                <a:solidFill>
                  <a:srgbClr val="7A2E3A"/>
                </a:solidFill>
                <a:latin typeface="Century Schoolbook" pitchFamily="34" charset="0"/>
                <a:ea typeface="Century Schoolbook" pitchFamily="34" charset="-122"/>
                <a:cs typeface="Century Schoolbook" pitchFamily="34" charset="-120"/>
              </a:rPr>
              <a:t>3</a:t>
            </a:r>
            <a:endParaRPr lang="en-US" sz="3400" dirty="0"/>
          </a:p>
        </p:txBody>
      </p:sp>
      <p:sp>
        <p:nvSpPr>
          <p:cNvPr id="5" name="Text 3"/>
          <p:cNvSpPr txBox="1"/>
          <p:nvPr/>
        </p:nvSpPr>
        <p:spPr>
          <a:xfrm>
            <a:off x="777240" y="2514600"/>
            <a:ext cx="2110664" cy="640080"/>
          </a:xfrm>
          <a:prstGeom prst="rect">
            <a:avLst/>
          </a:prstGeom>
          <a:noFill/>
          <a:ln/>
        </p:spPr>
        <p:txBody>
          <a:bodyPr wrap="square" lIns="0" tIns="0" rIns="0" bIns="0" rtlCol="0" anchor="t"/>
          <a:lstStyle/>
          <a:p>
            <a:pPr indent="0" marL="0">
              <a:buNone/>
            </a:pPr>
            <a:r>
              <a:rPr lang="en-US" sz="1300" dirty="0">
                <a:solidFill>
                  <a:srgbClr val="6B5A60"/>
                </a:solidFill>
                <a:latin typeface="Arial" pitchFamily="34" charset="0"/>
                <a:ea typeface="Arial" pitchFamily="34" charset="-122"/>
                <a:cs typeface="Arial" pitchFamily="34" charset="-120"/>
              </a:rPr>
              <a:t>Units replaced with Rev C</a:t>
            </a:r>
            <a:endParaRPr lang="en-US" sz="1300" dirty="0"/>
          </a:p>
          <a:p>
            <a:pPr indent="0" marL="0">
              <a:buNone/>
            </a:pPr>
            <a:r>
              <a:rPr lang="en-US" sz="1300" dirty="0">
                <a:solidFill>
                  <a:srgbClr val="6B5A60"/>
                </a:solidFill>
                <a:latin typeface="Arial" pitchFamily="34" charset="0"/>
                <a:ea typeface="Arial" pitchFamily="34" charset="-122"/>
                <a:cs typeface="Arial" pitchFamily="34" charset="-120"/>
              </a:rPr>
              <a:t>on site April 9</a:t>
            </a:r>
            <a:endParaRPr lang="en-US" sz="1300" dirty="0"/>
          </a:p>
        </p:txBody>
      </p:sp>
      <p:sp>
        <p:nvSpPr>
          <p:cNvPr id="6" name="Shape 4"/>
          <p:cNvSpPr/>
          <p:nvPr/>
        </p:nvSpPr>
        <p:spPr>
          <a:xfrm>
            <a:off x="3390824" y="1463040"/>
            <a:ext cx="2567864" cy="1828800"/>
          </a:xfrm>
          <a:prstGeom prst="roundRect">
            <a:avLst>
              <a:gd name="adj" fmla="val 4000"/>
            </a:avLst>
          </a:prstGeom>
          <a:solidFill>
            <a:srgbClr val="F3EEEF"/>
          </a:solidFill>
          <a:ln w="12700">
            <a:solidFill>
              <a:srgbClr val="F3EEEF"/>
            </a:solidFill>
            <a:prstDash val="solid"/>
          </a:ln>
        </p:spPr>
      </p:sp>
      <p:sp>
        <p:nvSpPr>
          <p:cNvPr id="7" name="Text 5"/>
          <p:cNvSpPr txBox="1"/>
          <p:nvPr/>
        </p:nvSpPr>
        <p:spPr>
          <a:xfrm>
            <a:off x="3619424" y="1645920"/>
            <a:ext cx="2110664" cy="868680"/>
          </a:xfrm>
          <a:prstGeom prst="rect">
            <a:avLst/>
          </a:prstGeom>
          <a:noFill/>
          <a:ln/>
        </p:spPr>
        <p:txBody>
          <a:bodyPr wrap="square" lIns="0" tIns="0" rIns="0" bIns="0" rtlCol="0" anchor="ctr"/>
          <a:lstStyle/>
          <a:p>
            <a:pPr indent="0" marL="0">
              <a:buNone/>
            </a:pPr>
            <a:r>
              <a:rPr lang="en-US" sz="3400" b="1" dirty="0">
                <a:solidFill>
                  <a:srgbClr val="7A2E3A"/>
                </a:solidFill>
                <a:latin typeface="Century Schoolbook" pitchFamily="34" charset="0"/>
                <a:ea typeface="Century Schoolbook" pitchFamily="34" charset="-122"/>
                <a:cs typeface="Century Schoolbook" pitchFamily="34" charset="-120"/>
              </a:rPr>
              <a:t>2</a:t>
            </a:r>
            <a:endParaRPr lang="en-US" sz="3400" dirty="0"/>
          </a:p>
        </p:txBody>
      </p:sp>
      <p:sp>
        <p:nvSpPr>
          <p:cNvPr id="8" name="Text 6"/>
          <p:cNvSpPr txBox="1"/>
          <p:nvPr/>
        </p:nvSpPr>
        <p:spPr>
          <a:xfrm>
            <a:off x="3619424" y="2514600"/>
            <a:ext cx="2110664" cy="640080"/>
          </a:xfrm>
          <a:prstGeom prst="rect">
            <a:avLst/>
          </a:prstGeom>
          <a:noFill/>
          <a:ln/>
        </p:spPr>
        <p:txBody>
          <a:bodyPr wrap="square" lIns="0" tIns="0" rIns="0" bIns="0" rtlCol="0" anchor="t"/>
          <a:lstStyle/>
          <a:p>
            <a:pPr indent="0" marL="0">
              <a:buNone/>
            </a:pPr>
            <a:r>
              <a:rPr lang="en-US" sz="1300" dirty="0">
                <a:solidFill>
                  <a:srgbClr val="6B5A60"/>
                </a:solidFill>
                <a:latin typeface="Arial" pitchFamily="34" charset="0"/>
                <a:ea typeface="Arial" pitchFamily="34" charset="-122"/>
                <a:cs typeface="Arial" pitchFamily="34" charset="-120"/>
              </a:rPr>
              <a:t>Process lines taken offline</a:t>
            </a:r>
            <a:endParaRPr lang="en-US" sz="1300" dirty="0"/>
          </a:p>
          <a:p>
            <a:pPr indent="0" marL="0">
              <a:buNone/>
            </a:pPr>
            <a:r>
              <a:rPr lang="en-US" sz="1300" dirty="0">
                <a:solidFill>
                  <a:srgbClr val="6B5A60"/>
                </a:solidFill>
                <a:latin typeface="Arial" pitchFamily="34" charset="0"/>
                <a:ea typeface="Arial" pitchFamily="34" charset="-122"/>
                <a:cs typeface="Arial" pitchFamily="34" charset="-120"/>
              </a:rPr>
              <a:t>back in service April 10</a:t>
            </a:r>
            <a:endParaRPr lang="en-US" sz="1300" dirty="0"/>
          </a:p>
        </p:txBody>
      </p:sp>
      <p:sp>
        <p:nvSpPr>
          <p:cNvPr id="9" name="Shape 7"/>
          <p:cNvSpPr/>
          <p:nvPr/>
        </p:nvSpPr>
        <p:spPr>
          <a:xfrm>
            <a:off x="6233008" y="1463040"/>
            <a:ext cx="2567864" cy="1828800"/>
          </a:xfrm>
          <a:prstGeom prst="roundRect">
            <a:avLst>
              <a:gd name="adj" fmla="val 4000"/>
            </a:avLst>
          </a:prstGeom>
          <a:solidFill>
            <a:srgbClr val="FBE7E2"/>
          </a:solidFill>
          <a:ln w="12700">
            <a:solidFill>
              <a:srgbClr val="FBE7E2"/>
            </a:solidFill>
            <a:prstDash val="solid"/>
          </a:ln>
        </p:spPr>
      </p:sp>
      <p:sp>
        <p:nvSpPr>
          <p:cNvPr id="10" name="Text 8"/>
          <p:cNvSpPr txBox="1"/>
          <p:nvPr/>
        </p:nvSpPr>
        <p:spPr>
          <a:xfrm>
            <a:off x="6461608" y="1645920"/>
            <a:ext cx="2110664" cy="868680"/>
          </a:xfrm>
          <a:prstGeom prst="rect">
            <a:avLst/>
          </a:prstGeom>
          <a:noFill/>
          <a:ln/>
        </p:spPr>
        <p:txBody>
          <a:bodyPr wrap="square" lIns="0" tIns="0" rIns="0" bIns="0" rtlCol="0" anchor="ctr"/>
          <a:lstStyle/>
          <a:p>
            <a:pPr indent="0" marL="0">
              <a:buNone/>
            </a:pPr>
            <a:r>
              <a:rPr lang="en-US" sz="3400" b="1" dirty="0">
                <a:solidFill>
                  <a:srgbClr val="B0382A"/>
                </a:solidFill>
                <a:latin typeface="Century Schoolbook" pitchFamily="34" charset="0"/>
                <a:ea typeface="Century Schoolbook" pitchFamily="34" charset="-122"/>
                <a:cs typeface="Century Schoolbook" pitchFamily="34" charset="-120"/>
              </a:rPr>
              <a:t>$38.4K</a:t>
            </a:r>
            <a:endParaRPr lang="en-US" sz="3400" dirty="0"/>
          </a:p>
        </p:txBody>
      </p:sp>
      <p:sp>
        <p:nvSpPr>
          <p:cNvPr id="11" name="Text 9"/>
          <p:cNvSpPr txBox="1"/>
          <p:nvPr/>
        </p:nvSpPr>
        <p:spPr>
          <a:xfrm>
            <a:off x="6461608" y="2514600"/>
            <a:ext cx="2110664" cy="640080"/>
          </a:xfrm>
          <a:prstGeom prst="rect">
            <a:avLst/>
          </a:prstGeom>
          <a:noFill/>
          <a:ln/>
        </p:spPr>
        <p:txBody>
          <a:bodyPr wrap="square" lIns="0" tIns="0" rIns="0" bIns="0" rtlCol="0" anchor="t"/>
          <a:lstStyle/>
          <a:p>
            <a:pPr indent="0" marL="0">
              <a:buNone/>
            </a:pPr>
            <a:r>
              <a:rPr lang="en-US" sz="1300" dirty="0">
                <a:solidFill>
                  <a:srgbClr val="6B5A60"/>
                </a:solidFill>
                <a:latin typeface="Arial" pitchFamily="34" charset="0"/>
                <a:ea typeface="Arial" pitchFamily="34" charset="-122"/>
                <a:cs typeface="Arial" pitchFamily="34" charset="-120"/>
              </a:rPr>
              <a:t>Service agreement renewal</a:t>
            </a:r>
            <a:endParaRPr lang="en-US" sz="1300" dirty="0"/>
          </a:p>
          <a:p>
            <a:pPr indent="0" marL="0">
              <a:buNone/>
            </a:pPr>
            <a:r>
              <a:rPr lang="en-US" sz="1300" dirty="0">
                <a:solidFill>
                  <a:srgbClr val="6B5A60"/>
                </a:solidFill>
                <a:latin typeface="Arial" pitchFamily="34" charset="0"/>
                <a:ea typeface="Arial" pitchFamily="34" charset="-122"/>
                <a:cs typeface="Arial" pitchFamily="34" charset="-120"/>
              </a:rPr>
              <a:t>due May 31 — at risk</a:t>
            </a:r>
            <a:endParaRPr lang="en-US" sz="1300" dirty="0"/>
          </a:p>
        </p:txBody>
      </p:sp>
      <p:sp>
        <p:nvSpPr>
          <p:cNvPr id="12" name="Shape 10"/>
          <p:cNvSpPr/>
          <p:nvPr/>
        </p:nvSpPr>
        <p:spPr>
          <a:xfrm>
            <a:off x="9075191" y="1463040"/>
            <a:ext cx="2567864" cy="1828800"/>
          </a:xfrm>
          <a:prstGeom prst="roundRect">
            <a:avLst>
              <a:gd name="adj" fmla="val 4000"/>
            </a:avLst>
          </a:prstGeom>
          <a:solidFill>
            <a:srgbClr val="FBE7E2"/>
          </a:solidFill>
          <a:ln w="12700">
            <a:solidFill>
              <a:srgbClr val="FBE7E2"/>
            </a:solidFill>
            <a:prstDash val="solid"/>
          </a:ln>
        </p:spPr>
      </p:sp>
      <p:sp>
        <p:nvSpPr>
          <p:cNvPr id="13" name="Text 11"/>
          <p:cNvSpPr txBox="1"/>
          <p:nvPr/>
        </p:nvSpPr>
        <p:spPr>
          <a:xfrm>
            <a:off x="9303791" y="1645920"/>
            <a:ext cx="2110664" cy="868680"/>
          </a:xfrm>
          <a:prstGeom prst="rect">
            <a:avLst/>
          </a:prstGeom>
          <a:noFill/>
          <a:ln/>
        </p:spPr>
        <p:txBody>
          <a:bodyPr wrap="square" lIns="0" tIns="0" rIns="0" bIns="0" rtlCol="0" anchor="ctr"/>
          <a:lstStyle/>
          <a:p>
            <a:pPr indent="0" marL="0">
              <a:buNone/>
            </a:pPr>
            <a:r>
              <a:rPr lang="en-US" sz="3400" b="1" dirty="0">
                <a:solidFill>
                  <a:srgbClr val="B0382A"/>
                </a:solidFill>
                <a:latin typeface="Century Schoolbook" pitchFamily="34" charset="0"/>
                <a:ea typeface="Century Schoolbook" pitchFamily="34" charset="-122"/>
                <a:cs typeface="Century Schoolbook" pitchFamily="34" charset="-120"/>
              </a:rPr>
              <a:t>$44.8K</a:t>
            </a:r>
            <a:endParaRPr lang="en-US" sz="3400" dirty="0"/>
          </a:p>
        </p:txBody>
      </p:sp>
      <p:sp>
        <p:nvSpPr>
          <p:cNvPr id="14" name="Text 12"/>
          <p:cNvSpPr txBox="1"/>
          <p:nvPr/>
        </p:nvSpPr>
        <p:spPr>
          <a:xfrm>
            <a:off x="9303791" y="2514600"/>
            <a:ext cx="2110664" cy="640080"/>
          </a:xfrm>
          <a:prstGeom prst="rect">
            <a:avLst/>
          </a:prstGeom>
          <a:noFill/>
          <a:ln/>
        </p:spPr>
        <p:txBody>
          <a:bodyPr wrap="square" lIns="0" tIns="0" rIns="0" bIns="0" rtlCol="0" anchor="t"/>
          <a:lstStyle/>
          <a:p>
            <a:pPr indent="0" marL="0">
              <a:buNone/>
            </a:pPr>
            <a:r>
              <a:rPr lang="en-US" sz="1300" dirty="0">
                <a:solidFill>
                  <a:srgbClr val="6B5A60"/>
                </a:solidFill>
                <a:latin typeface="Arial" pitchFamily="34" charset="0"/>
                <a:ea typeface="Arial" pitchFamily="34" charset="-122"/>
                <a:cs typeface="Arial" pitchFamily="34" charset="-120"/>
              </a:rPr>
              <a:t>Crude unit 2 expansion</a:t>
            </a:r>
            <a:endParaRPr lang="en-US" sz="1300" dirty="0"/>
          </a:p>
          <a:p>
            <a:pPr indent="0" marL="0">
              <a:buNone/>
            </a:pPr>
            <a:r>
              <a:rPr lang="en-US" sz="1300" dirty="0">
                <a:solidFill>
                  <a:srgbClr val="6B5A60"/>
                </a:solidFill>
                <a:latin typeface="Arial" pitchFamily="34" charset="0"/>
                <a:ea typeface="Arial" pitchFamily="34" charset="-122"/>
                <a:cs typeface="Arial" pitchFamily="34" charset="-120"/>
              </a:rPr>
              <a:t>16 units, on hold</a:t>
            </a:r>
            <a:endParaRPr lang="en-US" sz="1300" dirty="0"/>
          </a:p>
        </p:txBody>
      </p:sp>
      <p:sp>
        <p:nvSpPr>
          <p:cNvPr id="15" name="Text 13"/>
          <p:cNvSpPr txBox="1"/>
          <p:nvPr/>
        </p:nvSpPr>
        <p:spPr>
          <a:xfrm>
            <a:off x="548640" y="3657600"/>
            <a:ext cx="11094415" cy="27432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3A2C31"/>
                </a:solidFill>
                <a:latin typeface="Arial" pitchFamily="34" charset="0"/>
                <a:ea typeface="Arial" pitchFamily="34" charset="-122"/>
                <a:cs typeface="Arial" pitchFamily="34" charset="-120"/>
              </a:rPr>
              <a:t>Technical problem contained; the relationship is not yet repaired</a:t>
            </a:r>
            <a:endParaRPr lang="en-US" sz="1600" dirty="0"/>
          </a:p>
          <a:p>
            <a:pPr marL="228600" indent="-228600">
              <a:spcAft>
                <a:spcPts val="800"/>
              </a:spcAft>
              <a:buSzPct val="100000"/>
              <a:buChar char="•"/>
            </a:pPr>
            <a:r>
              <a:rPr lang="en-US" sz="1600" dirty="0">
                <a:solidFill>
                  <a:srgbClr val="3A2C31"/>
                </a:solidFill>
                <a:latin typeface="Arial" pitchFamily="34" charset="0"/>
                <a:ea typeface="Arial" pitchFamily="34" charset="-122"/>
                <a:cs typeface="Arial" pitchFamily="34" charset="-120"/>
              </a:rPr>
              <a:t>Brannock's operations director expects a written account from us this week</a:t>
            </a:r>
            <a:endParaRPr lang="en-US" sz="1600" dirty="0"/>
          </a:p>
          <a:p>
            <a:pPr marL="228600" indent="-228600">
              <a:spcAft>
                <a:spcPts val="800"/>
              </a:spcAft>
              <a:buSzPct val="100000"/>
              <a:buChar char="•"/>
            </a:pPr>
            <a:r>
              <a:rPr lang="en-US" sz="1600" dirty="0">
                <a:solidFill>
                  <a:srgbClr val="3A2C31"/>
                </a:solidFill>
                <a:latin typeface="Arial" pitchFamily="34" charset="0"/>
                <a:ea typeface="Arial" pitchFamily="34" charset="-122"/>
                <a:cs typeface="Arial" pitchFamily="34" charset="-120"/>
              </a:rPr>
              <a:t>Renewal and expansion conversations paused until he has 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1F24"/>
        </a:solidFill>
      </p:bgPr>
    </p:bg>
    <p:spTree>
      <p:nvGrpSpPr>
        <p:cNvPr id="1" name=""/>
        <p:cNvGrpSpPr/>
        <p:nvPr/>
      </p:nvGrpSpPr>
      <p:grpSpPr>
        <a:xfrm>
          <a:off x="0" y="0"/>
          <a:ext cx="0" cy="0"/>
          <a:chOff x="0" y="0"/>
          <a:chExt cx="0" cy="0"/>
        </a:xfrm>
      </p:grpSpPr>
      <p:sp>
        <p:nvSpPr>
          <p:cNvPr id="2" name="Shape 0"/>
          <p:cNvSpPr/>
          <p:nvPr/>
        </p:nvSpPr>
        <p:spPr>
          <a:xfrm>
            <a:off x="548640" y="2148840"/>
            <a:ext cx="1188720" cy="1188720"/>
          </a:xfrm>
          <a:prstGeom prst="ellipse">
            <a:avLst/>
          </a:prstGeom>
          <a:solidFill>
            <a:srgbClr val="E86F4F"/>
          </a:solidFill>
          <a:ln w="12700">
            <a:solidFill>
              <a:srgbClr val="E86F4F"/>
            </a:solidFill>
            <a:prstDash val="solid"/>
          </a:ln>
        </p:spPr>
      </p:sp>
      <p:sp>
        <p:nvSpPr>
          <p:cNvPr id="3" name="Text 1"/>
          <p:cNvSpPr txBox="1"/>
          <p:nvPr/>
        </p:nvSpPr>
        <p:spPr>
          <a:xfrm>
            <a:off x="548640" y="2148840"/>
            <a:ext cx="1188720" cy="1188720"/>
          </a:xfrm>
          <a:prstGeom prst="rect">
            <a:avLst/>
          </a:prstGeom>
          <a:noFill/>
          <a:ln/>
        </p:spPr>
        <p:txBody>
          <a:bodyPr wrap="square" lIns="0" tIns="0" rIns="0" bIns="0" rtlCol="0" anchor="ctr"/>
          <a:lstStyle/>
          <a:p>
            <a:pPr algn="ctr" indent="0" marL="0">
              <a:buNone/>
            </a:pPr>
            <a:r>
              <a:rPr lang="en-US" sz="3000" b="1" dirty="0">
                <a:solidFill>
                  <a:srgbClr val="2B1F24"/>
                </a:solidFill>
                <a:latin typeface="Century Schoolbook" pitchFamily="34" charset="0"/>
                <a:ea typeface="Century Schoolbook" pitchFamily="34" charset="-122"/>
                <a:cs typeface="Century Schoolbook" pitchFamily="34" charset="-120"/>
              </a:rPr>
              <a:t>01</a:t>
            </a:r>
            <a:endParaRPr lang="en-US" sz="3000" dirty="0"/>
          </a:p>
        </p:txBody>
      </p:sp>
      <p:sp>
        <p:nvSpPr>
          <p:cNvPr id="4" name="Text 2"/>
          <p:cNvSpPr txBox="1"/>
          <p:nvPr/>
        </p:nvSpPr>
        <p:spPr>
          <a:xfrm>
            <a:off x="2103120" y="2057400"/>
            <a:ext cx="8686800" cy="822960"/>
          </a:xfrm>
          <a:prstGeom prst="rect">
            <a:avLst/>
          </a:prstGeom>
          <a:noFill/>
          <a:ln/>
        </p:spPr>
        <p:txBody>
          <a:bodyPr wrap="square" lIns="0" tIns="0" rIns="0" bIns="0" rtlCol="0" anchor="ctr"/>
          <a:lstStyle/>
          <a:p>
            <a:pPr indent="0" marL="0">
              <a:buNone/>
            </a:pPr>
            <a:r>
              <a:rPr lang="en-US" sz="3600" b="1" dirty="0">
                <a:solidFill>
                  <a:srgbClr val="FFFFFF"/>
                </a:solidFill>
                <a:latin typeface="Century Schoolbook" pitchFamily="34" charset="0"/>
                <a:ea typeface="Century Schoolbook" pitchFamily="34" charset="-122"/>
                <a:cs typeface="Century Schoolbook" pitchFamily="34" charset="-120"/>
              </a:rPr>
              <a:t>What Happened</a:t>
            </a:r>
            <a:endParaRPr lang="en-US" sz="3600" dirty="0"/>
          </a:p>
        </p:txBody>
      </p:sp>
      <p:sp>
        <p:nvSpPr>
          <p:cNvPr id="5" name="Text 3"/>
          <p:cNvSpPr txBox="1"/>
          <p:nvPr/>
        </p:nvSpPr>
        <p:spPr>
          <a:xfrm>
            <a:off x="2103120" y="2880360"/>
            <a:ext cx="8686800" cy="548640"/>
          </a:xfrm>
          <a:prstGeom prst="rect">
            <a:avLst/>
          </a:prstGeom>
          <a:noFill/>
          <a:ln/>
        </p:spPr>
        <p:txBody>
          <a:bodyPr wrap="square" lIns="0" tIns="0" rIns="0" bIns="0" rtlCol="0" anchor="ctr"/>
          <a:lstStyle/>
          <a:p>
            <a:pPr indent="0" marL="0">
              <a:buNone/>
            </a:pPr>
            <a:r>
              <a:rPr lang="en-US" sz="1600" dirty="0">
                <a:solidFill>
                  <a:srgbClr val="D8C9CD"/>
                </a:solidFill>
                <a:latin typeface="Arial" pitchFamily="34" charset="0"/>
                <a:ea typeface="Arial" pitchFamily="34" charset="-122"/>
                <a:cs typeface="Arial" pitchFamily="34" charset="-120"/>
              </a:rPr>
              <a:t>Three tickets over three weeks, and a phone call we should have made first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2B1F24"/>
                </a:solidFill>
                <a:latin typeface="Century Schoolbook" pitchFamily="34" charset="0"/>
                <a:ea typeface="Century Schoolbook" pitchFamily="34" charset="-122"/>
                <a:cs typeface="Century Schoolbook" pitchFamily="34" charset="-120"/>
              </a:rPr>
              <a:t>Ticket History: March 18 to April 8</a:t>
            </a:r>
            <a:endParaRPr lang="en-US" sz="3000" dirty="0"/>
          </a:p>
        </p:txBody>
      </p:sp>
      <p:sp>
        <p:nvSpPr>
          <p:cNvPr id="3" name="Shape 1"/>
          <p:cNvSpPr/>
          <p:nvPr/>
        </p:nvSpPr>
        <p:spPr>
          <a:xfrm>
            <a:off x="548640" y="1517904"/>
            <a:ext cx="1554480" cy="493776"/>
          </a:xfrm>
          <a:prstGeom prst="roundRect">
            <a:avLst>
              <a:gd name="adj" fmla="val 37037"/>
            </a:avLst>
          </a:prstGeom>
          <a:solidFill>
            <a:srgbClr val="7A2E3A"/>
          </a:solidFill>
          <a:ln w="12700">
            <a:solidFill>
              <a:srgbClr val="7A2E3A"/>
            </a:solidFill>
            <a:prstDash val="solid"/>
          </a:ln>
        </p:spPr>
      </p:sp>
      <p:sp>
        <p:nvSpPr>
          <p:cNvPr id="4" name="Text 2"/>
          <p:cNvSpPr txBox="1"/>
          <p:nvPr/>
        </p:nvSpPr>
        <p:spPr>
          <a:xfrm>
            <a:off x="548640" y="1517904"/>
            <a:ext cx="1554480"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Feb</a:t>
            </a:r>
            <a:endParaRPr lang="en-US" sz="1400" dirty="0"/>
          </a:p>
        </p:txBody>
      </p:sp>
      <p:sp>
        <p:nvSpPr>
          <p:cNvPr id="5" name="Text 3"/>
          <p:cNvSpPr txBox="1"/>
          <p:nvPr/>
        </p:nvSpPr>
        <p:spPr>
          <a:xfrm>
            <a:off x="2377440" y="1481328"/>
            <a:ext cx="9265615" cy="56692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Three XT-9 units shipped</a:t>
            </a:r>
            <a:pPr indent="0" marL="0">
              <a:buNone/>
            </a:pPr>
            <a:r>
              <a:rPr lang="en-US" sz="1500" dirty="0">
                <a:solidFill>
                  <a:srgbClr val="6B5A60"/>
                </a:solidFill>
                <a:latin typeface="Arial" pitchFamily="34" charset="0"/>
                <a:ea typeface="Arial" pitchFamily="34" charset="-122"/>
                <a:cs typeface="Arial" pitchFamily="34" charset="-120"/>
              </a:rPr>
              <a:t>  All Rev B</a:t>
            </a:r>
            <a:endParaRPr lang="en-US" sz="1500" dirty="0"/>
          </a:p>
        </p:txBody>
      </p:sp>
      <p:sp>
        <p:nvSpPr>
          <p:cNvPr id="6" name="Shape 4"/>
          <p:cNvSpPr/>
          <p:nvPr/>
        </p:nvSpPr>
        <p:spPr>
          <a:xfrm>
            <a:off x="548640" y="2176272"/>
            <a:ext cx="1554480" cy="493776"/>
          </a:xfrm>
          <a:prstGeom prst="roundRect">
            <a:avLst>
              <a:gd name="adj" fmla="val 37037"/>
            </a:avLst>
          </a:prstGeom>
          <a:solidFill>
            <a:srgbClr val="7A2E3A"/>
          </a:solidFill>
          <a:ln w="12700">
            <a:solidFill>
              <a:srgbClr val="7A2E3A"/>
            </a:solidFill>
            <a:prstDash val="solid"/>
          </a:ln>
        </p:spPr>
      </p:sp>
      <p:sp>
        <p:nvSpPr>
          <p:cNvPr id="7" name="Text 5"/>
          <p:cNvSpPr txBox="1"/>
          <p:nvPr/>
        </p:nvSpPr>
        <p:spPr>
          <a:xfrm>
            <a:off x="548640" y="2176272"/>
            <a:ext cx="1554480"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Mar 18</a:t>
            </a:r>
            <a:endParaRPr lang="en-US" sz="1400" dirty="0"/>
          </a:p>
        </p:txBody>
      </p:sp>
      <p:sp>
        <p:nvSpPr>
          <p:cNvPr id="8" name="Text 6"/>
          <p:cNvSpPr txBox="1"/>
          <p:nvPr/>
        </p:nvSpPr>
        <p:spPr>
          <a:xfrm>
            <a:off x="2377440" y="2139696"/>
            <a:ext cx="9265615" cy="56692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Ticket 1 — BRN-0042</a:t>
            </a:r>
            <a:pPr indent="0" marL="0">
              <a:buNone/>
            </a:pPr>
            <a:r>
              <a:rPr lang="en-US" sz="1500" dirty="0">
                <a:solidFill>
                  <a:srgbClr val="6B5A60"/>
                </a:solidFill>
                <a:latin typeface="Arial" pitchFamily="34" charset="0"/>
                <a:ea typeface="Arial" pitchFamily="34" charset="-122"/>
                <a:cs typeface="Arial" pitchFamily="34" charset="-120"/>
              </a:rPr>
              <a:t>  Intermittent analog output dropout; recalibrated, closed</a:t>
            </a:r>
            <a:endParaRPr lang="en-US" sz="1500" dirty="0"/>
          </a:p>
        </p:txBody>
      </p:sp>
      <p:sp>
        <p:nvSpPr>
          <p:cNvPr id="9" name="Shape 7"/>
          <p:cNvSpPr/>
          <p:nvPr/>
        </p:nvSpPr>
        <p:spPr>
          <a:xfrm>
            <a:off x="548640" y="2834640"/>
            <a:ext cx="1554480" cy="493776"/>
          </a:xfrm>
          <a:prstGeom prst="roundRect">
            <a:avLst>
              <a:gd name="adj" fmla="val 37037"/>
            </a:avLst>
          </a:prstGeom>
          <a:solidFill>
            <a:srgbClr val="7A2E3A"/>
          </a:solidFill>
          <a:ln w="12700">
            <a:solidFill>
              <a:srgbClr val="7A2E3A"/>
            </a:solidFill>
            <a:prstDash val="solid"/>
          </a:ln>
        </p:spPr>
      </p:sp>
      <p:sp>
        <p:nvSpPr>
          <p:cNvPr id="10" name="Text 8"/>
          <p:cNvSpPr txBox="1"/>
          <p:nvPr/>
        </p:nvSpPr>
        <p:spPr>
          <a:xfrm>
            <a:off x="548640" y="2834640"/>
            <a:ext cx="1554480"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Mar 31</a:t>
            </a:r>
            <a:endParaRPr lang="en-US" sz="1400" dirty="0"/>
          </a:p>
        </p:txBody>
      </p:sp>
      <p:sp>
        <p:nvSpPr>
          <p:cNvPr id="11" name="Text 9"/>
          <p:cNvSpPr txBox="1"/>
          <p:nvPr/>
        </p:nvSpPr>
        <p:spPr>
          <a:xfrm>
            <a:off x="2377440" y="2798064"/>
            <a:ext cx="9265615" cy="56692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Ticket 2 — BRN-0067</a:t>
            </a:r>
            <a:pPr indent="0" marL="0">
              <a:buNone/>
            </a:pPr>
            <a:r>
              <a:rPr lang="en-US" sz="1500" dirty="0">
                <a:solidFill>
                  <a:srgbClr val="6B5A60"/>
                </a:solidFill>
                <a:latin typeface="Arial" pitchFamily="34" charset="0"/>
                <a:ea typeface="Arial" pitchFamily="34" charset="-122"/>
                <a:cs typeface="Arial" pitchFamily="34" charset="-120"/>
              </a:rPr>
              <a:t>  Same symptom, second unit; logs flagged to engineering</a:t>
            </a:r>
            <a:endParaRPr lang="en-US" sz="1500" dirty="0"/>
          </a:p>
        </p:txBody>
      </p:sp>
      <p:sp>
        <p:nvSpPr>
          <p:cNvPr id="12" name="Shape 10"/>
          <p:cNvSpPr/>
          <p:nvPr/>
        </p:nvSpPr>
        <p:spPr>
          <a:xfrm>
            <a:off x="548640" y="3493008"/>
            <a:ext cx="1554480" cy="493776"/>
          </a:xfrm>
          <a:prstGeom prst="roundRect">
            <a:avLst>
              <a:gd name="adj" fmla="val 37037"/>
            </a:avLst>
          </a:prstGeom>
          <a:solidFill>
            <a:srgbClr val="B0382A"/>
          </a:solidFill>
          <a:ln w="12700">
            <a:solidFill>
              <a:srgbClr val="B0382A"/>
            </a:solidFill>
            <a:prstDash val="solid"/>
          </a:ln>
        </p:spPr>
      </p:sp>
      <p:sp>
        <p:nvSpPr>
          <p:cNvPr id="13" name="Text 11"/>
          <p:cNvSpPr txBox="1"/>
          <p:nvPr/>
        </p:nvSpPr>
        <p:spPr>
          <a:xfrm>
            <a:off x="548640" y="3493008"/>
            <a:ext cx="1554480"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Apr 8</a:t>
            </a:r>
            <a:endParaRPr lang="en-US" sz="1400" dirty="0"/>
          </a:p>
        </p:txBody>
      </p:sp>
      <p:sp>
        <p:nvSpPr>
          <p:cNvPr id="14" name="Text 12"/>
          <p:cNvSpPr txBox="1"/>
          <p:nvPr/>
        </p:nvSpPr>
        <p:spPr>
          <a:xfrm>
            <a:off x="2377440" y="3456432"/>
            <a:ext cx="9265615" cy="56692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Ticket 3 — BRN-0091</a:t>
            </a:r>
            <a:pPr indent="0" marL="0">
              <a:buNone/>
            </a:pPr>
            <a:r>
              <a:rPr lang="en-US" sz="1500" dirty="0">
                <a:solidFill>
                  <a:srgbClr val="6B5A60"/>
                </a:solidFill>
                <a:latin typeface="Arial" pitchFamily="34" charset="0"/>
                <a:ea typeface="Arial" pitchFamily="34" charset="-122"/>
                <a:cs typeface="Arial" pitchFamily="34" charset="-120"/>
              </a:rPr>
              <a:t>  Third unit, opened before the call came in</a:t>
            </a:r>
            <a:endParaRPr lang="en-US" sz="1500" dirty="0"/>
          </a:p>
        </p:txBody>
      </p:sp>
      <p:sp>
        <p:nvSpPr>
          <p:cNvPr id="15" name="Shape 13"/>
          <p:cNvSpPr/>
          <p:nvPr/>
        </p:nvSpPr>
        <p:spPr>
          <a:xfrm>
            <a:off x="548640" y="4151376"/>
            <a:ext cx="1554480" cy="493776"/>
          </a:xfrm>
          <a:prstGeom prst="roundRect">
            <a:avLst>
              <a:gd name="adj" fmla="val 37037"/>
            </a:avLst>
          </a:prstGeom>
          <a:solidFill>
            <a:srgbClr val="B0382A"/>
          </a:solidFill>
          <a:ln w="12700">
            <a:solidFill>
              <a:srgbClr val="B0382A"/>
            </a:solidFill>
            <a:prstDash val="solid"/>
          </a:ln>
        </p:spPr>
      </p:sp>
      <p:sp>
        <p:nvSpPr>
          <p:cNvPr id="16" name="Text 14"/>
          <p:cNvSpPr txBox="1"/>
          <p:nvPr/>
        </p:nvSpPr>
        <p:spPr>
          <a:xfrm>
            <a:off x="548640" y="4151376"/>
            <a:ext cx="1554480"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Apr 8</a:t>
            </a:r>
            <a:endParaRPr lang="en-US" sz="1400" dirty="0"/>
          </a:p>
        </p:txBody>
      </p:sp>
      <p:sp>
        <p:nvSpPr>
          <p:cNvPr id="17" name="Text 15"/>
          <p:cNvSpPr txBox="1"/>
          <p:nvPr/>
        </p:nvSpPr>
        <p:spPr>
          <a:xfrm>
            <a:off x="2377440" y="4114800"/>
            <a:ext cx="9265615" cy="56692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Operations director calls</a:t>
            </a:r>
            <a:pPr indent="0" marL="0">
              <a:buNone/>
            </a:pPr>
            <a:r>
              <a:rPr lang="en-US" sz="1500" dirty="0">
                <a:solidFill>
                  <a:srgbClr val="6B5A60"/>
                </a:solidFill>
                <a:latin typeface="Arial" pitchFamily="34" charset="0"/>
                <a:ea typeface="Arial" pitchFamily="34" charset="-122"/>
                <a:cs typeface="Arial" pitchFamily="34" charset="-120"/>
              </a:rPr>
              <a:t>  Two lines offline; on-site visit demanded by Thursday</a:t>
            </a:r>
            <a:endParaRPr lang="en-US" sz="1500" dirty="0"/>
          </a:p>
        </p:txBody>
      </p:sp>
      <p:sp>
        <p:nvSpPr>
          <p:cNvPr id="18" name="Shape 16"/>
          <p:cNvSpPr/>
          <p:nvPr/>
        </p:nvSpPr>
        <p:spPr>
          <a:xfrm>
            <a:off x="548640" y="4809744"/>
            <a:ext cx="1554480" cy="493776"/>
          </a:xfrm>
          <a:prstGeom prst="roundRect">
            <a:avLst>
              <a:gd name="adj" fmla="val 37037"/>
            </a:avLst>
          </a:prstGeom>
          <a:solidFill>
            <a:srgbClr val="7A2E3A"/>
          </a:solidFill>
          <a:ln w="12700">
            <a:solidFill>
              <a:srgbClr val="7A2E3A"/>
            </a:solidFill>
            <a:prstDash val="solid"/>
          </a:ln>
        </p:spPr>
      </p:sp>
      <p:sp>
        <p:nvSpPr>
          <p:cNvPr id="19" name="Text 17"/>
          <p:cNvSpPr txBox="1"/>
          <p:nvPr/>
        </p:nvSpPr>
        <p:spPr>
          <a:xfrm>
            <a:off x="548640" y="4809744"/>
            <a:ext cx="1554480"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Apr 8</a:t>
            </a:r>
            <a:endParaRPr lang="en-US" sz="1400" dirty="0"/>
          </a:p>
        </p:txBody>
      </p:sp>
      <p:sp>
        <p:nvSpPr>
          <p:cNvPr id="20" name="Text 18"/>
          <p:cNvSpPr txBox="1"/>
          <p:nvPr/>
        </p:nvSpPr>
        <p:spPr>
          <a:xfrm>
            <a:off x="2377440" y="4773168"/>
            <a:ext cx="9265615" cy="56692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Priority-one escalation</a:t>
            </a:r>
            <a:pPr indent="0" marL="0">
              <a:buNone/>
            </a:pPr>
            <a:r>
              <a:rPr lang="en-US" sz="1500" dirty="0">
                <a:solidFill>
                  <a:srgbClr val="6B5A60"/>
                </a:solidFill>
                <a:latin typeface="Arial" pitchFamily="34" charset="0"/>
                <a:ea typeface="Arial" pitchFamily="34" charset="-122"/>
                <a:cs typeface="Arial" pitchFamily="34" charset="-120"/>
              </a:rPr>
              <a:t>  Three tickets merged into one record</a:t>
            </a:r>
            <a:endParaRPr lang="en-US" sz="1500" dirty="0"/>
          </a:p>
        </p:txBody>
      </p:sp>
      <p:sp>
        <p:nvSpPr>
          <p:cNvPr id="21" name="Shape 19"/>
          <p:cNvSpPr/>
          <p:nvPr/>
        </p:nvSpPr>
        <p:spPr>
          <a:xfrm>
            <a:off x="548640" y="5468112"/>
            <a:ext cx="1554480" cy="493776"/>
          </a:xfrm>
          <a:prstGeom prst="roundRect">
            <a:avLst>
              <a:gd name="adj" fmla="val 37037"/>
            </a:avLst>
          </a:prstGeom>
          <a:solidFill>
            <a:srgbClr val="7A2E3A"/>
          </a:solidFill>
          <a:ln w="12700">
            <a:solidFill>
              <a:srgbClr val="7A2E3A"/>
            </a:solidFill>
            <a:prstDash val="solid"/>
          </a:ln>
        </p:spPr>
      </p:sp>
      <p:sp>
        <p:nvSpPr>
          <p:cNvPr id="22" name="Text 20"/>
          <p:cNvSpPr txBox="1"/>
          <p:nvPr/>
        </p:nvSpPr>
        <p:spPr>
          <a:xfrm>
            <a:off x="548640" y="5468112"/>
            <a:ext cx="1554480"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Apr 9</a:t>
            </a:r>
            <a:endParaRPr lang="en-US" sz="1400" dirty="0"/>
          </a:p>
        </p:txBody>
      </p:sp>
      <p:sp>
        <p:nvSpPr>
          <p:cNvPr id="23" name="Text 21"/>
          <p:cNvSpPr txBox="1"/>
          <p:nvPr/>
        </p:nvSpPr>
        <p:spPr>
          <a:xfrm>
            <a:off x="2377440" y="5431536"/>
            <a:ext cx="9265615" cy="56692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Marcus on site</a:t>
            </a:r>
            <a:pPr indent="0" marL="0">
              <a:buNone/>
            </a:pPr>
            <a:r>
              <a:rPr lang="en-US" sz="1500" dirty="0">
                <a:solidFill>
                  <a:srgbClr val="6B5A60"/>
                </a:solidFill>
                <a:latin typeface="Arial" pitchFamily="34" charset="0"/>
                <a:ea typeface="Arial" pitchFamily="34" charset="-122"/>
                <a:cs typeface="Arial" pitchFamily="34" charset="-120"/>
              </a:rPr>
              <a:t>  Rev C swap and site temperature survey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2B1F24"/>
                </a:solidFill>
                <a:latin typeface="Century Schoolbook" pitchFamily="34" charset="0"/>
                <a:ea typeface="Century Schoolbook" pitchFamily="34" charset="-122"/>
                <a:cs typeface="Century Schoolbook" pitchFamily="34" charset="-120"/>
              </a:rPr>
              <a:t>Root Cause: Rev B Analog Output Drift</a:t>
            </a:r>
            <a:endParaRPr lang="en-US" sz="3000" dirty="0"/>
          </a:p>
        </p:txBody>
      </p:sp>
      <p:sp>
        <p:nvSpPr>
          <p:cNvPr id="3" name="Shape 1"/>
          <p:cNvSpPr/>
          <p:nvPr/>
        </p:nvSpPr>
        <p:spPr>
          <a:xfrm>
            <a:off x="548640" y="1463040"/>
            <a:ext cx="3515258" cy="4846320"/>
          </a:xfrm>
          <a:prstGeom prst="roundRect">
            <a:avLst>
              <a:gd name="adj" fmla="val 2081"/>
            </a:avLst>
          </a:prstGeom>
          <a:solidFill>
            <a:srgbClr val="F3EEEF"/>
          </a:solidFill>
          <a:ln w="12700">
            <a:solidFill>
              <a:srgbClr val="F3EEEF"/>
            </a:solidFill>
            <a:prstDash val="solid"/>
          </a:ln>
        </p:spPr>
      </p:sp>
      <p:sp>
        <p:nvSpPr>
          <p:cNvPr id="4" name="Text 2"/>
          <p:cNvSpPr txBox="1"/>
          <p:nvPr/>
        </p:nvSpPr>
        <p:spPr>
          <a:xfrm>
            <a:off x="777240" y="1691640"/>
            <a:ext cx="3058058" cy="731520"/>
          </a:xfrm>
          <a:prstGeom prst="rect">
            <a:avLst/>
          </a:prstGeom>
          <a:noFill/>
          <a:ln/>
        </p:spPr>
        <p:txBody>
          <a:bodyPr wrap="square" lIns="0" tIns="0" rIns="0" bIns="0" rtlCol="0" anchor="t"/>
          <a:lstStyle/>
          <a:p>
            <a:pPr indent="0" marL="0">
              <a:buNone/>
            </a:pPr>
            <a:r>
              <a:rPr lang="en-US" sz="2000" b="1" dirty="0">
                <a:solidFill>
                  <a:srgbClr val="7A2E3A"/>
                </a:solidFill>
                <a:latin typeface="Century Schoolbook" pitchFamily="34" charset="0"/>
                <a:ea typeface="Century Schoolbook" pitchFamily="34" charset="-122"/>
                <a:cs typeface="Century Schoolbook" pitchFamily="34" charset="-120"/>
              </a:rPr>
              <a:t>What failed</a:t>
            </a:r>
            <a:endParaRPr lang="en-US" sz="2000" dirty="0"/>
          </a:p>
        </p:txBody>
      </p:sp>
      <p:sp>
        <p:nvSpPr>
          <p:cNvPr id="5" name="Text 3"/>
          <p:cNvSpPr txBox="1"/>
          <p:nvPr/>
        </p:nvSpPr>
        <p:spPr>
          <a:xfrm>
            <a:off x="777240"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All three Brannock units are XT-9 Rev B</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Dropouts begin above about 58°C ambient</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Rev B is rated to 60°C, so within spec on paper</a:t>
            </a:r>
            <a:endParaRPr lang="en-US" sz="1500" dirty="0"/>
          </a:p>
        </p:txBody>
      </p:sp>
      <p:sp>
        <p:nvSpPr>
          <p:cNvPr id="6" name="Shape 4"/>
          <p:cNvSpPr/>
          <p:nvPr/>
        </p:nvSpPr>
        <p:spPr>
          <a:xfrm>
            <a:off x="4338218" y="1463040"/>
            <a:ext cx="3515258" cy="4846320"/>
          </a:xfrm>
          <a:prstGeom prst="roundRect">
            <a:avLst>
              <a:gd name="adj" fmla="val 2081"/>
            </a:avLst>
          </a:prstGeom>
          <a:solidFill>
            <a:srgbClr val="F3EEEF"/>
          </a:solidFill>
          <a:ln w="12700">
            <a:solidFill>
              <a:srgbClr val="F3EEEF"/>
            </a:solidFill>
            <a:prstDash val="solid"/>
          </a:ln>
        </p:spPr>
      </p:sp>
      <p:sp>
        <p:nvSpPr>
          <p:cNvPr id="7" name="Text 5"/>
          <p:cNvSpPr txBox="1"/>
          <p:nvPr/>
        </p:nvSpPr>
        <p:spPr>
          <a:xfrm>
            <a:off x="4566818" y="1691640"/>
            <a:ext cx="3058058" cy="731520"/>
          </a:xfrm>
          <a:prstGeom prst="rect">
            <a:avLst/>
          </a:prstGeom>
          <a:noFill/>
          <a:ln/>
        </p:spPr>
        <p:txBody>
          <a:bodyPr wrap="square" lIns="0" tIns="0" rIns="0" bIns="0" rtlCol="0" anchor="t"/>
          <a:lstStyle/>
          <a:p>
            <a:pPr indent="0" marL="0">
              <a:buNone/>
            </a:pPr>
            <a:r>
              <a:rPr lang="en-US" sz="2000" b="1" dirty="0">
                <a:solidFill>
                  <a:srgbClr val="7A2E3A"/>
                </a:solidFill>
                <a:latin typeface="Century Schoolbook" pitchFamily="34" charset="0"/>
                <a:ea typeface="Century Schoolbook" pitchFamily="34" charset="-122"/>
                <a:cs typeface="Century Schoolbook" pitchFamily="34" charset="-120"/>
              </a:rPr>
              <a:t>Why</a:t>
            </a:r>
            <a:endParaRPr lang="en-US" sz="2000" dirty="0"/>
          </a:p>
        </p:txBody>
      </p:sp>
      <p:sp>
        <p:nvSpPr>
          <p:cNvPr id="8" name="Text 6"/>
          <p:cNvSpPr txBox="1"/>
          <p:nvPr/>
        </p:nvSpPr>
        <p:spPr>
          <a:xfrm>
            <a:off x="4566818"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Thermal sensitivity in the analog output stage</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The rated range turned out to be too generous</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Rev C tightened the effective thermal range</a:t>
            </a:r>
            <a:endParaRPr lang="en-US" sz="1500" dirty="0"/>
          </a:p>
        </p:txBody>
      </p:sp>
      <p:sp>
        <p:nvSpPr>
          <p:cNvPr id="9" name="Shape 7"/>
          <p:cNvSpPr/>
          <p:nvPr/>
        </p:nvSpPr>
        <p:spPr>
          <a:xfrm>
            <a:off x="8127797" y="1463040"/>
            <a:ext cx="3515258" cy="4846320"/>
          </a:xfrm>
          <a:prstGeom prst="roundRect">
            <a:avLst>
              <a:gd name="adj" fmla="val 2081"/>
            </a:avLst>
          </a:prstGeom>
          <a:solidFill>
            <a:srgbClr val="FBE7E2"/>
          </a:solidFill>
          <a:ln w="12700">
            <a:solidFill>
              <a:srgbClr val="FBE7E2"/>
            </a:solidFill>
            <a:prstDash val="solid"/>
          </a:ln>
        </p:spPr>
      </p:sp>
      <p:sp>
        <p:nvSpPr>
          <p:cNvPr id="10" name="Text 8"/>
          <p:cNvSpPr txBox="1"/>
          <p:nvPr/>
        </p:nvSpPr>
        <p:spPr>
          <a:xfrm>
            <a:off x="8356397" y="1691640"/>
            <a:ext cx="3058058" cy="731520"/>
          </a:xfrm>
          <a:prstGeom prst="rect">
            <a:avLst/>
          </a:prstGeom>
          <a:noFill/>
          <a:ln/>
        </p:spPr>
        <p:txBody>
          <a:bodyPr wrap="square" lIns="0" tIns="0" rIns="0" bIns="0" rtlCol="0" anchor="t"/>
          <a:lstStyle/>
          <a:p>
            <a:pPr indent="0" marL="0">
              <a:buNone/>
            </a:pPr>
            <a:r>
              <a:rPr lang="en-US" sz="2000" b="1" dirty="0">
                <a:solidFill>
                  <a:srgbClr val="B0382A"/>
                </a:solidFill>
                <a:latin typeface="Century Schoolbook" pitchFamily="34" charset="0"/>
                <a:ea typeface="Century Schoolbook" pitchFamily="34" charset="-122"/>
                <a:cs typeface="Century Schoolbook" pitchFamily="34" charset="-120"/>
              </a:rPr>
              <a:t>The fix</a:t>
            </a:r>
            <a:endParaRPr lang="en-US" sz="2000" dirty="0"/>
          </a:p>
        </p:txBody>
      </p:sp>
      <p:sp>
        <p:nvSpPr>
          <p:cNvPr id="11" name="Text 9"/>
          <p:cNvSpPr txBox="1"/>
          <p:nvPr/>
        </p:nvSpPr>
        <p:spPr>
          <a:xfrm>
            <a:off x="8356397"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A component change on the output stage</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Cannot be corrected in firmware</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Rev C hardware swap is the remedy for Brannock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2B1F24"/>
                </a:solidFill>
                <a:latin typeface="Century Schoolbook" pitchFamily="34" charset="0"/>
                <a:ea typeface="Century Schoolbook" pitchFamily="34" charset="-122"/>
                <a:cs typeface="Century Schoolbook" pitchFamily="34" charset="-120"/>
              </a:rPr>
              <a:t>Where We Got It Wrong</a:t>
            </a:r>
            <a:endParaRPr lang="en-US" sz="3000" dirty="0"/>
          </a:p>
        </p:txBody>
      </p:sp>
      <p:sp>
        <p:nvSpPr>
          <p:cNvPr id="3" name="Text 1"/>
          <p:cNvSpPr txBox="1"/>
          <p:nvPr/>
        </p:nvSpPr>
        <p:spPr>
          <a:xfrm>
            <a:off x="548640" y="1508760"/>
            <a:ext cx="6766560" cy="47548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3A2C31"/>
                </a:solidFill>
                <a:latin typeface="Arial" pitchFamily="34" charset="0"/>
                <a:ea typeface="Arial" pitchFamily="34" charset="-122"/>
                <a:cs typeface="Arial" pitchFamily="34" charset="-120"/>
              </a:rPr>
              <a:t>Treated the March 18 ticket as a one-off; recalibration masked the symptom</a:t>
            </a:r>
            <a:endParaRPr lang="en-US" sz="1700" dirty="0"/>
          </a:p>
          <a:p>
            <a:pPr marL="228600" indent="-228600">
              <a:spcAft>
                <a:spcPts val="800"/>
              </a:spcAft>
              <a:buSzPct val="100000"/>
              <a:buChar char="•"/>
            </a:pPr>
            <a:r>
              <a:rPr lang="en-US" sz="1700" dirty="0">
                <a:solidFill>
                  <a:srgbClr val="3A2C31"/>
                </a:solidFill>
                <a:latin typeface="Arial" pitchFamily="34" charset="0"/>
                <a:ea typeface="Arial" pitchFamily="34" charset="-122"/>
                <a:cs typeface="Arial" pitchFamily="34" charset="-120"/>
              </a:rPr>
              <a:t>The March 31 logs sat for a week without full analysis</a:t>
            </a:r>
            <a:endParaRPr lang="en-US" sz="1700" dirty="0"/>
          </a:p>
          <a:p>
            <a:pPr marL="228600" indent="-228600">
              <a:spcAft>
                <a:spcPts val="800"/>
              </a:spcAft>
              <a:buSzPct val="100000"/>
              <a:buChar char="•"/>
            </a:pPr>
            <a:r>
              <a:rPr lang="en-US" sz="1700" dirty="0">
                <a:solidFill>
                  <a:srgbClr val="3A2C31"/>
                </a:solidFill>
                <a:latin typeface="Arial" pitchFamily="34" charset="0"/>
                <a:ea typeface="Arial" pitchFamily="34" charset="-122"/>
                <a:cs typeface="Arial" pitchFamily="34" charset="-120"/>
              </a:rPr>
              <a:t>Nobody connected Brannock to the Rev B drift already seen at other accounts</a:t>
            </a:r>
            <a:endParaRPr lang="en-US" sz="1700" dirty="0"/>
          </a:p>
          <a:p>
            <a:pPr marL="228600" indent="-228600">
              <a:spcAft>
                <a:spcPts val="800"/>
              </a:spcAft>
              <a:buSzPct val="100000"/>
              <a:buChar char="•"/>
            </a:pPr>
            <a:r>
              <a:rPr lang="en-US" sz="1700" dirty="0">
                <a:solidFill>
                  <a:srgbClr val="3A2C31"/>
                </a:solidFill>
                <a:latin typeface="Arial" pitchFamily="34" charset="0"/>
                <a:ea typeface="Arial" pitchFamily="34" charset="-122"/>
                <a:cs typeface="Arial" pitchFamily="34" charset="-120"/>
              </a:rPr>
              <a:t>Sales had no visibility: Jamal was discussing renewal with procurement, unaware</a:t>
            </a:r>
            <a:endParaRPr lang="en-US" sz="1700" dirty="0"/>
          </a:p>
          <a:p>
            <a:pPr marL="228600" indent="-228600">
              <a:spcAft>
                <a:spcPts val="800"/>
              </a:spcAft>
              <a:buSzPct val="100000"/>
              <a:buChar char="•"/>
            </a:pPr>
            <a:r>
              <a:rPr lang="en-US" sz="1700" dirty="0">
                <a:solidFill>
                  <a:srgbClr val="3A2C31"/>
                </a:solidFill>
                <a:latin typeface="Arial" pitchFamily="34" charset="0"/>
                <a:ea typeface="Arial" pitchFamily="34" charset="-122"/>
                <a:cs typeface="Arial" pitchFamily="34" charset="-120"/>
              </a:rPr>
              <a:t>The customer escalated to us before we escalated to them</a:t>
            </a:r>
            <a:endParaRPr lang="en-US" sz="1700" dirty="0"/>
          </a:p>
        </p:txBody>
      </p:sp>
      <p:sp>
        <p:nvSpPr>
          <p:cNvPr id="4" name="Shape 2"/>
          <p:cNvSpPr/>
          <p:nvPr/>
        </p:nvSpPr>
        <p:spPr>
          <a:xfrm>
            <a:off x="7772400" y="1508760"/>
            <a:ext cx="3870655" cy="4480560"/>
          </a:xfrm>
          <a:prstGeom prst="roundRect">
            <a:avLst>
              <a:gd name="adj" fmla="val 1890"/>
            </a:avLst>
          </a:prstGeom>
          <a:solidFill>
            <a:srgbClr val="2B1F24"/>
          </a:solidFill>
          <a:ln w="12700">
            <a:solidFill>
              <a:srgbClr val="2B1F24"/>
            </a:solidFill>
            <a:prstDash val="solid"/>
          </a:ln>
        </p:spPr>
      </p:sp>
      <p:sp>
        <p:nvSpPr>
          <p:cNvPr id="5" name="Text 3"/>
          <p:cNvSpPr txBox="1"/>
          <p:nvPr/>
        </p:nvSpPr>
        <p:spPr>
          <a:xfrm>
            <a:off x="8092440" y="1828800"/>
            <a:ext cx="3230575" cy="1188720"/>
          </a:xfrm>
          <a:prstGeom prst="rect">
            <a:avLst/>
          </a:prstGeom>
          <a:noFill/>
          <a:ln/>
        </p:spPr>
        <p:txBody>
          <a:bodyPr wrap="square" lIns="0" tIns="0" rIns="0" bIns="0" rtlCol="0" anchor="b"/>
          <a:lstStyle/>
          <a:p>
            <a:pPr indent="0" marL="0">
              <a:buNone/>
            </a:pPr>
            <a:r>
              <a:rPr lang="en-US" sz="4800" b="1" dirty="0">
                <a:solidFill>
                  <a:srgbClr val="E86F4F"/>
                </a:solidFill>
                <a:latin typeface="Century Schoolbook" pitchFamily="34" charset="0"/>
                <a:ea typeface="Century Schoolbook" pitchFamily="34" charset="-122"/>
                <a:cs typeface="Century Schoolbook" pitchFamily="34" charset="-120"/>
              </a:rPr>
              <a:t>21 days</a:t>
            </a:r>
            <a:endParaRPr lang="en-US" sz="4800" dirty="0"/>
          </a:p>
        </p:txBody>
      </p:sp>
      <p:sp>
        <p:nvSpPr>
          <p:cNvPr id="6" name="Text 4"/>
          <p:cNvSpPr txBox="1"/>
          <p:nvPr/>
        </p:nvSpPr>
        <p:spPr>
          <a:xfrm>
            <a:off x="8092440" y="3154680"/>
            <a:ext cx="3230575" cy="256032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From Brannock's first ticket to our first call to them about the underlying problem.</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1F24"/>
        </a:solidFill>
      </p:bgPr>
    </p:bg>
    <p:spTree>
      <p:nvGrpSpPr>
        <p:cNvPr id="1" name=""/>
        <p:cNvGrpSpPr/>
        <p:nvPr/>
      </p:nvGrpSpPr>
      <p:grpSpPr>
        <a:xfrm>
          <a:off x="0" y="0"/>
          <a:ext cx="0" cy="0"/>
          <a:chOff x="0" y="0"/>
          <a:chExt cx="0" cy="0"/>
        </a:xfrm>
      </p:grpSpPr>
      <p:sp>
        <p:nvSpPr>
          <p:cNvPr id="2" name="Shape 0"/>
          <p:cNvSpPr/>
          <p:nvPr/>
        </p:nvSpPr>
        <p:spPr>
          <a:xfrm>
            <a:off x="548640" y="2148840"/>
            <a:ext cx="1188720" cy="1188720"/>
          </a:xfrm>
          <a:prstGeom prst="ellipse">
            <a:avLst/>
          </a:prstGeom>
          <a:solidFill>
            <a:srgbClr val="E86F4F"/>
          </a:solidFill>
          <a:ln w="12700">
            <a:solidFill>
              <a:srgbClr val="E86F4F"/>
            </a:solidFill>
            <a:prstDash val="solid"/>
          </a:ln>
        </p:spPr>
      </p:sp>
      <p:sp>
        <p:nvSpPr>
          <p:cNvPr id="3" name="Text 1"/>
          <p:cNvSpPr txBox="1"/>
          <p:nvPr/>
        </p:nvSpPr>
        <p:spPr>
          <a:xfrm>
            <a:off x="548640" y="2148840"/>
            <a:ext cx="1188720" cy="1188720"/>
          </a:xfrm>
          <a:prstGeom prst="rect">
            <a:avLst/>
          </a:prstGeom>
          <a:noFill/>
          <a:ln/>
        </p:spPr>
        <p:txBody>
          <a:bodyPr wrap="square" lIns="0" tIns="0" rIns="0" bIns="0" rtlCol="0" anchor="ctr"/>
          <a:lstStyle/>
          <a:p>
            <a:pPr algn="ctr" indent="0" marL="0">
              <a:buNone/>
            </a:pPr>
            <a:r>
              <a:rPr lang="en-US" sz="3000" b="1" dirty="0">
                <a:solidFill>
                  <a:srgbClr val="2B1F24"/>
                </a:solidFill>
                <a:latin typeface="Century Schoolbook" pitchFamily="34" charset="0"/>
                <a:ea typeface="Century Schoolbook" pitchFamily="34" charset="-122"/>
                <a:cs typeface="Century Schoolbook" pitchFamily="34" charset="-120"/>
              </a:rPr>
              <a:t>02</a:t>
            </a:r>
            <a:endParaRPr lang="en-US" sz="3000" dirty="0"/>
          </a:p>
        </p:txBody>
      </p:sp>
      <p:sp>
        <p:nvSpPr>
          <p:cNvPr id="4" name="Text 2"/>
          <p:cNvSpPr txBox="1"/>
          <p:nvPr/>
        </p:nvSpPr>
        <p:spPr>
          <a:xfrm>
            <a:off x="2103120" y="2057400"/>
            <a:ext cx="8686800" cy="822960"/>
          </a:xfrm>
          <a:prstGeom prst="rect">
            <a:avLst/>
          </a:prstGeom>
          <a:noFill/>
          <a:ln/>
        </p:spPr>
        <p:txBody>
          <a:bodyPr wrap="square" lIns="0" tIns="0" rIns="0" bIns="0" rtlCol="0" anchor="ctr"/>
          <a:lstStyle/>
          <a:p>
            <a:pPr indent="0" marL="0">
              <a:buNone/>
            </a:pPr>
            <a:r>
              <a:rPr lang="en-US" sz="3600" b="1" dirty="0">
                <a:solidFill>
                  <a:srgbClr val="FFFFFF"/>
                </a:solidFill>
                <a:latin typeface="Century Schoolbook" pitchFamily="34" charset="0"/>
                <a:ea typeface="Century Schoolbook" pitchFamily="34" charset="-122"/>
                <a:cs typeface="Century Schoolbook" pitchFamily="34" charset="-120"/>
              </a:rPr>
              <a:t>Recovery So Far</a:t>
            </a:r>
            <a:endParaRPr lang="en-US" sz="3600" dirty="0"/>
          </a:p>
        </p:txBody>
      </p:sp>
      <p:sp>
        <p:nvSpPr>
          <p:cNvPr id="5" name="Text 3"/>
          <p:cNvSpPr txBox="1"/>
          <p:nvPr/>
        </p:nvSpPr>
        <p:spPr>
          <a:xfrm>
            <a:off x="2103120" y="2880360"/>
            <a:ext cx="8686800" cy="548640"/>
          </a:xfrm>
          <a:prstGeom prst="rect">
            <a:avLst/>
          </a:prstGeom>
          <a:noFill/>
          <a:ln/>
        </p:spPr>
        <p:txBody>
          <a:bodyPr wrap="square" lIns="0" tIns="0" rIns="0" bIns="0" rtlCol="0" anchor="ctr"/>
          <a:lstStyle/>
          <a:p>
            <a:pPr indent="0" marL="0">
              <a:buNone/>
            </a:pPr>
            <a:r>
              <a:rPr lang="en-US" sz="1600" dirty="0">
                <a:solidFill>
                  <a:srgbClr val="D8C9CD"/>
                </a:solidFill>
                <a:latin typeface="Arial" pitchFamily="34" charset="0"/>
                <a:ea typeface="Arial" pitchFamily="34" charset="-122"/>
                <a:cs typeface="Arial" pitchFamily="34" charset="-120"/>
              </a:rPr>
              <a:t>The site visit, what it found, and where we stand contractually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2B1F24"/>
                </a:solidFill>
                <a:latin typeface="Century Schoolbook" pitchFamily="34" charset="0"/>
                <a:ea typeface="Century Schoolbook" pitchFamily="34" charset="-122"/>
                <a:cs typeface="Century Schoolbook" pitchFamily="34" charset="-120"/>
              </a:rPr>
              <a:t>The April 9 Site Visit</a:t>
            </a:r>
            <a:endParaRPr lang="en-US" sz="3000" dirty="0"/>
          </a:p>
        </p:txBody>
      </p:sp>
      <p:sp>
        <p:nvSpPr>
          <p:cNvPr id="3" name="Shape 1"/>
          <p:cNvSpPr/>
          <p:nvPr/>
        </p:nvSpPr>
        <p:spPr>
          <a:xfrm>
            <a:off x="548640" y="1463040"/>
            <a:ext cx="3515258" cy="4846320"/>
          </a:xfrm>
          <a:prstGeom prst="roundRect">
            <a:avLst>
              <a:gd name="adj" fmla="val 2081"/>
            </a:avLst>
          </a:prstGeom>
          <a:solidFill>
            <a:srgbClr val="F3EEEF"/>
          </a:solidFill>
          <a:ln w="12700">
            <a:solidFill>
              <a:srgbClr val="F3EEEF"/>
            </a:solidFill>
            <a:prstDash val="solid"/>
          </a:ln>
        </p:spPr>
      </p:sp>
      <p:sp>
        <p:nvSpPr>
          <p:cNvPr id="4" name="Text 2"/>
          <p:cNvSpPr txBox="1"/>
          <p:nvPr/>
        </p:nvSpPr>
        <p:spPr>
          <a:xfrm>
            <a:off x="777240" y="1691640"/>
            <a:ext cx="3058058" cy="731520"/>
          </a:xfrm>
          <a:prstGeom prst="rect">
            <a:avLst/>
          </a:prstGeom>
          <a:noFill/>
          <a:ln/>
        </p:spPr>
        <p:txBody>
          <a:bodyPr wrap="square" lIns="0" tIns="0" rIns="0" bIns="0" rtlCol="0" anchor="t"/>
          <a:lstStyle/>
          <a:p>
            <a:pPr indent="0" marL="0">
              <a:buNone/>
            </a:pPr>
            <a:r>
              <a:rPr lang="en-US" sz="2000" b="1" dirty="0">
                <a:solidFill>
                  <a:srgbClr val="7A2E3A"/>
                </a:solidFill>
                <a:latin typeface="Century Schoolbook" pitchFamily="34" charset="0"/>
                <a:ea typeface="Century Schoolbook" pitchFamily="34" charset="-122"/>
                <a:cs typeface="Century Schoolbook" pitchFamily="34" charset="-120"/>
              </a:rPr>
              <a:t>Replacement</a:t>
            </a:r>
            <a:endParaRPr lang="en-US" sz="2000" dirty="0"/>
          </a:p>
        </p:txBody>
      </p:sp>
      <p:sp>
        <p:nvSpPr>
          <p:cNvPr id="5" name="Text 3"/>
          <p:cNvSpPr txBox="1"/>
          <p:nvPr/>
        </p:nvSpPr>
        <p:spPr>
          <a:xfrm>
            <a:off x="777240"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BRN-0042, BRN-0067, BRN-0091 swapped to Rev C</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Units pulled from inventory by Devon the day before</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Removed Rev B units returned for teardown</a:t>
            </a:r>
            <a:endParaRPr lang="en-US" sz="1500" dirty="0"/>
          </a:p>
        </p:txBody>
      </p:sp>
      <p:sp>
        <p:nvSpPr>
          <p:cNvPr id="6" name="Shape 4"/>
          <p:cNvSpPr/>
          <p:nvPr/>
        </p:nvSpPr>
        <p:spPr>
          <a:xfrm>
            <a:off x="4338218" y="1463040"/>
            <a:ext cx="3515258" cy="4846320"/>
          </a:xfrm>
          <a:prstGeom prst="roundRect">
            <a:avLst>
              <a:gd name="adj" fmla="val 2081"/>
            </a:avLst>
          </a:prstGeom>
          <a:solidFill>
            <a:srgbClr val="F3EEEF"/>
          </a:solidFill>
          <a:ln w="12700">
            <a:solidFill>
              <a:srgbClr val="F3EEEF"/>
            </a:solidFill>
            <a:prstDash val="solid"/>
          </a:ln>
        </p:spPr>
      </p:sp>
      <p:sp>
        <p:nvSpPr>
          <p:cNvPr id="7" name="Text 5"/>
          <p:cNvSpPr txBox="1"/>
          <p:nvPr/>
        </p:nvSpPr>
        <p:spPr>
          <a:xfrm>
            <a:off x="4566818" y="1691640"/>
            <a:ext cx="3058058" cy="731520"/>
          </a:xfrm>
          <a:prstGeom prst="rect">
            <a:avLst/>
          </a:prstGeom>
          <a:noFill/>
          <a:ln/>
        </p:spPr>
        <p:txBody>
          <a:bodyPr wrap="square" lIns="0" tIns="0" rIns="0" bIns="0" rtlCol="0" anchor="t"/>
          <a:lstStyle/>
          <a:p>
            <a:pPr indent="0" marL="0">
              <a:buNone/>
            </a:pPr>
            <a:r>
              <a:rPr lang="en-US" sz="2000" b="1" dirty="0">
                <a:solidFill>
                  <a:srgbClr val="7A2E3A"/>
                </a:solidFill>
                <a:latin typeface="Century Schoolbook" pitchFamily="34" charset="0"/>
                <a:ea typeface="Century Schoolbook" pitchFamily="34" charset="-122"/>
                <a:cs typeface="Century Schoolbook" pitchFamily="34" charset="-120"/>
              </a:rPr>
              <a:t>Verification</a:t>
            </a:r>
            <a:endParaRPr lang="en-US" sz="2000" dirty="0"/>
          </a:p>
        </p:txBody>
      </p:sp>
      <p:sp>
        <p:nvSpPr>
          <p:cNvPr id="8" name="Text 6"/>
          <p:cNvSpPr txBox="1"/>
          <p:nvPr/>
        </p:nvSpPr>
        <p:spPr>
          <a:xfrm>
            <a:off x="4566818"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24 hours of monitored operation before restart</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Both lines back in service April 10</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No dropouts since restart</a:t>
            </a:r>
            <a:endParaRPr lang="en-US" sz="1500" dirty="0"/>
          </a:p>
        </p:txBody>
      </p:sp>
      <p:sp>
        <p:nvSpPr>
          <p:cNvPr id="9" name="Shape 7"/>
          <p:cNvSpPr/>
          <p:nvPr/>
        </p:nvSpPr>
        <p:spPr>
          <a:xfrm>
            <a:off x="8127797" y="1463040"/>
            <a:ext cx="3515258" cy="4846320"/>
          </a:xfrm>
          <a:prstGeom prst="roundRect">
            <a:avLst>
              <a:gd name="adj" fmla="val 2081"/>
            </a:avLst>
          </a:prstGeom>
          <a:solidFill>
            <a:srgbClr val="FBE7E2"/>
          </a:solidFill>
          <a:ln w="12700">
            <a:solidFill>
              <a:srgbClr val="FBE7E2"/>
            </a:solidFill>
            <a:prstDash val="solid"/>
          </a:ln>
        </p:spPr>
      </p:sp>
      <p:sp>
        <p:nvSpPr>
          <p:cNvPr id="10" name="Text 8"/>
          <p:cNvSpPr txBox="1"/>
          <p:nvPr/>
        </p:nvSpPr>
        <p:spPr>
          <a:xfrm>
            <a:off x="8356397" y="1691640"/>
            <a:ext cx="3058058" cy="731520"/>
          </a:xfrm>
          <a:prstGeom prst="rect">
            <a:avLst/>
          </a:prstGeom>
          <a:noFill/>
          <a:ln/>
        </p:spPr>
        <p:txBody>
          <a:bodyPr wrap="square" lIns="0" tIns="0" rIns="0" bIns="0" rtlCol="0" anchor="t"/>
          <a:lstStyle/>
          <a:p>
            <a:pPr indent="0" marL="0">
              <a:buNone/>
            </a:pPr>
            <a:r>
              <a:rPr lang="en-US" sz="2000" b="1" dirty="0">
                <a:solidFill>
                  <a:srgbClr val="B0382A"/>
                </a:solidFill>
                <a:latin typeface="Century Schoolbook" pitchFamily="34" charset="0"/>
                <a:ea typeface="Century Schoolbook" pitchFamily="34" charset="-122"/>
                <a:cs typeface="Century Schoolbook" pitchFamily="34" charset="-120"/>
              </a:rPr>
              <a:t>Site survey</a:t>
            </a:r>
            <a:endParaRPr lang="en-US" sz="2000" dirty="0"/>
          </a:p>
        </p:txBody>
      </p:sp>
      <p:sp>
        <p:nvSpPr>
          <p:cNvPr id="11" name="Text 9"/>
          <p:cNvSpPr txBox="1"/>
          <p:nvPr/>
        </p:nvSpPr>
        <p:spPr>
          <a:xfrm>
            <a:off x="8356397"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Ambient measured at every sensor location</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Range 54–63°C across the day</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Two locations exceed 60°C at afternoon peak</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2B1F24"/>
                </a:solidFill>
                <a:latin typeface="Century Schoolbook" pitchFamily="34" charset="0"/>
                <a:ea typeface="Century Schoolbook" pitchFamily="34" charset="-122"/>
                <a:cs typeface="Century Schoolbook" pitchFamily="34" charset="-120"/>
              </a:rPr>
              <a:t>What the Site Survey Changes</a:t>
            </a:r>
            <a:endParaRPr lang="en-US" sz="3000" dirty="0"/>
          </a:p>
        </p:txBody>
      </p:sp>
      <p:sp>
        <p:nvSpPr>
          <p:cNvPr id="3" name="Text 1"/>
          <p:cNvSpPr txBox="1"/>
          <p:nvPr/>
        </p:nvSpPr>
        <p:spPr>
          <a:xfrm>
            <a:off x="548640" y="1508760"/>
            <a:ext cx="6766560" cy="47548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3A2C31"/>
                </a:solidFill>
                <a:latin typeface="Arial" pitchFamily="34" charset="0"/>
                <a:ea typeface="Arial" pitchFamily="34" charset="-122"/>
                <a:cs typeface="Arial" pitchFamily="34" charset="-120"/>
              </a:rPr>
              <a:t>Two of three locations regularly run above 55°C</a:t>
            </a:r>
            <a:endParaRPr lang="en-US" sz="1700" dirty="0"/>
          </a:p>
          <a:p>
            <a:pPr marL="228600" indent="-228600">
              <a:spcAft>
                <a:spcPts val="800"/>
              </a:spcAft>
              <a:buSzPct val="100000"/>
              <a:buChar char="•"/>
            </a:pPr>
            <a:r>
              <a:rPr lang="en-US" sz="1700" dirty="0">
                <a:solidFill>
                  <a:srgbClr val="3A2C31"/>
                </a:solidFill>
                <a:latin typeface="Arial" pitchFamily="34" charset="0"/>
                <a:ea typeface="Arial" pitchFamily="34" charset="-122"/>
                <a:cs typeface="Arial" pitchFamily="34" charset="-120"/>
              </a:rPr>
              <a:t>Rev C fixes the drift, but those locations sit at the edge of any XT-9's comfortable range</a:t>
            </a:r>
            <a:endParaRPr lang="en-US" sz="1700" dirty="0"/>
          </a:p>
          <a:p>
            <a:pPr marL="228600" indent="-228600">
              <a:spcAft>
                <a:spcPts val="800"/>
              </a:spcAft>
              <a:buSzPct val="100000"/>
              <a:buChar char="•"/>
            </a:pPr>
            <a:r>
              <a:rPr lang="en-US" sz="1700" dirty="0">
                <a:solidFill>
                  <a:srgbClr val="3A2C31"/>
                </a:solidFill>
                <a:latin typeface="Arial" pitchFamily="34" charset="0"/>
                <a:ea typeface="Arial" pitchFamily="34" charset="-122"/>
                <a:cs typeface="Arial" pitchFamily="34" charset="-120"/>
              </a:rPr>
              <a:t>Options: relocate or shield the two sensors, or specify a higher-temperature sensor</a:t>
            </a:r>
            <a:endParaRPr lang="en-US" sz="1700" dirty="0"/>
          </a:p>
          <a:p>
            <a:pPr marL="228600" indent="-228600">
              <a:spcAft>
                <a:spcPts val="800"/>
              </a:spcAft>
              <a:buSzPct val="100000"/>
              <a:buChar char="•"/>
            </a:pPr>
            <a:r>
              <a:rPr lang="en-US" sz="1700" dirty="0">
                <a:solidFill>
                  <a:srgbClr val="3A2C31"/>
                </a:solidFill>
                <a:latin typeface="Arial" pitchFamily="34" charset="0"/>
                <a:ea typeface="Arial" pitchFamily="34" charset="-122"/>
                <a:cs typeface="Arial" pitchFamily="34" charset="-120"/>
              </a:rPr>
              <a:t>Marcus's recommendation on fit due April 21</a:t>
            </a:r>
            <a:endParaRPr lang="en-US" sz="1700" dirty="0"/>
          </a:p>
          <a:p>
            <a:pPr marL="228600" indent="-228600">
              <a:spcAft>
                <a:spcPts val="800"/>
              </a:spcAft>
              <a:buSzPct val="100000"/>
              <a:buChar char="•"/>
            </a:pPr>
            <a:r>
              <a:rPr lang="en-US" sz="1700" dirty="0">
                <a:solidFill>
                  <a:srgbClr val="3A2C31"/>
                </a:solidFill>
                <a:latin typeface="Arial" pitchFamily="34" charset="0"/>
                <a:ea typeface="Arial" pitchFamily="34" charset="-122"/>
                <a:cs typeface="Arial" pitchFamily="34" charset="-120"/>
              </a:rPr>
              <a:t>Replacing the units and seeing the problem return would end the account</a:t>
            </a:r>
            <a:endParaRPr lang="en-US" sz="1700" dirty="0"/>
          </a:p>
        </p:txBody>
      </p:sp>
      <p:sp>
        <p:nvSpPr>
          <p:cNvPr id="4" name="Shape 2"/>
          <p:cNvSpPr/>
          <p:nvPr/>
        </p:nvSpPr>
        <p:spPr>
          <a:xfrm>
            <a:off x="7772400" y="1508760"/>
            <a:ext cx="3870655" cy="4480560"/>
          </a:xfrm>
          <a:prstGeom prst="roundRect">
            <a:avLst>
              <a:gd name="adj" fmla="val 1890"/>
            </a:avLst>
          </a:prstGeom>
          <a:solidFill>
            <a:srgbClr val="2B1F24"/>
          </a:solidFill>
          <a:ln w="12700">
            <a:solidFill>
              <a:srgbClr val="2B1F24"/>
            </a:solidFill>
            <a:prstDash val="solid"/>
          </a:ln>
        </p:spPr>
      </p:sp>
      <p:sp>
        <p:nvSpPr>
          <p:cNvPr id="5" name="Text 3"/>
          <p:cNvSpPr txBox="1"/>
          <p:nvPr/>
        </p:nvSpPr>
        <p:spPr>
          <a:xfrm>
            <a:off x="8092440" y="1828800"/>
            <a:ext cx="3230575" cy="1188720"/>
          </a:xfrm>
          <a:prstGeom prst="rect">
            <a:avLst/>
          </a:prstGeom>
          <a:noFill/>
          <a:ln/>
        </p:spPr>
        <p:txBody>
          <a:bodyPr wrap="square" lIns="0" tIns="0" rIns="0" bIns="0" rtlCol="0" anchor="b"/>
          <a:lstStyle/>
          <a:p>
            <a:pPr indent="0" marL="0">
              <a:buNone/>
            </a:pPr>
            <a:r>
              <a:rPr lang="en-US" sz="4800" b="1" dirty="0">
                <a:solidFill>
                  <a:srgbClr val="E86F4F"/>
                </a:solidFill>
                <a:latin typeface="Century Schoolbook" pitchFamily="34" charset="0"/>
                <a:ea typeface="Century Schoolbook" pitchFamily="34" charset="-122"/>
                <a:cs typeface="Century Schoolbook" pitchFamily="34" charset="-120"/>
              </a:rPr>
              <a:t>63°C</a:t>
            </a:r>
            <a:endParaRPr lang="en-US" sz="4800" dirty="0"/>
          </a:p>
        </p:txBody>
      </p:sp>
      <p:sp>
        <p:nvSpPr>
          <p:cNvPr id="6" name="Text 4"/>
          <p:cNvSpPr txBox="1"/>
          <p:nvPr/>
        </p:nvSpPr>
        <p:spPr>
          <a:xfrm>
            <a:off x="8092440" y="3154680"/>
            <a:ext cx="3230575" cy="256032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Peak ambient measured at a Brannock sensor location, above the XT-9's 60°C rating.</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2B1F24"/>
                </a:solidFill>
                <a:latin typeface="Century Schoolbook" pitchFamily="34" charset="0"/>
                <a:ea typeface="Century Schoolbook" pitchFamily="34" charset="-122"/>
                <a:cs typeface="Century Schoolbook" pitchFamily="34" charset="-120"/>
              </a:rPr>
              <a:t>Contract and Liability Position</a:t>
            </a:r>
            <a:endParaRPr lang="en-US" sz="3000" dirty="0"/>
          </a:p>
        </p:txBody>
      </p:sp>
      <p:sp>
        <p:nvSpPr>
          <p:cNvPr id="3" name="Shape 1"/>
          <p:cNvSpPr/>
          <p:nvPr/>
        </p:nvSpPr>
        <p:spPr>
          <a:xfrm>
            <a:off x="548640" y="1463040"/>
            <a:ext cx="3515258" cy="4846320"/>
          </a:xfrm>
          <a:prstGeom prst="roundRect">
            <a:avLst>
              <a:gd name="adj" fmla="val 2081"/>
            </a:avLst>
          </a:prstGeom>
          <a:solidFill>
            <a:srgbClr val="F3EEEF"/>
          </a:solidFill>
          <a:ln w="12700">
            <a:solidFill>
              <a:srgbClr val="F3EEEF"/>
            </a:solidFill>
            <a:prstDash val="solid"/>
          </a:ln>
        </p:spPr>
      </p:sp>
      <p:sp>
        <p:nvSpPr>
          <p:cNvPr id="4" name="Text 2"/>
          <p:cNvSpPr txBox="1"/>
          <p:nvPr/>
        </p:nvSpPr>
        <p:spPr>
          <a:xfrm>
            <a:off x="777240" y="1691640"/>
            <a:ext cx="3058058" cy="731520"/>
          </a:xfrm>
          <a:prstGeom prst="rect">
            <a:avLst/>
          </a:prstGeom>
          <a:noFill/>
          <a:ln/>
        </p:spPr>
        <p:txBody>
          <a:bodyPr wrap="square" lIns="0" tIns="0" rIns="0" bIns="0" rtlCol="0" anchor="t"/>
          <a:lstStyle/>
          <a:p>
            <a:pPr indent="0" marL="0">
              <a:buNone/>
            </a:pPr>
            <a:r>
              <a:rPr lang="en-US" sz="2000" b="1" dirty="0">
                <a:solidFill>
                  <a:srgbClr val="7A2E3A"/>
                </a:solidFill>
                <a:latin typeface="Century Schoolbook" pitchFamily="34" charset="0"/>
                <a:ea typeface="Century Schoolbook" pitchFamily="34" charset="-122"/>
                <a:cs typeface="Century Schoolbook" pitchFamily="34" charset="-120"/>
              </a:rPr>
              <a:t>What the contract says</a:t>
            </a:r>
            <a:endParaRPr lang="en-US" sz="2000" dirty="0"/>
          </a:p>
        </p:txBody>
      </p:sp>
      <p:sp>
        <p:nvSpPr>
          <p:cNvPr id="5" name="Text 3"/>
          <p:cNvSpPr txBox="1"/>
          <p:nvPr/>
        </p:nvSpPr>
        <p:spPr>
          <a:xfrm>
            <a:off x="777240"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Consequential damages excluded</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Liability capped at fees paid in the prior 12 months</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Lost production on the two lines not recoverable from us</a:t>
            </a:r>
            <a:endParaRPr lang="en-US" sz="1500" dirty="0"/>
          </a:p>
        </p:txBody>
      </p:sp>
      <p:sp>
        <p:nvSpPr>
          <p:cNvPr id="6" name="Shape 4"/>
          <p:cNvSpPr/>
          <p:nvPr/>
        </p:nvSpPr>
        <p:spPr>
          <a:xfrm>
            <a:off x="4338218" y="1463040"/>
            <a:ext cx="3515258" cy="4846320"/>
          </a:xfrm>
          <a:prstGeom prst="roundRect">
            <a:avLst>
              <a:gd name="adj" fmla="val 2081"/>
            </a:avLst>
          </a:prstGeom>
          <a:solidFill>
            <a:srgbClr val="FBE7E2"/>
          </a:solidFill>
          <a:ln w="12700">
            <a:solidFill>
              <a:srgbClr val="FBE7E2"/>
            </a:solidFill>
            <a:prstDash val="solid"/>
          </a:ln>
        </p:spPr>
      </p:sp>
      <p:sp>
        <p:nvSpPr>
          <p:cNvPr id="7" name="Text 5"/>
          <p:cNvSpPr txBox="1"/>
          <p:nvPr/>
        </p:nvSpPr>
        <p:spPr>
          <a:xfrm>
            <a:off x="4566818" y="1691640"/>
            <a:ext cx="3058058" cy="731520"/>
          </a:xfrm>
          <a:prstGeom prst="rect">
            <a:avLst/>
          </a:prstGeom>
          <a:noFill/>
          <a:ln/>
        </p:spPr>
        <p:txBody>
          <a:bodyPr wrap="square" lIns="0" tIns="0" rIns="0" bIns="0" rtlCol="0" anchor="t"/>
          <a:lstStyle/>
          <a:p>
            <a:pPr indent="0" marL="0">
              <a:buNone/>
            </a:pPr>
            <a:r>
              <a:rPr lang="en-US" sz="2000" b="1" dirty="0">
                <a:solidFill>
                  <a:srgbClr val="B0382A"/>
                </a:solidFill>
                <a:latin typeface="Century Schoolbook" pitchFamily="34" charset="0"/>
                <a:ea typeface="Century Schoolbook" pitchFamily="34" charset="-122"/>
                <a:cs typeface="Century Schoolbook" pitchFamily="34" charset="-120"/>
              </a:rPr>
              <a:t>How we handle it</a:t>
            </a:r>
            <a:endParaRPr lang="en-US" sz="2000" dirty="0"/>
          </a:p>
        </p:txBody>
      </p:sp>
      <p:sp>
        <p:nvSpPr>
          <p:cNvPr id="8" name="Text 6"/>
          <p:cNvSpPr txBox="1"/>
          <p:nvPr/>
        </p:nvSpPr>
        <p:spPr>
          <a:xfrm>
            <a:off x="4566818"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Nothing written goes to Brannock without Callum's review</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Describe the fix, not fault</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No commitments on the renewal until the written account is delivered</a:t>
            </a:r>
            <a:endParaRPr lang="en-US" sz="1500" dirty="0"/>
          </a:p>
        </p:txBody>
      </p:sp>
      <p:sp>
        <p:nvSpPr>
          <p:cNvPr id="9" name="Shape 7"/>
          <p:cNvSpPr/>
          <p:nvPr/>
        </p:nvSpPr>
        <p:spPr>
          <a:xfrm>
            <a:off x="8127797" y="1463040"/>
            <a:ext cx="3515258" cy="4846320"/>
          </a:xfrm>
          <a:prstGeom prst="roundRect">
            <a:avLst>
              <a:gd name="adj" fmla="val 2081"/>
            </a:avLst>
          </a:prstGeom>
          <a:solidFill>
            <a:srgbClr val="F3EEEF"/>
          </a:solidFill>
          <a:ln w="12700">
            <a:solidFill>
              <a:srgbClr val="F3EEEF"/>
            </a:solidFill>
            <a:prstDash val="solid"/>
          </a:ln>
        </p:spPr>
      </p:sp>
      <p:sp>
        <p:nvSpPr>
          <p:cNvPr id="10" name="Text 8"/>
          <p:cNvSpPr txBox="1"/>
          <p:nvPr/>
        </p:nvSpPr>
        <p:spPr>
          <a:xfrm>
            <a:off x="8356397" y="1691640"/>
            <a:ext cx="3058058" cy="731520"/>
          </a:xfrm>
          <a:prstGeom prst="rect">
            <a:avLst/>
          </a:prstGeom>
          <a:noFill/>
          <a:ln/>
        </p:spPr>
        <p:txBody>
          <a:bodyPr wrap="square" lIns="0" tIns="0" rIns="0" bIns="0" rtlCol="0" anchor="t"/>
          <a:lstStyle/>
          <a:p>
            <a:pPr indent="0" marL="0">
              <a:buNone/>
            </a:pPr>
            <a:r>
              <a:rPr lang="en-US" sz="2000" b="1" dirty="0">
                <a:solidFill>
                  <a:srgbClr val="7A2E3A"/>
                </a:solidFill>
                <a:latin typeface="Century Schoolbook" pitchFamily="34" charset="0"/>
                <a:ea typeface="Century Schoolbook" pitchFamily="34" charset="-122"/>
                <a:cs typeface="Century Schoolbook" pitchFamily="34" charset="-120"/>
              </a:rPr>
              <a:t>Goodwill offer</a:t>
            </a:r>
            <a:endParaRPr lang="en-US" sz="2000" dirty="0"/>
          </a:p>
        </p:txBody>
      </p:sp>
      <p:sp>
        <p:nvSpPr>
          <p:cNvPr id="11" name="Text 9"/>
          <p:cNvSpPr txBox="1"/>
          <p:nvPr/>
        </p:nvSpPr>
        <p:spPr>
          <a:xfrm>
            <a:off x="8356397"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One quarter of service fees waived: $9,600</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Two spare Rev C units held on site at no charge</a:t>
            </a:r>
            <a:endParaRPr lang="en-US" sz="1500" dirty="0"/>
          </a:p>
          <a:p>
            <a:pPr marL="228600" indent="-228600">
              <a:spcAft>
                <a:spcPts val="800"/>
              </a:spcAft>
              <a:buSzPct val="100000"/>
              <a:buChar char="•"/>
            </a:pPr>
            <a:r>
              <a:rPr lang="en-US" sz="1500" dirty="0">
                <a:solidFill>
                  <a:srgbClr val="3A2C31"/>
                </a:solidFill>
                <a:latin typeface="Arial" pitchFamily="34" charset="0"/>
                <a:ea typeface="Arial" pitchFamily="34" charset="-122"/>
                <a:cs typeface="Arial" pitchFamily="34" charset="-120"/>
              </a:rPr>
              <a:t>Pending Renata's approval</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1F24"/>
        </a:solidFill>
      </p:bgPr>
    </p:bg>
    <p:spTree>
      <p:nvGrpSpPr>
        <p:cNvPr id="1" name=""/>
        <p:cNvGrpSpPr/>
        <p:nvPr/>
      </p:nvGrpSpPr>
      <p:grpSpPr>
        <a:xfrm>
          <a:off x="0" y="0"/>
          <a:ext cx="0" cy="0"/>
          <a:chOff x="0" y="0"/>
          <a:chExt cx="0" cy="0"/>
        </a:xfrm>
      </p:grpSpPr>
      <p:sp>
        <p:nvSpPr>
          <p:cNvPr id="2" name="Shape 0"/>
          <p:cNvSpPr/>
          <p:nvPr/>
        </p:nvSpPr>
        <p:spPr>
          <a:xfrm>
            <a:off x="548640" y="2148840"/>
            <a:ext cx="1188720" cy="1188720"/>
          </a:xfrm>
          <a:prstGeom prst="ellipse">
            <a:avLst/>
          </a:prstGeom>
          <a:solidFill>
            <a:srgbClr val="E86F4F"/>
          </a:solidFill>
          <a:ln w="12700">
            <a:solidFill>
              <a:srgbClr val="E86F4F"/>
            </a:solidFill>
            <a:prstDash val="solid"/>
          </a:ln>
        </p:spPr>
      </p:sp>
      <p:sp>
        <p:nvSpPr>
          <p:cNvPr id="3" name="Text 1"/>
          <p:cNvSpPr txBox="1"/>
          <p:nvPr/>
        </p:nvSpPr>
        <p:spPr>
          <a:xfrm>
            <a:off x="548640" y="2148840"/>
            <a:ext cx="1188720" cy="1188720"/>
          </a:xfrm>
          <a:prstGeom prst="rect">
            <a:avLst/>
          </a:prstGeom>
          <a:noFill/>
          <a:ln/>
        </p:spPr>
        <p:txBody>
          <a:bodyPr wrap="square" lIns="0" tIns="0" rIns="0" bIns="0" rtlCol="0" anchor="ctr"/>
          <a:lstStyle/>
          <a:p>
            <a:pPr algn="ctr" indent="0" marL="0">
              <a:buNone/>
            </a:pPr>
            <a:r>
              <a:rPr lang="en-US" sz="3000" b="1" dirty="0">
                <a:solidFill>
                  <a:srgbClr val="2B1F24"/>
                </a:solidFill>
                <a:latin typeface="Century Schoolbook" pitchFamily="34" charset="0"/>
                <a:ea typeface="Century Schoolbook" pitchFamily="34" charset="-122"/>
                <a:cs typeface="Century Schoolbook" pitchFamily="34" charset="-120"/>
              </a:rPr>
              <a:t>03</a:t>
            </a:r>
            <a:endParaRPr lang="en-US" sz="3000" dirty="0"/>
          </a:p>
        </p:txBody>
      </p:sp>
      <p:sp>
        <p:nvSpPr>
          <p:cNvPr id="4" name="Text 2"/>
          <p:cNvSpPr txBox="1"/>
          <p:nvPr/>
        </p:nvSpPr>
        <p:spPr>
          <a:xfrm>
            <a:off x="2103120" y="2057400"/>
            <a:ext cx="8686800" cy="822960"/>
          </a:xfrm>
          <a:prstGeom prst="rect">
            <a:avLst/>
          </a:prstGeom>
          <a:noFill/>
          <a:ln/>
        </p:spPr>
        <p:txBody>
          <a:bodyPr wrap="square" lIns="0" tIns="0" rIns="0" bIns="0" rtlCol="0" anchor="ctr"/>
          <a:lstStyle/>
          <a:p>
            <a:pPr indent="0" marL="0">
              <a:buNone/>
            </a:pPr>
            <a:r>
              <a:rPr lang="en-US" sz="3600" b="1" dirty="0">
                <a:solidFill>
                  <a:srgbClr val="FFFFFF"/>
                </a:solidFill>
                <a:latin typeface="Century Schoolbook" pitchFamily="34" charset="0"/>
                <a:ea typeface="Century Schoolbook" pitchFamily="34" charset="-122"/>
                <a:cs typeface="Century Schoolbook" pitchFamily="34" charset="-120"/>
              </a:rPr>
              <a:t>Recovery Plan</a:t>
            </a:r>
            <a:endParaRPr lang="en-US" sz="3600" dirty="0"/>
          </a:p>
        </p:txBody>
      </p:sp>
      <p:sp>
        <p:nvSpPr>
          <p:cNvPr id="5" name="Text 3"/>
          <p:cNvSpPr txBox="1"/>
          <p:nvPr/>
        </p:nvSpPr>
        <p:spPr>
          <a:xfrm>
            <a:off x="2103120" y="2880360"/>
            <a:ext cx="8686800" cy="548640"/>
          </a:xfrm>
          <a:prstGeom prst="rect">
            <a:avLst/>
          </a:prstGeom>
          <a:noFill/>
          <a:ln/>
        </p:spPr>
        <p:txBody>
          <a:bodyPr wrap="square" lIns="0" tIns="0" rIns="0" bIns="0" rtlCol="0" anchor="ctr"/>
          <a:lstStyle/>
          <a:p>
            <a:pPr indent="0" marL="0">
              <a:buNone/>
            </a:pPr>
            <a:r>
              <a:rPr lang="en-US" sz="1600" dirty="0">
                <a:solidFill>
                  <a:srgbClr val="D8C9CD"/>
                </a:solidFill>
                <a:latin typeface="Arial" pitchFamily="34" charset="0"/>
                <a:ea typeface="Arial" pitchFamily="34" charset="-122"/>
                <a:cs typeface="Arial" pitchFamily="34" charset="-120"/>
              </a:rPr>
              <a:t>The next 30 days, and what I need from each team</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2B1F24"/>
                </a:solidFill>
                <a:latin typeface="Century Schoolbook" pitchFamily="34" charset="0"/>
                <a:ea typeface="Century Schoolbook" pitchFamily="34" charset="-122"/>
                <a:cs typeface="Century Schoolbook" pitchFamily="34" charset="-120"/>
              </a:rPr>
              <a:t>Recovery Plan: The Next 30 Days</a:t>
            </a:r>
            <a:endParaRPr lang="en-US" sz="3000" dirty="0"/>
          </a:p>
        </p:txBody>
      </p:sp>
      <p:sp>
        <p:nvSpPr>
          <p:cNvPr id="3" name="Shape 1"/>
          <p:cNvSpPr/>
          <p:nvPr/>
        </p:nvSpPr>
        <p:spPr>
          <a:xfrm>
            <a:off x="548640" y="1517904"/>
            <a:ext cx="1554480" cy="493776"/>
          </a:xfrm>
          <a:prstGeom prst="roundRect">
            <a:avLst>
              <a:gd name="adj" fmla="val 37037"/>
            </a:avLst>
          </a:prstGeom>
          <a:solidFill>
            <a:srgbClr val="7A2E3A"/>
          </a:solidFill>
          <a:ln w="12700">
            <a:solidFill>
              <a:srgbClr val="7A2E3A"/>
            </a:solidFill>
            <a:prstDash val="solid"/>
          </a:ln>
        </p:spPr>
      </p:sp>
      <p:sp>
        <p:nvSpPr>
          <p:cNvPr id="4" name="Text 2"/>
          <p:cNvSpPr txBox="1"/>
          <p:nvPr/>
        </p:nvSpPr>
        <p:spPr>
          <a:xfrm>
            <a:off x="548640" y="1517904"/>
            <a:ext cx="1554480"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Apr 16</a:t>
            </a:r>
            <a:endParaRPr lang="en-US" sz="1400" dirty="0"/>
          </a:p>
        </p:txBody>
      </p:sp>
      <p:sp>
        <p:nvSpPr>
          <p:cNvPr id="5" name="Text 3"/>
          <p:cNvSpPr txBox="1"/>
          <p:nvPr/>
        </p:nvSpPr>
        <p:spPr>
          <a:xfrm>
            <a:off x="2377440" y="1481328"/>
            <a:ext cx="9265615" cy="56692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Written incident account</a:t>
            </a:r>
            <a:pPr indent="0" marL="0">
              <a:buNone/>
            </a:pPr>
            <a:r>
              <a:rPr lang="en-US" sz="1500" dirty="0">
                <a:solidFill>
                  <a:srgbClr val="6B5A60"/>
                </a:solidFill>
                <a:latin typeface="Arial" pitchFamily="34" charset="0"/>
                <a:ea typeface="Arial" pitchFamily="34" charset="-122"/>
                <a:cs typeface="Arial" pitchFamily="34" charset="-120"/>
              </a:rPr>
              <a:t>  To the operations director, reviewed by Callum</a:t>
            </a:r>
            <a:endParaRPr lang="en-US" sz="1500" dirty="0"/>
          </a:p>
        </p:txBody>
      </p:sp>
      <p:sp>
        <p:nvSpPr>
          <p:cNvPr id="6" name="Shape 4"/>
          <p:cNvSpPr/>
          <p:nvPr/>
        </p:nvSpPr>
        <p:spPr>
          <a:xfrm>
            <a:off x="548640" y="2176272"/>
            <a:ext cx="1554480" cy="493776"/>
          </a:xfrm>
          <a:prstGeom prst="roundRect">
            <a:avLst>
              <a:gd name="adj" fmla="val 37037"/>
            </a:avLst>
          </a:prstGeom>
          <a:solidFill>
            <a:srgbClr val="7A2E3A"/>
          </a:solidFill>
          <a:ln w="12700">
            <a:solidFill>
              <a:srgbClr val="7A2E3A"/>
            </a:solidFill>
            <a:prstDash val="solid"/>
          </a:ln>
        </p:spPr>
      </p:sp>
      <p:sp>
        <p:nvSpPr>
          <p:cNvPr id="7" name="Text 5"/>
          <p:cNvSpPr txBox="1"/>
          <p:nvPr/>
        </p:nvSpPr>
        <p:spPr>
          <a:xfrm>
            <a:off x="548640" y="2176272"/>
            <a:ext cx="1554480"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Apr 21</a:t>
            </a:r>
            <a:endParaRPr lang="en-US" sz="1400" dirty="0"/>
          </a:p>
        </p:txBody>
      </p:sp>
      <p:sp>
        <p:nvSpPr>
          <p:cNvPr id="8" name="Text 6"/>
          <p:cNvSpPr txBox="1"/>
          <p:nvPr/>
        </p:nvSpPr>
        <p:spPr>
          <a:xfrm>
            <a:off x="2377440" y="2139696"/>
            <a:ext cx="9265615" cy="56692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Fit recommendation</a:t>
            </a:r>
            <a:pPr indent="0" marL="0">
              <a:buNone/>
            </a:pPr>
            <a:r>
              <a:rPr lang="en-US" sz="1500" dirty="0">
                <a:solidFill>
                  <a:srgbClr val="6B5A60"/>
                </a:solidFill>
                <a:latin typeface="Arial" pitchFamily="34" charset="0"/>
                <a:ea typeface="Arial" pitchFamily="34" charset="-122"/>
                <a:cs typeface="Arial" pitchFamily="34" charset="-120"/>
              </a:rPr>
              <a:t>  Marcus, on the two hot locations</a:t>
            </a:r>
            <a:endParaRPr lang="en-US" sz="1500" dirty="0"/>
          </a:p>
        </p:txBody>
      </p:sp>
      <p:sp>
        <p:nvSpPr>
          <p:cNvPr id="9" name="Shape 7"/>
          <p:cNvSpPr/>
          <p:nvPr/>
        </p:nvSpPr>
        <p:spPr>
          <a:xfrm>
            <a:off x="548640" y="2834640"/>
            <a:ext cx="1554480" cy="493776"/>
          </a:xfrm>
          <a:prstGeom prst="roundRect">
            <a:avLst>
              <a:gd name="adj" fmla="val 37037"/>
            </a:avLst>
          </a:prstGeom>
          <a:solidFill>
            <a:srgbClr val="B0382A"/>
          </a:solidFill>
          <a:ln w="12700">
            <a:solidFill>
              <a:srgbClr val="B0382A"/>
            </a:solidFill>
            <a:prstDash val="solid"/>
          </a:ln>
        </p:spPr>
      </p:sp>
      <p:sp>
        <p:nvSpPr>
          <p:cNvPr id="10" name="Text 8"/>
          <p:cNvSpPr txBox="1"/>
          <p:nvPr/>
        </p:nvSpPr>
        <p:spPr>
          <a:xfrm>
            <a:off x="548640" y="2834640"/>
            <a:ext cx="1554480"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Apr 24</a:t>
            </a:r>
            <a:endParaRPr lang="en-US" sz="1400" dirty="0"/>
          </a:p>
        </p:txBody>
      </p:sp>
      <p:sp>
        <p:nvSpPr>
          <p:cNvPr id="11" name="Text 9"/>
          <p:cNvSpPr txBox="1"/>
          <p:nvPr/>
        </p:nvSpPr>
        <p:spPr>
          <a:xfrm>
            <a:off x="2377440" y="2798064"/>
            <a:ext cx="9265615" cy="56692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Joint call with Brannock</a:t>
            </a:r>
            <a:pPr indent="0" marL="0">
              <a:buNone/>
            </a:pPr>
            <a:r>
              <a:rPr lang="en-US" sz="1500" dirty="0">
                <a:solidFill>
                  <a:srgbClr val="6B5A60"/>
                </a:solidFill>
                <a:latin typeface="Arial" pitchFamily="34" charset="0"/>
                <a:ea typeface="Arial" pitchFamily="34" charset="-122"/>
                <a:cs typeface="Arial" pitchFamily="34" charset="-120"/>
              </a:rPr>
              <a:t>  Operations and procurement together</a:t>
            </a:r>
            <a:endParaRPr lang="en-US" sz="1500" dirty="0"/>
          </a:p>
        </p:txBody>
      </p:sp>
      <p:sp>
        <p:nvSpPr>
          <p:cNvPr id="12" name="Shape 10"/>
          <p:cNvSpPr/>
          <p:nvPr/>
        </p:nvSpPr>
        <p:spPr>
          <a:xfrm>
            <a:off x="548640" y="3493008"/>
            <a:ext cx="1554480" cy="493776"/>
          </a:xfrm>
          <a:prstGeom prst="roundRect">
            <a:avLst>
              <a:gd name="adj" fmla="val 37037"/>
            </a:avLst>
          </a:prstGeom>
          <a:solidFill>
            <a:srgbClr val="7A2E3A"/>
          </a:solidFill>
          <a:ln w="12700">
            <a:solidFill>
              <a:srgbClr val="7A2E3A"/>
            </a:solidFill>
            <a:prstDash val="solid"/>
          </a:ln>
        </p:spPr>
      </p:sp>
      <p:sp>
        <p:nvSpPr>
          <p:cNvPr id="13" name="Text 11"/>
          <p:cNvSpPr txBox="1"/>
          <p:nvPr/>
        </p:nvSpPr>
        <p:spPr>
          <a:xfrm>
            <a:off x="548640" y="3493008"/>
            <a:ext cx="1554480"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Apr 28</a:t>
            </a:r>
            <a:endParaRPr lang="en-US" sz="1400" dirty="0"/>
          </a:p>
        </p:txBody>
      </p:sp>
      <p:sp>
        <p:nvSpPr>
          <p:cNvPr id="14" name="Text 12"/>
          <p:cNvSpPr txBox="1"/>
          <p:nvPr/>
        </p:nvSpPr>
        <p:spPr>
          <a:xfrm>
            <a:off x="2377440" y="3456432"/>
            <a:ext cx="9265615" cy="56692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Commercial conversations resume</a:t>
            </a:r>
            <a:pPr indent="0" marL="0">
              <a:buNone/>
            </a:pPr>
            <a:r>
              <a:rPr lang="en-US" sz="1500" dirty="0">
                <a:solidFill>
                  <a:srgbClr val="6B5A60"/>
                </a:solidFill>
                <a:latin typeface="Arial" pitchFamily="34" charset="0"/>
                <a:ea typeface="Arial" pitchFamily="34" charset="-122"/>
                <a:cs typeface="Arial" pitchFamily="34" charset="-120"/>
              </a:rPr>
              <a:t>  Jamal leads renewal and expansion</a:t>
            </a:r>
            <a:endParaRPr lang="en-US" sz="1500" dirty="0"/>
          </a:p>
        </p:txBody>
      </p:sp>
      <p:sp>
        <p:nvSpPr>
          <p:cNvPr id="15" name="Shape 13"/>
          <p:cNvSpPr/>
          <p:nvPr/>
        </p:nvSpPr>
        <p:spPr>
          <a:xfrm>
            <a:off x="548640" y="4151376"/>
            <a:ext cx="1554480" cy="493776"/>
          </a:xfrm>
          <a:prstGeom prst="roundRect">
            <a:avLst>
              <a:gd name="adj" fmla="val 37037"/>
            </a:avLst>
          </a:prstGeom>
          <a:solidFill>
            <a:srgbClr val="7A2E3A"/>
          </a:solidFill>
          <a:ln w="12700">
            <a:solidFill>
              <a:srgbClr val="7A2E3A"/>
            </a:solidFill>
            <a:prstDash val="solid"/>
          </a:ln>
        </p:spPr>
      </p:sp>
      <p:sp>
        <p:nvSpPr>
          <p:cNvPr id="16" name="Text 14"/>
          <p:cNvSpPr txBox="1"/>
          <p:nvPr/>
        </p:nvSpPr>
        <p:spPr>
          <a:xfrm>
            <a:off x="548640" y="4151376"/>
            <a:ext cx="1554480"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May 8</a:t>
            </a:r>
            <a:endParaRPr lang="en-US" sz="1400" dirty="0"/>
          </a:p>
        </p:txBody>
      </p:sp>
      <p:sp>
        <p:nvSpPr>
          <p:cNvPr id="17" name="Text 15"/>
          <p:cNvSpPr txBox="1"/>
          <p:nvPr/>
        </p:nvSpPr>
        <p:spPr>
          <a:xfrm>
            <a:off x="2377440" y="4114800"/>
            <a:ext cx="9265615" cy="56692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30-day data review</a:t>
            </a:r>
            <a:pPr indent="0" marL="0">
              <a:buNone/>
            </a:pPr>
            <a:r>
              <a:rPr lang="en-US" sz="1500" dirty="0">
                <a:solidFill>
                  <a:srgbClr val="6B5A60"/>
                </a:solidFill>
                <a:latin typeface="Arial" pitchFamily="34" charset="0"/>
                <a:ea typeface="Arial" pitchFamily="34" charset="-122"/>
                <a:cs typeface="Arial" pitchFamily="34" charset="-120"/>
              </a:rPr>
              <a:t>  Output logs from all three Rev C units</a:t>
            </a:r>
            <a:endParaRPr lang="en-US" sz="1500" dirty="0"/>
          </a:p>
        </p:txBody>
      </p:sp>
      <p:sp>
        <p:nvSpPr>
          <p:cNvPr id="18" name="Shape 16"/>
          <p:cNvSpPr/>
          <p:nvPr/>
        </p:nvSpPr>
        <p:spPr>
          <a:xfrm>
            <a:off x="548640" y="4809744"/>
            <a:ext cx="1554480" cy="493776"/>
          </a:xfrm>
          <a:prstGeom prst="roundRect">
            <a:avLst>
              <a:gd name="adj" fmla="val 37037"/>
            </a:avLst>
          </a:prstGeom>
          <a:solidFill>
            <a:srgbClr val="B0382A"/>
          </a:solidFill>
          <a:ln w="12700">
            <a:solidFill>
              <a:srgbClr val="B0382A"/>
            </a:solidFill>
            <a:prstDash val="solid"/>
          </a:ln>
        </p:spPr>
      </p:sp>
      <p:sp>
        <p:nvSpPr>
          <p:cNvPr id="19" name="Text 17"/>
          <p:cNvSpPr txBox="1"/>
          <p:nvPr/>
        </p:nvSpPr>
        <p:spPr>
          <a:xfrm>
            <a:off x="548640" y="4809744"/>
            <a:ext cx="1554480"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May 31</a:t>
            </a:r>
            <a:endParaRPr lang="en-US" sz="1400" dirty="0"/>
          </a:p>
        </p:txBody>
      </p:sp>
      <p:sp>
        <p:nvSpPr>
          <p:cNvPr id="20" name="Text 18"/>
          <p:cNvSpPr txBox="1"/>
          <p:nvPr/>
        </p:nvSpPr>
        <p:spPr>
          <a:xfrm>
            <a:off x="2377440" y="4773168"/>
            <a:ext cx="9265615" cy="56692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Service agreement renewal</a:t>
            </a:r>
            <a:pPr indent="0" marL="0">
              <a:buNone/>
            </a:pPr>
            <a:r>
              <a:rPr lang="en-US" sz="1500" dirty="0">
                <a:solidFill>
                  <a:srgbClr val="6B5A60"/>
                </a:solidFill>
                <a:latin typeface="Arial" pitchFamily="34" charset="0"/>
                <a:ea typeface="Arial" pitchFamily="34" charset="-122"/>
                <a:cs typeface="Arial" pitchFamily="34" charset="-120"/>
              </a:rPr>
              <a:t>  $38,400</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2B1F24"/>
                </a:solidFill>
                <a:latin typeface="Century Schoolbook" pitchFamily="34" charset="0"/>
                <a:ea typeface="Century Schoolbook" pitchFamily="34" charset="-122"/>
                <a:cs typeface="Century Schoolbook" pitchFamily="34" charset="-120"/>
              </a:rPr>
              <a:t>What We Need From Other Teams</a:t>
            </a:r>
            <a:endParaRPr lang="en-US" sz="3000" dirty="0"/>
          </a:p>
        </p:txBody>
      </p:sp>
      <p:sp>
        <p:nvSpPr>
          <p:cNvPr id="3" name="Shape 1"/>
          <p:cNvSpPr/>
          <p:nvPr/>
        </p:nvSpPr>
        <p:spPr>
          <a:xfrm>
            <a:off x="548640" y="1463040"/>
            <a:ext cx="11094415" cy="658368"/>
          </a:xfrm>
          <a:prstGeom prst="rect">
            <a:avLst/>
          </a:prstGeom>
          <a:solidFill>
            <a:srgbClr val="F3EEEF"/>
          </a:solidFill>
          <a:ln w="12700">
            <a:solidFill>
              <a:srgbClr val="F3EEEF"/>
            </a:solidFill>
            <a:prstDash val="solid"/>
          </a:ln>
        </p:spPr>
      </p:sp>
      <p:sp>
        <p:nvSpPr>
          <p:cNvPr id="4" name="Text 2"/>
          <p:cNvSpPr txBox="1"/>
          <p:nvPr/>
        </p:nvSpPr>
        <p:spPr>
          <a:xfrm>
            <a:off x="777240" y="1463040"/>
            <a:ext cx="3291840" cy="65836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Engineering — Marcus</a:t>
            </a:r>
            <a:endParaRPr lang="en-US" sz="1500" dirty="0"/>
          </a:p>
        </p:txBody>
      </p:sp>
      <p:sp>
        <p:nvSpPr>
          <p:cNvPr id="5" name="Text 3"/>
          <p:cNvSpPr txBox="1"/>
          <p:nvPr/>
        </p:nvSpPr>
        <p:spPr>
          <a:xfrm>
            <a:off x="4114800" y="1463040"/>
            <a:ext cx="2011680" cy="658368"/>
          </a:xfrm>
          <a:prstGeom prst="rect">
            <a:avLst/>
          </a:prstGeom>
          <a:noFill/>
          <a:ln/>
        </p:spPr>
        <p:txBody>
          <a:bodyPr wrap="square" lIns="0" tIns="0" rIns="0" bIns="0" rtlCol="0" anchor="ctr"/>
          <a:lstStyle/>
          <a:p>
            <a:pPr indent="0" marL="0">
              <a:buNone/>
            </a:pPr>
            <a:r>
              <a:rPr lang="en-US" sz="1800" b="1" dirty="0">
                <a:solidFill>
                  <a:srgbClr val="7A2E3A"/>
                </a:solidFill>
                <a:latin typeface="Century Schoolbook" pitchFamily="34" charset="0"/>
                <a:ea typeface="Century Schoolbook" pitchFamily="34" charset="-122"/>
                <a:cs typeface="Century Schoolbook" pitchFamily="34" charset="-120"/>
              </a:rPr>
              <a:t>Apr 21</a:t>
            </a:r>
            <a:endParaRPr lang="en-US" sz="1800" dirty="0"/>
          </a:p>
        </p:txBody>
      </p:sp>
      <p:sp>
        <p:nvSpPr>
          <p:cNvPr id="6" name="Text 4"/>
          <p:cNvSpPr txBox="1"/>
          <p:nvPr/>
        </p:nvSpPr>
        <p:spPr>
          <a:xfrm>
            <a:off x="6309360" y="1463040"/>
            <a:ext cx="5150815" cy="658368"/>
          </a:xfrm>
          <a:prstGeom prst="rect">
            <a:avLst/>
          </a:prstGeom>
          <a:noFill/>
          <a:ln/>
        </p:spPr>
        <p:txBody>
          <a:bodyPr wrap="square" lIns="0" tIns="0" rIns="0" bIns="0" rtlCol="0" anchor="ctr"/>
          <a:lstStyle/>
          <a:p>
            <a:pPr indent="0" marL="0">
              <a:buNone/>
            </a:pPr>
            <a:r>
              <a:rPr lang="en-US" sz="1300" dirty="0">
                <a:solidFill>
                  <a:srgbClr val="6B5A60"/>
                </a:solidFill>
                <a:latin typeface="Arial" pitchFamily="34" charset="0"/>
                <a:ea typeface="Arial" pitchFamily="34" charset="-122"/>
                <a:cs typeface="Arial" pitchFamily="34" charset="-120"/>
              </a:rPr>
              <a:t>Fit recommendation for the two hot locations; Rev B teardown findings</a:t>
            </a:r>
            <a:endParaRPr lang="en-US" sz="1300" dirty="0"/>
          </a:p>
        </p:txBody>
      </p:sp>
      <p:sp>
        <p:nvSpPr>
          <p:cNvPr id="7" name="Shape 5"/>
          <p:cNvSpPr/>
          <p:nvPr/>
        </p:nvSpPr>
        <p:spPr>
          <a:xfrm>
            <a:off x="548640" y="2176272"/>
            <a:ext cx="11094415" cy="658368"/>
          </a:xfrm>
          <a:prstGeom prst="rect">
            <a:avLst/>
          </a:prstGeom>
          <a:solidFill>
            <a:srgbClr val="FFFFFF"/>
          </a:solidFill>
          <a:ln w="12700">
            <a:solidFill>
              <a:srgbClr val="FFFFFF"/>
            </a:solidFill>
            <a:prstDash val="solid"/>
          </a:ln>
        </p:spPr>
      </p:sp>
      <p:sp>
        <p:nvSpPr>
          <p:cNvPr id="8" name="Text 6"/>
          <p:cNvSpPr txBox="1"/>
          <p:nvPr/>
        </p:nvSpPr>
        <p:spPr>
          <a:xfrm>
            <a:off x="777240" y="2176272"/>
            <a:ext cx="3291840" cy="65836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Operations — Devon</a:t>
            </a:r>
            <a:endParaRPr lang="en-US" sz="1500" dirty="0"/>
          </a:p>
        </p:txBody>
      </p:sp>
      <p:sp>
        <p:nvSpPr>
          <p:cNvPr id="9" name="Text 7"/>
          <p:cNvSpPr txBox="1"/>
          <p:nvPr/>
        </p:nvSpPr>
        <p:spPr>
          <a:xfrm>
            <a:off x="4114800" y="2176272"/>
            <a:ext cx="2011680" cy="658368"/>
          </a:xfrm>
          <a:prstGeom prst="rect">
            <a:avLst/>
          </a:prstGeom>
          <a:noFill/>
          <a:ln/>
        </p:spPr>
        <p:txBody>
          <a:bodyPr wrap="square" lIns="0" tIns="0" rIns="0" bIns="0" rtlCol="0" anchor="ctr"/>
          <a:lstStyle/>
          <a:p>
            <a:pPr indent="0" marL="0">
              <a:buNone/>
            </a:pPr>
            <a:r>
              <a:rPr lang="en-US" sz="1800" b="1" dirty="0">
                <a:solidFill>
                  <a:srgbClr val="7A2E3A"/>
                </a:solidFill>
                <a:latin typeface="Century Schoolbook" pitchFamily="34" charset="0"/>
                <a:ea typeface="Century Schoolbook" pitchFamily="34" charset="-122"/>
                <a:cs typeface="Century Schoolbook" pitchFamily="34" charset="-120"/>
              </a:rPr>
              <a:t>Apr 17</a:t>
            </a:r>
            <a:endParaRPr lang="en-US" sz="1800" dirty="0"/>
          </a:p>
        </p:txBody>
      </p:sp>
      <p:sp>
        <p:nvSpPr>
          <p:cNvPr id="10" name="Text 8"/>
          <p:cNvSpPr txBox="1"/>
          <p:nvPr/>
        </p:nvSpPr>
        <p:spPr>
          <a:xfrm>
            <a:off x="6309360" y="2176272"/>
            <a:ext cx="5150815" cy="658368"/>
          </a:xfrm>
          <a:prstGeom prst="rect">
            <a:avLst/>
          </a:prstGeom>
          <a:noFill/>
          <a:ln/>
        </p:spPr>
        <p:txBody>
          <a:bodyPr wrap="square" lIns="0" tIns="0" rIns="0" bIns="0" rtlCol="0" anchor="ctr"/>
          <a:lstStyle/>
          <a:p>
            <a:pPr indent="0" marL="0">
              <a:buNone/>
            </a:pPr>
            <a:r>
              <a:rPr lang="en-US" sz="1300" dirty="0">
                <a:solidFill>
                  <a:srgbClr val="6B5A60"/>
                </a:solidFill>
                <a:latin typeface="Arial" pitchFamily="34" charset="0"/>
                <a:ea typeface="Arial" pitchFamily="34" charset="-122"/>
                <a:cs typeface="Arial" pitchFamily="34" charset="-120"/>
              </a:rPr>
              <a:t>Two spare Rev C units staged for Brannock; confirm no Rev B stock can ship</a:t>
            </a:r>
            <a:endParaRPr lang="en-US" sz="1300" dirty="0"/>
          </a:p>
        </p:txBody>
      </p:sp>
      <p:sp>
        <p:nvSpPr>
          <p:cNvPr id="11" name="Shape 9"/>
          <p:cNvSpPr/>
          <p:nvPr/>
        </p:nvSpPr>
        <p:spPr>
          <a:xfrm>
            <a:off x="548640" y="2889504"/>
            <a:ext cx="11094415" cy="658368"/>
          </a:xfrm>
          <a:prstGeom prst="rect">
            <a:avLst/>
          </a:prstGeom>
          <a:solidFill>
            <a:srgbClr val="F3EEEF"/>
          </a:solidFill>
          <a:ln w="12700">
            <a:solidFill>
              <a:srgbClr val="F3EEEF"/>
            </a:solidFill>
            <a:prstDash val="solid"/>
          </a:ln>
        </p:spPr>
      </p:sp>
      <p:sp>
        <p:nvSpPr>
          <p:cNvPr id="12" name="Text 10"/>
          <p:cNvSpPr txBox="1"/>
          <p:nvPr/>
        </p:nvSpPr>
        <p:spPr>
          <a:xfrm>
            <a:off x="777240" y="2889504"/>
            <a:ext cx="3291840" cy="65836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Support — Theo</a:t>
            </a:r>
            <a:endParaRPr lang="en-US" sz="1500" dirty="0"/>
          </a:p>
        </p:txBody>
      </p:sp>
      <p:sp>
        <p:nvSpPr>
          <p:cNvPr id="13" name="Text 11"/>
          <p:cNvSpPr txBox="1"/>
          <p:nvPr/>
        </p:nvSpPr>
        <p:spPr>
          <a:xfrm>
            <a:off x="4114800" y="2889504"/>
            <a:ext cx="2011680" cy="658368"/>
          </a:xfrm>
          <a:prstGeom prst="rect">
            <a:avLst/>
          </a:prstGeom>
          <a:noFill/>
          <a:ln/>
        </p:spPr>
        <p:txBody>
          <a:bodyPr wrap="square" lIns="0" tIns="0" rIns="0" bIns="0" rtlCol="0" anchor="ctr"/>
          <a:lstStyle/>
          <a:p>
            <a:pPr indent="0" marL="0">
              <a:buNone/>
            </a:pPr>
            <a:r>
              <a:rPr lang="en-US" sz="1800" b="1" dirty="0">
                <a:solidFill>
                  <a:srgbClr val="7A2E3A"/>
                </a:solidFill>
                <a:latin typeface="Century Schoolbook" pitchFamily="34" charset="0"/>
                <a:ea typeface="Century Schoolbook" pitchFamily="34" charset="-122"/>
                <a:cs typeface="Century Schoolbook" pitchFamily="34" charset="-120"/>
              </a:rPr>
              <a:t>Apr 17</a:t>
            </a:r>
            <a:endParaRPr lang="en-US" sz="1800" dirty="0"/>
          </a:p>
        </p:txBody>
      </p:sp>
      <p:sp>
        <p:nvSpPr>
          <p:cNvPr id="14" name="Text 12"/>
          <p:cNvSpPr txBox="1"/>
          <p:nvPr/>
        </p:nvSpPr>
        <p:spPr>
          <a:xfrm>
            <a:off x="6309360" y="2889504"/>
            <a:ext cx="5150815" cy="658368"/>
          </a:xfrm>
          <a:prstGeom prst="rect">
            <a:avLst/>
          </a:prstGeom>
          <a:noFill/>
          <a:ln/>
        </p:spPr>
        <p:txBody>
          <a:bodyPr wrap="square" lIns="0" tIns="0" rIns="0" bIns="0" rtlCol="0" anchor="ctr"/>
          <a:lstStyle/>
          <a:p>
            <a:pPr indent="0" marL="0">
              <a:buNone/>
            </a:pPr>
            <a:r>
              <a:rPr lang="en-US" sz="1300" dirty="0">
                <a:solidFill>
                  <a:srgbClr val="6B5A60"/>
                </a:solidFill>
                <a:latin typeface="Arial" pitchFamily="34" charset="0"/>
                <a:ea typeface="Arial" pitchFamily="34" charset="-122"/>
                <a:cs typeface="Arial" pitchFamily="34" charset="-120"/>
              </a:rPr>
              <a:t>List of Rev B accounts with analog output tickets; 4-hour response on Brannock</a:t>
            </a:r>
            <a:endParaRPr lang="en-US" sz="1300" dirty="0"/>
          </a:p>
        </p:txBody>
      </p:sp>
      <p:sp>
        <p:nvSpPr>
          <p:cNvPr id="15" name="Shape 13"/>
          <p:cNvSpPr/>
          <p:nvPr/>
        </p:nvSpPr>
        <p:spPr>
          <a:xfrm>
            <a:off x="548640" y="3602736"/>
            <a:ext cx="11094415" cy="658368"/>
          </a:xfrm>
          <a:prstGeom prst="rect">
            <a:avLst/>
          </a:prstGeom>
          <a:solidFill>
            <a:srgbClr val="FFFFFF"/>
          </a:solidFill>
          <a:ln w="12700">
            <a:solidFill>
              <a:srgbClr val="FFFFFF"/>
            </a:solidFill>
            <a:prstDash val="solid"/>
          </a:ln>
        </p:spPr>
      </p:sp>
      <p:sp>
        <p:nvSpPr>
          <p:cNvPr id="16" name="Text 14"/>
          <p:cNvSpPr txBox="1"/>
          <p:nvPr/>
        </p:nvSpPr>
        <p:spPr>
          <a:xfrm>
            <a:off x="777240" y="3602736"/>
            <a:ext cx="3291840" cy="65836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Legal — Callum</a:t>
            </a:r>
            <a:endParaRPr lang="en-US" sz="1500" dirty="0"/>
          </a:p>
        </p:txBody>
      </p:sp>
      <p:sp>
        <p:nvSpPr>
          <p:cNvPr id="17" name="Text 15"/>
          <p:cNvSpPr txBox="1"/>
          <p:nvPr/>
        </p:nvSpPr>
        <p:spPr>
          <a:xfrm>
            <a:off x="4114800" y="3602736"/>
            <a:ext cx="2011680" cy="658368"/>
          </a:xfrm>
          <a:prstGeom prst="rect">
            <a:avLst/>
          </a:prstGeom>
          <a:noFill/>
          <a:ln/>
        </p:spPr>
        <p:txBody>
          <a:bodyPr wrap="square" lIns="0" tIns="0" rIns="0" bIns="0" rtlCol="0" anchor="ctr"/>
          <a:lstStyle/>
          <a:p>
            <a:pPr indent="0" marL="0">
              <a:buNone/>
            </a:pPr>
            <a:r>
              <a:rPr lang="en-US" sz="1800" b="1" dirty="0">
                <a:solidFill>
                  <a:srgbClr val="7A2E3A"/>
                </a:solidFill>
                <a:latin typeface="Century Schoolbook" pitchFamily="34" charset="0"/>
                <a:ea typeface="Century Schoolbook" pitchFamily="34" charset="-122"/>
                <a:cs typeface="Century Schoolbook" pitchFamily="34" charset="-120"/>
              </a:rPr>
              <a:t>Apr 15</a:t>
            </a:r>
            <a:endParaRPr lang="en-US" sz="1800" dirty="0"/>
          </a:p>
        </p:txBody>
      </p:sp>
      <p:sp>
        <p:nvSpPr>
          <p:cNvPr id="18" name="Text 16"/>
          <p:cNvSpPr txBox="1"/>
          <p:nvPr/>
        </p:nvSpPr>
        <p:spPr>
          <a:xfrm>
            <a:off x="6309360" y="3602736"/>
            <a:ext cx="5150815" cy="658368"/>
          </a:xfrm>
          <a:prstGeom prst="rect">
            <a:avLst/>
          </a:prstGeom>
          <a:noFill/>
          <a:ln/>
        </p:spPr>
        <p:txBody>
          <a:bodyPr wrap="square" lIns="0" tIns="0" rIns="0" bIns="0" rtlCol="0" anchor="ctr"/>
          <a:lstStyle/>
          <a:p>
            <a:pPr indent="0" marL="0">
              <a:buNone/>
            </a:pPr>
            <a:r>
              <a:rPr lang="en-US" sz="1300" dirty="0">
                <a:solidFill>
                  <a:srgbClr val="6B5A60"/>
                </a:solidFill>
                <a:latin typeface="Arial" pitchFamily="34" charset="0"/>
                <a:ea typeface="Arial" pitchFamily="34" charset="-122"/>
                <a:cs typeface="Arial" pitchFamily="34" charset="-120"/>
              </a:rPr>
              <a:t>Review of the written incident account and the goodwill offer wording</a:t>
            </a:r>
            <a:endParaRPr lang="en-US" sz="1300" dirty="0"/>
          </a:p>
        </p:txBody>
      </p:sp>
      <p:sp>
        <p:nvSpPr>
          <p:cNvPr id="19" name="Shape 17"/>
          <p:cNvSpPr/>
          <p:nvPr/>
        </p:nvSpPr>
        <p:spPr>
          <a:xfrm>
            <a:off x="548640" y="4315968"/>
            <a:ext cx="11094415" cy="658368"/>
          </a:xfrm>
          <a:prstGeom prst="rect">
            <a:avLst/>
          </a:prstGeom>
          <a:solidFill>
            <a:srgbClr val="F3EEEF"/>
          </a:solidFill>
          <a:ln w="12700">
            <a:solidFill>
              <a:srgbClr val="F3EEEF"/>
            </a:solidFill>
            <a:prstDash val="solid"/>
          </a:ln>
        </p:spPr>
      </p:sp>
      <p:sp>
        <p:nvSpPr>
          <p:cNvPr id="20" name="Text 18"/>
          <p:cNvSpPr txBox="1"/>
          <p:nvPr/>
        </p:nvSpPr>
        <p:spPr>
          <a:xfrm>
            <a:off x="777240" y="4315968"/>
            <a:ext cx="3291840" cy="65836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Finance — Renata</a:t>
            </a:r>
            <a:endParaRPr lang="en-US" sz="1500" dirty="0"/>
          </a:p>
        </p:txBody>
      </p:sp>
      <p:sp>
        <p:nvSpPr>
          <p:cNvPr id="21" name="Text 19"/>
          <p:cNvSpPr txBox="1"/>
          <p:nvPr/>
        </p:nvSpPr>
        <p:spPr>
          <a:xfrm>
            <a:off x="4114800" y="4315968"/>
            <a:ext cx="2011680" cy="658368"/>
          </a:xfrm>
          <a:prstGeom prst="rect">
            <a:avLst/>
          </a:prstGeom>
          <a:noFill/>
          <a:ln/>
        </p:spPr>
        <p:txBody>
          <a:bodyPr wrap="square" lIns="0" tIns="0" rIns="0" bIns="0" rtlCol="0" anchor="ctr"/>
          <a:lstStyle/>
          <a:p>
            <a:pPr indent="0" marL="0">
              <a:buNone/>
            </a:pPr>
            <a:r>
              <a:rPr lang="en-US" sz="1800" b="1" dirty="0">
                <a:solidFill>
                  <a:srgbClr val="7A2E3A"/>
                </a:solidFill>
                <a:latin typeface="Century Schoolbook" pitchFamily="34" charset="0"/>
                <a:ea typeface="Century Schoolbook" pitchFamily="34" charset="-122"/>
                <a:cs typeface="Century Schoolbook" pitchFamily="34" charset="-120"/>
              </a:rPr>
              <a:t>Apr 16</a:t>
            </a:r>
            <a:endParaRPr lang="en-US" sz="1800" dirty="0"/>
          </a:p>
        </p:txBody>
      </p:sp>
      <p:sp>
        <p:nvSpPr>
          <p:cNvPr id="22" name="Text 20"/>
          <p:cNvSpPr txBox="1"/>
          <p:nvPr/>
        </p:nvSpPr>
        <p:spPr>
          <a:xfrm>
            <a:off x="6309360" y="4315968"/>
            <a:ext cx="5150815" cy="658368"/>
          </a:xfrm>
          <a:prstGeom prst="rect">
            <a:avLst/>
          </a:prstGeom>
          <a:noFill/>
          <a:ln/>
        </p:spPr>
        <p:txBody>
          <a:bodyPr wrap="square" lIns="0" tIns="0" rIns="0" bIns="0" rtlCol="0" anchor="ctr"/>
          <a:lstStyle/>
          <a:p>
            <a:pPr indent="0" marL="0">
              <a:buNone/>
            </a:pPr>
            <a:r>
              <a:rPr lang="en-US" sz="1300" dirty="0">
                <a:solidFill>
                  <a:srgbClr val="6B5A60"/>
                </a:solidFill>
                <a:latin typeface="Arial" pitchFamily="34" charset="0"/>
                <a:ea typeface="Arial" pitchFamily="34" charset="-122"/>
                <a:cs typeface="Arial" pitchFamily="34" charset="-120"/>
              </a:rPr>
              <a:t>Approval of the $9,600 service credit</a:t>
            </a:r>
            <a:endParaRPr lang="en-US" sz="1300" dirty="0"/>
          </a:p>
        </p:txBody>
      </p:sp>
      <p:sp>
        <p:nvSpPr>
          <p:cNvPr id="23" name="Shape 21"/>
          <p:cNvSpPr/>
          <p:nvPr/>
        </p:nvSpPr>
        <p:spPr>
          <a:xfrm>
            <a:off x="548640" y="5029200"/>
            <a:ext cx="11094415" cy="658368"/>
          </a:xfrm>
          <a:prstGeom prst="rect">
            <a:avLst/>
          </a:prstGeom>
          <a:solidFill>
            <a:srgbClr val="FFFFFF"/>
          </a:solidFill>
          <a:ln w="12700">
            <a:solidFill>
              <a:srgbClr val="FFFFFF"/>
            </a:solidFill>
            <a:prstDash val="solid"/>
          </a:ln>
        </p:spPr>
      </p:sp>
      <p:sp>
        <p:nvSpPr>
          <p:cNvPr id="24" name="Text 22"/>
          <p:cNvSpPr txBox="1"/>
          <p:nvPr/>
        </p:nvSpPr>
        <p:spPr>
          <a:xfrm>
            <a:off x="777240" y="5029200"/>
            <a:ext cx="3291840" cy="658368"/>
          </a:xfrm>
          <a:prstGeom prst="rect">
            <a:avLst/>
          </a:prstGeom>
          <a:noFill/>
          <a:ln/>
        </p:spPr>
        <p:txBody>
          <a:bodyPr wrap="square" lIns="0" tIns="0" rIns="0" bIns="0" rtlCol="0" anchor="ctr"/>
          <a:lstStyle/>
          <a:p>
            <a:pPr indent="0" marL="0">
              <a:buNone/>
            </a:pPr>
            <a:r>
              <a:rPr lang="en-US" sz="1500" b="1" dirty="0">
                <a:solidFill>
                  <a:srgbClr val="2B1F24"/>
                </a:solidFill>
                <a:latin typeface="Arial" pitchFamily="34" charset="0"/>
                <a:ea typeface="Arial" pitchFamily="34" charset="-122"/>
                <a:cs typeface="Arial" pitchFamily="34" charset="-120"/>
              </a:rPr>
              <a:t>Sales — Jamal</a:t>
            </a:r>
            <a:endParaRPr lang="en-US" sz="1500" dirty="0"/>
          </a:p>
        </p:txBody>
      </p:sp>
      <p:sp>
        <p:nvSpPr>
          <p:cNvPr id="25" name="Text 23"/>
          <p:cNvSpPr txBox="1"/>
          <p:nvPr/>
        </p:nvSpPr>
        <p:spPr>
          <a:xfrm>
            <a:off x="4114800" y="5029200"/>
            <a:ext cx="2011680" cy="658368"/>
          </a:xfrm>
          <a:prstGeom prst="rect">
            <a:avLst/>
          </a:prstGeom>
          <a:noFill/>
          <a:ln/>
        </p:spPr>
        <p:txBody>
          <a:bodyPr wrap="square" lIns="0" tIns="0" rIns="0" bIns="0" rtlCol="0" anchor="ctr"/>
          <a:lstStyle/>
          <a:p>
            <a:pPr indent="0" marL="0">
              <a:buNone/>
            </a:pPr>
            <a:r>
              <a:rPr lang="en-US" sz="1800" b="1" dirty="0">
                <a:solidFill>
                  <a:srgbClr val="7A2E3A"/>
                </a:solidFill>
                <a:latin typeface="Century Schoolbook" pitchFamily="34" charset="0"/>
                <a:ea typeface="Century Schoolbook" pitchFamily="34" charset="-122"/>
                <a:cs typeface="Century Schoolbook" pitchFamily="34" charset="-120"/>
              </a:rPr>
              <a:t>Apr 28</a:t>
            </a:r>
            <a:endParaRPr lang="en-US" sz="1800" dirty="0"/>
          </a:p>
        </p:txBody>
      </p:sp>
      <p:sp>
        <p:nvSpPr>
          <p:cNvPr id="26" name="Text 24"/>
          <p:cNvSpPr txBox="1"/>
          <p:nvPr/>
        </p:nvSpPr>
        <p:spPr>
          <a:xfrm>
            <a:off x="6309360" y="5029200"/>
            <a:ext cx="5150815" cy="658368"/>
          </a:xfrm>
          <a:prstGeom prst="rect">
            <a:avLst/>
          </a:prstGeom>
          <a:noFill/>
          <a:ln/>
        </p:spPr>
        <p:txBody>
          <a:bodyPr wrap="square" lIns="0" tIns="0" rIns="0" bIns="0" rtlCol="0" anchor="ctr"/>
          <a:lstStyle/>
          <a:p>
            <a:pPr indent="0" marL="0">
              <a:buNone/>
            </a:pPr>
            <a:r>
              <a:rPr lang="en-US" sz="1300" dirty="0">
                <a:solidFill>
                  <a:srgbClr val="6B5A60"/>
                </a:solidFill>
                <a:latin typeface="Arial" pitchFamily="34" charset="0"/>
                <a:ea typeface="Arial" pitchFamily="34" charset="-122"/>
                <a:cs typeface="Arial" pitchFamily="34" charset="-120"/>
              </a:rPr>
              <a:t>Renewal and expansion conversations, only after the joint call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2B1F24"/>
                </a:solidFill>
                <a:latin typeface="Century Schoolbook" pitchFamily="34" charset="0"/>
                <a:ea typeface="Century Schoolbook" pitchFamily="34" charset="-122"/>
                <a:cs typeface="Century Schoolbook" pitchFamily="34" charset="-120"/>
              </a:rPr>
              <a:t>Other Accounts Running Rev B Units Hot</a:t>
            </a:r>
            <a:endParaRPr lang="en-US" sz="3000" dirty="0"/>
          </a:p>
        </p:txBody>
      </p:sp>
      <p:sp>
        <p:nvSpPr>
          <p:cNvPr id="3" name="Shape 1"/>
          <p:cNvSpPr/>
          <p:nvPr/>
        </p:nvSpPr>
        <p:spPr>
          <a:xfrm>
            <a:off x="548640" y="1463040"/>
            <a:ext cx="2567864" cy="1828800"/>
          </a:xfrm>
          <a:prstGeom prst="roundRect">
            <a:avLst>
              <a:gd name="adj" fmla="val 4000"/>
            </a:avLst>
          </a:prstGeom>
          <a:solidFill>
            <a:srgbClr val="F3EEEF"/>
          </a:solidFill>
          <a:ln w="12700">
            <a:solidFill>
              <a:srgbClr val="F3EEEF"/>
            </a:solidFill>
            <a:prstDash val="solid"/>
          </a:ln>
        </p:spPr>
      </p:sp>
      <p:sp>
        <p:nvSpPr>
          <p:cNvPr id="4" name="Text 2"/>
          <p:cNvSpPr txBox="1"/>
          <p:nvPr/>
        </p:nvSpPr>
        <p:spPr>
          <a:xfrm>
            <a:off x="777240" y="1645920"/>
            <a:ext cx="2110664" cy="868680"/>
          </a:xfrm>
          <a:prstGeom prst="rect">
            <a:avLst/>
          </a:prstGeom>
          <a:noFill/>
          <a:ln/>
        </p:spPr>
        <p:txBody>
          <a:bodyPr wrap="square" lIns="0" tIns="0" rIns="0" bIns="0" rtlCol="0" anchor="ctr"/>
          <a:lstStyle/>
          <a:p>
            <a:pPr indent="0" marL="0">
              <a:buNone/>
            </a:pPr>
            <a:r>
              <a:rPr lang="en-US" sz="3400" b="1" dirty="0">
                <a:solidFill>
                  <a:srgbClr val="7A2E3A"/>
                </a:solidFill>
                <a:latin typeface="Century Schoolbook" pitchFamily="34" charset="0"/>
                <a:ea typeface="Century Schoolbook" pitchFamily="34" charset="-122"/>
                <a:cs typeface="Century Schoolbook" pitchFamily="34" charset="-120"/>
              </a:rPr>
              <a:t>338</a:t>
            </a:r>
            <a:endParaRPr lang="en-US" sz="3400" dirty="0"/>
          </a:p>
        </p:txBody>
      </p:sp>
      <p:sp>
        <p:nvSpPr>
          <p:cNvPr id="5" name="Text 3"/>
          <p:cNvSpPr txBox="1"/>
          <p:nvPr/>
        </p:nvSpPr>
        <p:spPr>
          <a:xfrm>
            <a:off x="777240" y="2514600"/>
            <a:ext cx="2110664" cy="640080"/>
          </a:xfrm>
          <a:prstGeom prst="rect">
            <a:avLst/>
          </a:prstGeom>
          <a:noFill/>
          <a:ln/>
        </p:spPr>
        <p:txBody>
          <a:bodyPr wrap="square" lIns="0" tIns="0" rIns="0" bIns="0" rtlCol="0" anchor="t"/>
          <a:lstStyle/>
          <a:p>
            <a:pPr indent="0" marL="0">
              <a:buNone/>
            </a:pPr>
            <a:r>
              <a:rPr lang="en-US" sz="1300" dirty="0">
                <a:solidFill>
                  <a:srgbClr val="6B5A60"/>
                </a:solidFill>
                <a:latin typeface="Arial" pitchFamily="34" charset="0"/>
                <a:ea typeface="Arial" pitchFamily="34" charset="-122"/>
                <a:cs typeface="Arial" pitchFamily="34" charset="-120"/>
              </a:rPr>
              <a:t>Rev B units shipped</a:t>
            </a:r>
            <a:endParaRPr lang="en-US" sz="1300" dirty="0"/>
          </a:p>
          <a:p>
            <a:pPr indent="0" marL="0">
              <a:buNone/>
            </a:pPr>
            <a:r>
              <a:rPr lang="en-US" sz="1300" dirty="0">
                <a:solidFill>
                  <a:srgbClr val="6B5A60"/>
                </a:solidFill>
                <a:latin typeface="Arial" pitchFamily="34" charset="0"/>
                <a:ea typeface="Arial" pitchFamily="34" charset="-122"/>
                <a:cs typeface="Arial" pitchFamily="34" charset="-120"/>
              </a:rPr>
              <a:t>per manifest cross-check</a:t>
            </a:r>
            <a:endParaRPr lang="en-US" sz="1300" dirty="0"/>
          </a:p>
        </p:txBody>
      </p:sp>
      <p:sp>
        <p:nvSpPr>
          <p:cNvPr id="6" name="Shape 4"/>
          <p:cNvSpPr/>
          <p:nvPr/>
        </p:nvSpPr>
        <p:spPr>
          <a:xfrm>
            <a:off x="3390824" y="1463040"/>
            <a:ext cx="2567864" cy="1828800"/>
          </a:xfrm>
          <a:prstGeom prst="roundRect">
            <a:avLst>
              <a:gd name="adj" fmla="val 4000"/>
            </a:avLst>
          </a:prstGeom>
          <a:solidFill>
            <a:srgbClr val="F3EEEF"/>
          </a:solidFill>
          <a:ln w="12700">
            <a:solidFill>
              <a:srgbClr val="F3EEEF"/>
            </a:solidFill>
            <a:prstDash val="solid"/>
          </a:ln>
        </p:spPr>
      </p:sp>
      <p:sp>
        <p:nvSpPr>
          <p:cNvPr id="7" name="Text 5"/>
          <p:cNvSpPr txBox="1"/>
          <p:nvPr/>
        </p:nvSpPr>
        <p:spPr>
          <a:xfrm>
            <a:off x="3619424" y="1645920"/>
            <a:ext cx="2110664" cy="868680"/>
          </a:xfrm>
          <a:prstGeom prst="rect">
            <a:avLst/>
          </a:prstGeom>
          <a:noFill/>
          <a:ln/>
        </p:spPr>
        <p:txBody>
          <a:bodyPr wrap="square" lIns="0" tIns="0" rIns="0" bIns="0" rtlCol="0" anchor="ctr"/>
          <a:lstStyle/>
          <a:p>
            <a:pPr indent="0" marL="0">
              <a:buNone/>
            </a:pPr>
            <a:r>
              <a:rPr lang="en-US" sz="3400" b="1" dirty="0">
                <a:solidFill>
                  <a:srgbClr val="7A2E3A"/>
                </a:solidFill>
                <a:latin typeface="Century Schoolbook" pitchFamily="34" charset="0"/>
                <a:ea typeface="Century Schoolbook" pitchFamily="34" charset="-122"/>
                <a:cs typeface="Century Schoolbook" pitchFamily="34" charset="-120"/>
              </a:rPr>
              <a:t>19</a:t>
            </a:r>
            <a:endParaRPr lang="en-US" sz="3400" dirty="0"/>
          </a:p>
        </p:txBody>
      </p:sp>
      <p:sp>
        <p:nvSpPr>
          <p:cNvPr id="8" name="Text 6"/>
          <p:cNvSpPr txBox="1"/>
          <p:nvPr/>
        </p:nvSpPr>
        <p:spPr>
          <a:xfrm>
            <a:off x="3619424" y="2514600"/>
            <a:ext cx="2110664" cy="640080"/>
          </a:xfrm>
          <a:prstGeom prst="rect">
            <a:avLst/>
          </a:prstGeom>
          <a:noFill/>
          <a:ln/>
        </p:spPr>
        <p:txBody>
          <a:bodyPr wrap="square" lIns="0" tIns="0" rIns="0" bIns="0" rtlCol="0" anchor="t"/>
          <a:lstStyle/>
          <a:p>
            <a:pPr indent="0" marL="0">
              <a:buNone/>
            </a:pPr>
            <a:r>
              <a:rPr lang="en-US" sz="1300" dirty="0">
                <a:solidFill>
                  <a:srgbClr val="6B5A60"/>
                </a:solidFill>
                <a:latin typeface="Arial" pitchFamily="34" charset="0"/>
                <a:ea typeface="Arial" pitchFamily="34" charset="-122"/>
                <a:cs typeface="Arial" pitchFamily="34" charset="-120"/>
              </a:rPr>
              <a:t>Accounts with Rev B hardware</a:t>
            </a:r>
            <a:endParaRPr lang="en-US" sz="1300" dirty="0"/>
          </a:p>
        </p:txBody>
      </p:sp>
      <p:sp>
        <p:nvSpPr>
          <p:cNvPr id="9" name="Shape 7"/>
          <p:cNvSpPr/>
          <p:nvPr/>
        </p:nvSpPr>
        <p:spPr>
          <a:xfrm>
            <a:off x="6233008" y="1463040"/>
            <a:ext cx="2567864" cy="1828800"/>
          </a:xfrm>
          <a:prstGeom prst="roundRect">
            <a:avLst>
              <a:gd name="adj" fmla="val 4000"/>
            </a:avLst>
          </a:prstGeom>
          <a:solidFill>
            <a:srgbClr val="FBE7E2"/>
          </a:solidFill>
          <a:ln w="12700">
            <a:solidFill>
              <a:srgbClr val="FBE7E2"/>
            </a:solidFill>
            <a:prstDash val="solid"/>
          </a:ln>
        </p:spPr>
      </p:sp>
      <p:sp>
        <p:nvSpPr>
          <p:cNvPr id="10" name="Text 8"/>
          <p:cNvSpPr txBox="1"/>
          <p:nvPr/>
        </p:nvSpPr>
        <p:spPr>
          <a:xfrm>
            <a:off x="6461608" y="1645920"/>
            <a:ext cx="2110664" cy="868680"/>
          </a:xfrm>
          <a:prstGeom prst="rect">
            <a:avLst/>
          </a:prstGeom>
          <a:noFill/>
          <a:ln/>
        </p:spPr>
        <p:txBody>
          <a:bodyPr wrap="square" lIns="0" tIns="0" rIns="0" bIns="0" rtlCol="0" anchor="ctr"/>
          <a:lstStyle/>
          <a:p>
            <a:pPr indent="0" marL="0">
              <a:buNone/>
            </a:pPr>
            <a:r>
              <a:rPr lang="en-US" sz="3400" b="1" dirty="0">
                <a:solidFill>
                  <a:srgbClr val="B0382A"/>
                </a:solidFill>
                <a:latin typeface="Century Schoolbook" pitchFamily="34" charset="0"/>
                <a:ea typeface="Century Schoolbook" pitchFamily="34" charset="-122"/>
                <a:cs typeface="Century Schoolbook" pitchFamily="34" charset="-120"/>
              </a:rPr>
              <a:t>5</a:t>
            </a:r>
            <a:endParaRPr lang="en-US" sz="3400" dirty="0"/>
          </a:p>
        </p:txBody>
      </p:sp>
      <p:sp>
        <p:nvSpPr>
          <p:cNvPr id="11" name="Text 9"/>
          <p:cNvSpPr txBox="1"/>
          <p:nvPr/>
        </p:nvSpPr>
        <p:spPr>
          <a:xfrm>
            <a:off x="6461608" y="2514600"/>
            <a:ext cx="2110664" cy="640080"/>
          </a:xfrm>
          <a:prstGeom prst="rect">
            <a:avLst/>
          </a:prstGeom>
          <a:noFill/>
          <a:ln/>
        </p:spPr>
        <p:txBody>
          <a:bodyPr wrap="square" lIns="0" tIns="0" rIns="0" bIns="0" rtlCol="0" anchor="t"/>
          <a:lstStyle/>
          <a:p>
            <a:pPr indent="0" marL="0">
              <a:buNone/>
            </a:pPr>
            <a:r>
              <a:rPr lang="en-US" sz="1300" dirty="0">
                <a:solidFill>
                  <a:srgbClr val="6B5A60"/>
                </a:solidFill>
                <a:latin typeface="Arial" pitchFamily="34" charset="0"/>
                <a:ea typeface="Arial" pitchFamily="34" charset="-122"/>
                <a:cs typeface="Arial" pitchFamily="34" charset="-120"/>
              </a:rPr>
              <a:t>Accounts with sites above 50°C</a:t>
            </a:r>
            <a:endParaRPr lang="en-US" sz="1300" dirty="0"/>
          </a:p>
        </p:txBody>
      </p:sp>
      <p:sp>
        <p:nvSpPr>
          <p:cNvPr id="12" name="Shape 10"/>
          <p:cNvSpPr/>
          <p:nvPr/>
        </p:nvSpPr>
        <p:spPr>
          <a:xfrm>
            <a:off x="9075191" y="1463040"/>
            <a:ext cx="2567864" cy="1828800"/>
          </a:xfrm>
          <a:prstGeom prst="roundRect">
            <a:avLst>
              <a:gd name="adj" fmla="val 4000"/>
            </a:avLst>
          </a:prstGeom>
          <a:solidFill>
            <a:srgbClr val="FBE7E2"/>
          </a:solidFill>
          <a:ln w="12700">
            <a:solidFill>
              <a:srgbClr val="FBE7E2"/>
            </a:solidFill>
            <a:prstDash val="solid"/>
          </a:ln>
        </p:spPr>
      </p:sp>
      <p:sp>
        <p:nvSpPr>
          <p:cNvPr id="13" name="Text 11"/>
          <p:cNvSpPr txBox="1"/>
          <p:nvPr/>
        </p:nvSpPr>
        <p:spPr>
          <a:xfrm>
            <a:off x="9303791" y="1645920"/>
            <a:ext cx="2110664" cy="868680"/>
          </a:xfrm>
          <a:prstGeom prst="rect">
            <a:avLst/>
          </a:prstGeom>
          <a:noFill/>
          <a:ln/>
        </p:spPr>
        <p:txBody>
          <a:bodyPr wrap="square" lIns="0" tIns="0" rIns="0" bIns="0" rtlCol="0" anchor="ctr"/>
          <a:lstStyle/>
          <a:p>
            <a:pPr indent="0" marL="0">
              <a:buNone/>
            </a:pPr>
            <a:r>
              <a:rPr lang="en-US" sz="3400" b="1" dirty="0">
                <a:solidFill>
                  <a:srgbClr val="B0382A"/>
                </a:solidFill>
                <a:latin typeface="Century Schoolbook" pitchFamily="34" charset="0"/>
                <a:ea typeface="Century Schoolbook" pitchFamily="34" charset="-122"/>
                <a:cs typeface="Century Schoolbook" pitchFamily="34" charset="-120"/>
              </a:rPr>
              <a:t>2</a:t>
            </a:r>
            <a:endParaRPr lang="en-US" sz="3400" dirty="0"/>
          </a:p>
        </p:txBody>
      </p:sp>
      <p:sp>
        <p:nvSpPr>
          <p:cNvPr id="14" name="Text 12"/>
          <p:cNvSpPr txBox="1"/>
          <p:nvPr/>
        </p:nvSpPr>
        <p:spPr>
          <a:xfrm>
            <a:off x="9303791" y="2514600"/>
            <a:ext cx="2110664" cy="640080"/>
          </a:xfrm>
          <a:prstGeom prst="rect">
            <a:avLst/>
          </a:prstGeom>
          <a:noFill/>
          <a:ln/>
        </p:spPr>
        <p:txBody>
          <a:bodyPr wrap="square" lIns="0" tIns="0" rIns="0" bIns="0" rtlCol="0" anchor="t"/>
          <a:lstStyle/>
          <a:p>
            <a:pPr indent="0" marL="0">
              <a:buNone/>
            </a:pPr>
            <a:r>
              <a:rPr lang="en-US" sz="1300" dirty="0">
                <a:solidFill>
                  <a:srgbClr val="6B5A60"/>
                </a:solidFill>
                <a:latin typeface="Arial" pitchFamily="34" charset="0"/>
                <a:ea typeface="Arial" pitchFamily="34" charset="-122"/>
                <a:cs typeface="Arial" pitchFamily="34" charset="-120"/>
              </a:rPr>
              <a:t>Of those, with prior analog output tickets</a:t>
            </a:r>
            <a:endParaRPr lang="en-US" sz="1300" dirty="0"/>
          </a:p>
        </p:txBody>
      </p:sp>
      <p:sp>
        <p:nvSpPr>
          <p:cNvPr id="15" name="Text 13"/>
          <p:cNvSpPr txBox="1"/>
          <p:nvPr/>
        </p:nvSpPr>
        <p:spPr>
          <a:xfrm>
            <a:off x="548640" y="3657600"/>
            <a:ext cx="11094415" cy="27432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3A2C31"/>
                </a:solidFill>
                <a:latin typeface="Arial" pitchFamily="34" charset="0"/>
                <a:ea typeface="Arial" pitchFamily="34" charset="-122"/>
                <a:cs typeface="Arial" pitchFamily="34" charset="-120"/>
              </a:rPr>
              <a:t>Theo and Marcus cross-referenced the shipping manifest against the revision log</a:t>
            </a:r>
            <a:endParaRPr lang="en-US" sz="1600" dirty="0"/>
          </a:p>
          <a:p>
            <a:pPr marL="228600" indent="-228600">
              <a:spcAft>
                <a:spcPts val="800"/>
              </a:spcAft>
              <a:buSzPct val="100000"/>
              <a:buChar char="•"/>
            </a:pPr>
            <a:r>
              <a:rPr lang="en-US" sz="1600" dirty="0">
                <a:solidFill>
                  <a:srgbClr val="3A2C31"/>
                </a:solidFill>
                <a:latin typeface="Arial" pitchFamily="34" charset="0"/>
                <a:ea typeface="Arial" pitchFamily="34" charset="-122"/>
                <a:cs typeface="Arial" pitchFamily="34" charset="-120"/>
              </a:rPr>
              <a:t>The two accounts with prior tickets get a call from us this week, not a ticket reply</a:t>
            </a:r>
            <a:endParaRPr lang="en-US" sz="1600" dirty="0"/>
          </a:p>
          <a:p>
            <a:pPr marL="228600" indent="-228600">
              <a:spcAft>
                <a:spcPts val="800"/>
              </a:spcAft>
              <a:buSzPct val="100000"/>
              <a:buChar char="•"/>
            </a:pPr>
            <a:r>
              <a:rPr lang="en-US" sz="1600" dirty="0">
                <a:solidFill>
                  <a:srgbClr val="3A2C31"/>
                </a:solidFill>
                <a:latin typeface="Arial" pitchFamily="34" charset="0"/>
                <a:ea typeface="Arial" pitchFamily="34" charset="-122"/>
                <a:cs typeface="Arial" pitchFamily="34" charset="-120"/>
              </a:rPr>
              <a:t>Rev C swaps offered to all five hot-site accounts before summer temperatures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Brannock Refinery Account Recovery Briefing</dc:title>
  <dc:subject/>
  <dc:creator>Elena</dc:creator>
  <cp:lastModifiedBy>Elena</cp:lastModifiedBy>
  <cp:revision>1</cp:revision>
  <dcterms:created xsi:type="dcterms:W3CDTF">2026-04-14T09:00:00Z</dcterms:created>
  <dcterms:modified xsi:type="dcterms:W3CDTF">2026-04-14T09:00:00Z</dcterms:modified>
  <cp:keywords/>
  <dc:description/>
</cp:coreProperties>
</file>