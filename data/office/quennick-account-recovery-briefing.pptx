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Quennick is one of our three largest accounts by installed base: 312 MX-3 units shipped in February and 220 GX-7 units for their first site in March. Their contract runs through December 2027 and commits us to maintenance releases for the installed firmware version for its whole term, with a forty-eight hour response commitment for severity-one defects. We are in negotiation on a GX-7 expansion for a second site, 300 units at $57,780, with a July ship target. Their procurement and IT governance teams review every firmware change, which is why an update takes them weeks to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April 8, Quennick's field team reported MX-3 units going into a fault state after extended idle periods. Eleven of the 312 units were affected, with no pattern they could see. The units were not damaged: a faulted unit holds its last state and comes back after a power cycle. But Quennick's deployment does not allow for anyone to intervene in the field, so from their side a unit that needs a power cycle is a failed unit. Their procurement lead called me the next morning, and she was not calm about it. Their question was whether this was a known defect and whether the whole batch was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firmware defect in version 2.4.1. When a unit has been idle for more than about four hours it drops into a low-power state, and if a particular class of network traffic arrives while it is waking up, the watchdog can fire before the unit has finished waking, and it faults. Quennick's network produces that traffic in bursts, and their units sit idle for long stretches, so they hit it and our other customers mostly have not. Our tests covered idle behavior but never for long enough to reach the low-power state. That gap is closed.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told Quennick on April 9 that we had found the root cause and would deliver a fix by end of day Friday, and we did: 2.4.2 went out to their units over the air on the evening of April 10, and 301 of their 312 units had it by the next morning. The eleven faulted units cannot update until they are power cycled; nine have been, and the last two are at remote sites with visits scheduled. There have been no faults on 2.4.2 in the lab or the field. Our other four MX-3 customers received the same release, on whatever notice their contracts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response itself went well. We came back inside the forty-eight hour window with a root cause, not a promise to investigate, and delivered the fix when we said we would. Callum's reading of the contract is that a firmware update satisfies the repair-or-replace remedy, so we are not facing a replacement claim. Quennick accepted the fix and has asked for a written root cause analysis. What we have lost is their confidence in how we release firmware, and that is what the rest of this briefing is about recovering.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did not land on a clean account. Earlier in the year a two-week slip at our main assembly supplier delayed the Quennick GX-7 fulfillment. In March, Theo had three of their tickets open: two about running MX-3 units at up to 48 degrees ambient in summer, and one asking how long firmware 2.4.1 would be supported. We told them we would give them a written firmware lifecycle policy within thirty days, which puts it due by April 25. After this incident, that date is not movable.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actions, each with an owner. Sofia writes the root cause analysis, Callum reviews it for anything that creates an obligation we have not intended, and it goes to Quennick by April 17. Theo and I hold a weekly call with their operations lead until the last faulted unit is updated. The firmware lifecycle policy goes to them in writing by April 25. Devon's high-temperature application note answers their open summer question. And Priya will call their head of operations, because an account this size should hear from our CEO after an incident like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expansion order is the measure of whether this recovery works. It is 300 GX-7 units for their second site, $57,780, with a July ship target. I am not going to offer a discount to make up for the incident; it would set a price we then have to defend, and a discount is not what they asked for. What they want is confidence, so the offer is the lifecycle policy and a written commitment on 2.4.x maintenance. I will only commit to July once Devon confirms the supplier lead time has buffer in it, because a second late shipment would undo everything on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need from each team. From engineering, the root cause analysis and the regression additions it describes, so we can show Quennick the gap is closed and not just patched. From support, a daily check of their fault reports until every unit is on 2.4.2. From operations, Devon's application note and a straight answer on whether a July ship date for the expansion is safe. From legal, the lifecycle policy language and a review of anything we send in writing. And from Priya, the call with their head of operations this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know within a few weeks whether this is recovering. A new fault on 2.4.2 would be the worst signal, and Theo will escalate it the same day. The speed of their procurement on the expansion order tells us whether they still intend to grow with us. If they ask for the root cause analysis to go to their executives, the incident has gone further up their organization than we have seen. And any mention of evaluating another supplier comes straight to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from this apply to every account. We told Quennick the root cause as soon as we knew it, and that held the relationship together; it should be our standard. We notified the other four MX-3 customers before any of them hit the fault, which cost us nothing and earned credit. Some contracts require notice before a firmware push, and we only checked because Callum asked, so that check becomes a standard step. And the lifecycle policy should be published for everyone, because Quennick will not be the last customer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1E1E"/>
        </a:solidFill>
      </p:bgPr>
    </p:bg>
    <p:spTree>
      <p:nvGrpSpPr>
        <p:cNvPr id="1" name=""/>
        <p:cNvGrpSpPr/>
        <p:nvPr/>
      </p:nvGrpSpPr>
      <p:grpSpPr>
        <a:xfrm>
          <a:off x="0" y="0"/>
          <a:ext cx="0" cy="0"/>
          <a:chOff x="0" y="0"/>
          <a:chExt cx="0" cy="0"/>
        </a:xfrm>
      </p:grpSpPr>
      <p:sp>
        <p:nvSpPr>
          <p:cNvPr id="2" name="Text 0"/>
          <p:cNvSpPr/>
          <p:nvPr/>
        </p:nvSpPr>
        <p:spPr>
          <a:xfrm>
            <a:off x="548640" y="1234440"/>
            <a:ext cx="8046720" cy="365760"/>
          </a:xfrm>
          <a:prstGeom prst="rect">
            <a:avLst/>
          </a:prstGeom>
          <a:noFill/>
          <a:ln/>
        </p:spPr>
        <p:txBody>
          <a:bodyPr wrap="square" lIns="0" tIns="0" rIns="0" bIns="0" rtlCol="0" anchor="ctr"/>
          <a:lstStyle/>
          <a:p>
            <a:pPr indent="0" marL="0">
              <a:buNone/>
            </a:pPr>
            <a:r>
              <a:rPr lang="en-US" sz="1200" b="1" spc="300" kern="0" dirty="0">
                <a:solidFill>
                  <a:srgbClr val="E8B04A"/>
                </a:solidFill>
                <a:latin typeface="Calibri" pitchFamily="34" charset="0"/>
                <a:ea typeface="Calibri" pitchFamily="34" charset="-122"/>
                <a:cs typeface="Calibri" pitchFamily="34" charset="-120"/>
              </a:rPr>
              <a:t>INTERNAL  ·  SALES</a:t>
            </a:r>
            <a:endParaRPr lang="en-US" sz="1200" dirty="0"/>
          </a:p>
        </p:txBody>
      </p:sp>
      <p:sp>
        <p:nvSpPr>
          <p:cNvPr id="3" name="Text 1"/>
          <p:cNvSpPr/>
          <p:nvPr/>
        </p:nvSpPr>
        <p:spPr>
          <a:xfrm>
            <a:off x="548640" y="1645920"/>
            <a:ext cx="8046720" cy="118872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Quennick Account Recovery Briefing</a:t>
            </a:r>
            <a:endParaRPr lang="en-US" sz="3800" dirty="0"/>
          </a:p>
        </p:txBody>
      </p:sp>
      <p:sp>
        <p:nvSpPr>
          <p:cNvPr id="4" name="Text 2"/>
          <p:cNvSpPr/>
          <p:nvPr/>
        </p:nvSpPr>
        <p:spPr>
          <a:xfrm>
            <a:off x="548640" y="3017520"/>
            <a:ext cx="8046720" cy="548640"/>
          </a:xfrm>
          <a:prstGeom prst="rect">
            <a:avLst/>
          </a:prstGeom>
          <a:noFill/>
          <a:ln/>
        </p:spPr>
        <p:txBody>
          <a:bodyPr wrap="square" lIns="0" tIns="0" rIns="0" bIns="0" rtlCol="0" anchor="ctr">
            <a:normAutofit/>
          </a:bodyPr>
          <a:lstStyle/>
          <a:p>
            <a:pPr indent="0" marL="0">
              <a:buNone/>
            </a:pPr>
            <a:r>
              <a:rPr lang="en-US" sz="1600" dirty="0">
                <a:solidFill>
                  <a:srgbClr val="F4E4DF"/>
                </a:solidFill>
                <a:latin typeface="Calibri" pitchFamily="34" charset="0"/>
                <a:ea typeface="Calibri" pitchFamily="34" charset="-122"/>
                <a:cs typeface="Calibri" pitchFamily="34" charset="-120"/>
              </a:rPr>
              <a:t>Elena, Head of Sales  ·  April 15,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E2220"/>
                </a:solidFill>
                <a:latin typeface="Cambria" pitchFamily="34" charset="0"/>
                <a:ea typeface="Cambria" pitchFamily="34" charset="-122"/>
                <a:cs typeface="Cambria" pitchFamily="34" charset="-120"/>
              </a:rPr>
              <a:t>Quennick at a Glance</a:t>
            </a:r>
            <a:endParaRPr lang="en-US" sz="2800" dirty="0"/>
          </a:p>
        </p:txBody>
      </p:sp>
      <p:sp>
        <p:nvSpPr>
          <p:cNvPr id="3" name="Shape 1"/>
          <p:cNvSpPr/>
          <p:nvPr/>
        </p:nvSpPr>
        <p:spPr>
          <a:xfrm>
            <a:off x="457200" y="1188720"/>
            <a:ext cx="2590800" cy="1417320"/>
          </a:xfrm>
          <a:prstGeom prst="roundRect">
            <a:avLst>
              <a:gd name="adj" fmla="val 6452"/>
            </a:avLst>
          </a:prstGeom>
          <a:solidFill>
            <a:srgbClr val="F4E4DF"/>
          </a:solidFill>
          <a:ln w="12700">
            <a:solidFill>
              <a:srgbClr val="F4E4DF"/>
            </a:solidFill>
            <a:prstDash val="solid"/>
          </a:ln>
        </p:spPr>
      </p:sp>
      <p:sp>
        <p:nvSpPr>
          <p:cNvPr id="4" name="Text 2"/>
          <p:cNvSpPr/>
          <p:nvPr/>
        </p:nvSpPr>
        <p:spPr>
          <a:xfrm>
            <a:off x="5943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5A1E1E"/>
                </a:solidFill>
                <a:latin typeface="Cambria" pitchFamily="34" charset="0"/>
                <a:ea typeface="Cambria" pitchFamily="34" charset="-122"/>
                <a:cs typeface="Cambria" pitchFamily="34" charset="-120"/>
              </a:rPr>
              <a:t>532</a:t>
            </a:r>
            <a:endParaRPr lang="en-US" sz="2600" dirty="0"/>
          </a:p>
        </p:txBody>
      </p:sp>
      <p:sp>
        <p:nvSpPr>
          <p:cNvPr id="5" name="Text 3"/>
          <p:cNvSpPr/>
          <p:nvPr/>
        </p:nvSpPr>
        <p:spPr>
          <a:xfrm>
            <a:off x="5943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E2220"/>
                </a:solidFill>
                <a:latin typeface="Calibri" pitchFamily="34" charset="0"/>
                <a:ea typeface="Calibri" pitchFamily="34" charset="-122"/>
                <a:cs typeface="Calibri" pitchFamily="34" charset="-120"/>
              </a:rPr>
              <a:t>Units installed: 312 MX-3 and 220 GX-7</a:t>
            </a:r>
            <a:endParaRPr lang="en-US" sz="1200" dirty="0"/>
          </a:p>
        </p:txBody>
      </p:sp>
      <p:sp>
        <p:nvSpPr>
          <p:cNvPr id="6" name="Shape 4"/>
          <p:cNvSpPr/>
          <p:nvPr/>
        </p:nvSpPr>
        <p:spPr>
          <a:xfrm>
            <a:off x="3276600" y="1188720"/>
            <a:ext cx="2590800" cy="1417320"/>
          </a:xfrm>
          <a:prstGeom prst="roundRect">
            <a:avLst>
              <a:gd name="adj" fmla="val 6452"/>
            </a:avLst>
          </a:prstGeom>
          <a:solidFill>
            <a:srgbClr val="F4E4DF"/>
          </a:solidFill>
          <a:ln w="12700">
            <a:solidFill>
              <a:srgbClr val="F4E4DF"/>
            </a:solidFill>
            <a:prstDash val="solid"/>
          </a:ln>
        </p:spPr>
      </p:sp>
      <p:sp>
        <p:nvSpPr>
          <p:cNvPr id="7" name="Text 5"/>
          <p:cNvSpPr/>
          <p:nvPr/>
        </p:nvSpPr>
        <p:spPr>
          <a:xfrm>
            <a:off x="34137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5A1E1E"/>
                </a:solidFill>
                <a:latin typeface="Cambria" pitchFamily="34" charset="0"/>
                <a:ea typeface="Cambria" pitchFamily="34" charset="-122"/>
                <a:cs typeface="Cambria" pitchFamily="34" charset="-120"/>
              </a:rPr>
              <a:t>Dec 2027</a:t>
            </a:r>
            <a:endParaRPr lang="en-US" sz="2600" dirty="0"/>
          </a:p>
        </p:txBody>
      </p:sp>
      <p:sp>
        <p:nvSpPr>
          <p:cNvPr id="8" name="Text 6"/>
          <p:cNvSpPr/>
          <p:nvPr/>
        </p:nvSpPr>
        <p:spPr>
          <a:xfrm>
            <a:off x="34137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E2220"/>
                </a:solidFill>
                <a:latin typeface="Calibri" pitchFamily="34" charset="0"/>
                <a:ea typeface="Calibri" pitchFamily="34" charset="-122"/>
                <a:cs typeface="Calibri" pitchFamily="34" charset="-120"/>
              </a:rPr>
              <a:t>Contract term, with firmware maintenance commitment</a:t>
            </a:r>
            <a:endParaRPr lang="en-US" sz="1200" dirty="0"/>
          </a:p>
        </p:txBody>
      </p:sp>
      <p:sp>
        <p:nvSpPr>
          <p:cNvPr id="9" name="Shape 7"/>
          <p:cNvSpPr/>
          <p:nvPr/>
        </p:nvSpPr>
        <p:spPr>
          <a:xfrm>
            <a:off x="6096000" y="1188720"/>
            <a:ext cx="2590800" cy="1417320"/>
          </a:xfrm>
          <a:prstGeom prst="roundRect">
            <a:avLst>
              <a:gd name="adj" fmla="val 6452"/>
            </a:avLst>
          </a:prstGeom>
          <a:solidFill>
            <a:srgbClr val="F4E4DF"/>
          </a:solidFill>
          <a:ln w="12700">
            <a:solidFill>
              <a:srgbClr val="F4E4DF"/>
            </a:solidFill>
            <a:prstDash val="solid"/>
          </a:ln>
        </p:spPr>
      </p:sp>
      <p:sp>
        <p:nvSpPr>
          <p:cNvPr id="10" name="Text 8"/>
          <p:cNvSpPr/>
          <p:nvPr/>
        </p:nvSpPr>
        <p:spPr>
          <a:xfrm>
            <a:off x="62331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5A1E1E"/>
                </a:solidFill>
                <a:latin typeface="Cambria" pitchFamily="34" charset="0"/>
                <a:ea typeface="Cambria" pitchFamily="34" charset="-122"/>
                <a:cs typeface="Cambria" pitchFamily="34" charset="-120"/>
              </a:rPr>
              <a:t>48 hrs</a:t>
            </a:r>
            <a:endParaRPr lang="en-US" sz="2600" dirty="0"/>
          </a:p>
        </p:txBody>
      </p:sp>
      <p:sp>
        <p:nvSpPr>
          <p:cNvPr id="11" name="Text 9"/>
          <p:cNvSpPr/>
          <p:nvPr/>
        </p:nvSpPr>
        <p:spPr>
          <a:xfrm>
            <a:off x="62331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E2220"/>
                </a:solidFill>
                <a:latin typeface="Calibri" pitchFamily="34" charset="0"/>
                <a:ea typeface="Calibri" pitchFamily="34" charset="-122"/>
                <a:cs typeface="Calibri" pitchFamily="34" charset="-120"/>
              </a:rPr>
              <a:t>Severity-one response commitment</a:t>
            </a:r>
            <a:endParaRPr lang="en-US" sz="1200" dirty="0"/>
          </a:p>
        </p:txBody>
      </p:sp>
      <p:sp>
        <p:nvSpPr>
          <p:cNvPr id="12" name="Text 10"/>
          <p:cNvSpPr/>
          <p:nvPr/>
        </p:nvSpPr>
        <p:spPr>
          <a:xfrm>
            <a:off x="457200" y="2834640"/>
            <a:ext cx="8229600" cy="192024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500" dirty="0">
                <a:solidFill>
                  <a:srgbClr val="2E2220"/>
                </a:solidFill>
                <a:latin typeface="Calibri" pitchFamily="34" charset="0"/>
                <a:ea typeface="Calibri" pitchFamily="34" charset="-122"/>
                <a:cs typeface="Calibri" pitchFamily="34" charset="-120"/>
              </a:rPr>
              <a:t>GX-7 expansion for a second site in negotiation: 300 units, $57,780</a:t>
            </a:r>
            <a:endParaRPr lang="en-US" sz="1500" dirty="0"/>
          </a:p>
          <a:p>
            <a:pPr marL="342900" indent="-342900">
              <a:spcAft>
                <a:spcPts val="600"/>
              </a:spcAft>
              <a:buSzPct val="100000"/>
              <a:buChar char="•"/>
            </a:pPr>
            <a:r>
              <a:rPr lang="en-US" sz="1500" dirty="0">
                <a:solidFill>
                  <a:srgbClr val="2E2220"/>
                </a:solidFill>
                <a:latin typeface="Calibri" pitchFamily="34" charset="0"/>
                <a:ea typeface="Calibri" pitchFamily="34" charset="-122"/>
                <a:cs typeface="Calibri" pitchFamily="34" charset="-120"/>
              </a:rPr>
              <a:t>One of our three largest accounts by installed base</a:t>
            </a:r>
            <a:endParaRPr lang="en-US" sz="1500" dirty="0"/>
          </a:p>
          <a:p>
            <a:pPr marL="342900" indent="-342900">
              <a:spcAft>
                <a:spcPts val="600"/>
              </a:spcAft>
              <a:buSzPct val="100000"/>
              <a:buChar char="•"/>
            </a:pPr>
            <a:r>
              <a:rPr lang="en-US" sz="1500" dirty="0">
                <a:solidFill>
                  <a:srgbClr val="2E2220"/>
                </a:solidFill>
                <a:latin typeface="Calibri" pitchFamily="34" charset="0"/>
                <a:ea typeface="Calibri" pitchFamily="34" charset="-122"/>
                <a:cs typeface="Calibri" pitchFamily="34" charset="-120"/>
              </a:rPr>
              <a:t>Procurement and IT governance review every firmware change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E2220"/>
                </a:solidFill>
                <a:latin typeface="Cambria" pitchFamily="34" charset="0"/>
                <a:ea typeface="Cambria" pitchFamily="34" charset="-122"/>
                <a:cs typeface="Cambria" pitchFamily="34" charset="-120"/>
              </a:rPr>
              <a:t>What Happened</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April 8: Quennick's field team reported units in a fault state after long idle periods</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11 of the 312 MX-3 units affected, on no predictable schedule</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A faulted unit holds its last state and recovers only on a power cycle</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Their deployment does not allow manual intervention, so a faulted unit counts as failed</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E2220"/>
                </a:solidFill>
                <a:latin typeface="Cambria" pitchFamily="34" charset="0"/>
                <a:ea typeface="Cambria" pitchFamily="34" charset="-122"/>
                <a:cs typeface="Cambria" pitchFamily="34" charset="-120"/>
              </a:rPr>
              <a:t>Why It Happened</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A firmware defect in 2.4.1, not a hardware problem</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Triggered when a unit wakes after more than about four hours idle and receives a particular class of network traffic</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Quennick's network and idle pattern hit the trigger; other customers' mostly do not</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Our tests covered idle periods, but never one long enough to reach it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E2220"/>
                </a:solidFill>
                <a:latin typeface="Cambria" pitchFamily="34" charset="0"/>
                <a:ea typeface="Cambria" pitchFamily="34" charset="-122"/>
                <a:cs typeface="Cambria" pitchFamily="34" charset="-120"/>
              </a:rPr>
              <a:t>Where the Fix Stands</a:t>
            </a:r>
            <a:endParaRPr lang="en-US" sz="2800" dirty="0"/>
          </a:p>
        </p:txBody>
      </p:sp>
      <p:sp>
        <p:nvSpPr>
          <p:cNvPr id="3" name="Shape 1"/>
          <p:cNvSpPr/>
          <p:nvPr/>
        </p:nvSpPr>
        <p:spPr>
          <a:xfrm>
            <a:off x="457200" y="1188720"/>
            <a:ext cx="2590800" cy="1417320"/>
          </a:xfrm>
          <a:prstGeom prst="roundRect">
            <a:avLst>
              <a:gd name="adj" fmla="val 6452"/>
            </a:avLst>
          </a:prstGeom>
          <a:solidFill>
            <a:srgbClr val="F4E4DF"/>
          </a:solidFill>
          <a:ln w="12700">
            <a:solidFill>
              <a:srgbClr val="F4E4DF"/>
            </a:solidFill>
            <a:prstDash val="solid"/>
          </a:ln>
        </p:spPr>
      </p:sp>
      <p:sp>
        <p:nvSpPr>
          <p:cNvPr id="4" name="Text 2"/>
          <p:cNvSpPr/>
          <p:nvPr/>
        </p:nvSpPr>
        <p:spPr>
          <a:xfrm>
            <a:off x="5943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5A1E1E"/>
                </a:solidFill>
                <a:latin typeface="Cambria" pitchFamily="34" charset="0"/>
                <a:ea typeface="Cambria" pitchFamily="34" charset="-122"/>
                <a:cs typeface="Cambria" pitchFamily="34" charset="-120"/>
              </a:rPr>
              <a:t>April 10</a:t>
            </a:r>
            <a:endParaRPr lang="en-US" sz="2600" dirty="0"/>
          </a:p>
        </p:txBody>
      </p:sp>
      <p:sp>
        <p:nvSpPr>
          <p:cNvPr id="5" name="Text 3"/>
          <p:cNvSpPr/>
          <p:nvPr/>
        </p:nvSpPr>
        <p:spPr>
          <a:xfrm>
            <a:off x="5943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E2220"/>
                </a:solidFill>
                <a:latin typeface="Calibri" pitchFamily="34" charset="0"/>
                <a:ea typeface="Calibri" pitchFamily="34" charset="-122"/>
                <a:cs typeface="Calibri" pitchFamily="34" charset="-120"/>
              </a:rPr>
              <a:t>Firmware 2.4.2 released to Quennick</a:t>
            </a:r>
            <a:endParaRPr lang="en-US" sz="1200" dirty="0"/>
          </a:p>
        </p:txBody>
      </p:sp>
      <p:sp>
        <p:nvSpPr>
          <p:cNvPr id="6" name="Shape 4"/>
          <p:cNvSpPr/>
          <p:nvPr/>
        </p:nvSpPr>
        <p:spPr>
          <a:xfrm>
            <a:off x="3276600" y="1188720"/>
            <a:ext cx="2590800" cy="1417320"/>
          </a:xfrm>
          <a:prstGeom prst="roundRect">
            <a:avLst>
              <a:gd name="adj" fmla="val 6452"/>
            </a:avLst>
          </a:prstGeom>
          <a:solidFill>
            <a:srgbClr val="F4E4DF"/>
          </a:solidFill>
          <a:ln w="12700">
            <a:solidFill>
              <a:srgbClr val="F4E4DF"/>
            </a:solidFill>
            <a:prstDash val="solid"/>
          </a:ln>
        </p:spPr>
      </p:sp>
      <p:sp>
        <p:nvSpPr>
          <p:cNvPr id="7" name="Text 5"/>
          <p:cNvSpPr/>
          <p:nvPr/>
        </p:nvSpPr>
        <p:spPr>
          <a:xfrm>
            <a:off x="34137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5A1E1E"/>
                </a:solidFill>
                <a:latin typeface="Cambria" pitchFamily="34" charset="0"/>
                <a:ea typeface="Cambria" pitchFamily="34" charset="-122"/>
                <a:cs typeface="Cambria" pitchFamily="34" charset="-120"/>
              </a:rPr>
              <a:t>301 of 312</a:t>
            </a:r>
            <a:endParaRPr lang="en-US" sz="2600" dirty="0"/>
          </a:p>
        </p:txBody>
      </p:sp>
      <p:sp>
        <p:nvSpPr>
          <p:cNvPr id="8" name="Text 6"/>
          <p:cNvSpPr/>
          <p:nvPr/>
        </p:nvSpPr>
        <p:spPr>
          <a:xfrm>
            <a:off x="34137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E2220"/>
                </a:solidFill>
                <a:latin typeface="Calibri" pitchFamily="34" charset="0"/>
                <a:ea typeface="Calibri" pitchFamily="34" charset="-122"/>
                <a:cs typeface="Calibri" pitchFamily="34" charset="-120"/>
              </a:rPr>
              <a:t>Units updated by the next morning</a:t>
            </a:r>
            <a:endParaRPr lang="en-US" sz="1200" dirty="0"/>
          </a:p>
        </p:txBody>
      </p:sp>
      <p:sp>
        <p:nvSpPr>
          <p:cNvPr id="9" name="Shape 7"/>
          <p:cNvSpPr/>
          <p:nvPr/>
        </p:nvSpPr>
        <p:spPr>
          <a:xfrm>
            <a:off x="6096000" y="1188720"/>
            <a:ext cx="2590800" cy="1417320"/>
          </a:xfrm>
          <a:prstGeom prst="roundRect">
            <a:avLst>
              <a:gd name="adj" fmla="val 6452"/>
            </a:avLst>
          </a:prstGeom>
          <a:solidFill>
            <a:srgbClr val="F4E4DF"/>
          </a:solidFill>
          <a:ln w="12700">
            <a:solidFill>
              <a:srgbClr val="F4E4DF"/>
            </a:solidFill>
            <a:prstDash val="solid"/>
          </a:ln>
        </p:spPr>
      </p:sp>
      <p:sp>
        <p:nvSpPr>
          <p:cNvPr id="10" name="Text 8"/>
          <p:cNvSpPr/>
          <p:nvPr/>
        </p:nvSpPr>
        <p:spPr>
          <a:xfrm>
            <a:off x="6233160" y="1280160"/>
            <a:ext cx="2316480" cy="685800"/>
          </a:xfrm>
          <a:prstGeom prst="rect">
            <a:avLst/>
          </a:prstGeom>
          <a:noFill/>
          <a:ln/>
        </p:spPr>
        <p:txBody>
          <a:bodyPr wrap="square" lIns="0" tIns="0" rIns="0" bIns="0" rtlCol="0" anchor="ctr">
            <a:normAutofit/>
          </a:bodyPr>
          <a:lstStyle/>
          <a:p>
            <a:pPr indent="0" marL="0">
              <a:buNone/>
            </a:pPr>
            <a:r>
              <a:rPr lang="en-US" sz="2600" b="1" dirty="0">
                <a:solidFill>
                  <a:srgbClr val="5A1E1E"/>
                </a:solidFill>
                <a:latin typeface="Cambria" pitchFamily="34" charset="0"/>
                <a:ea typeface="Cambria" pitchFamily="34" charset="-122"/>
                <a:cs typeface="Cambria" pitchFamily="34" charset="-120"/>
              </a:rPr>
              <a:t>9 of 11</a:t>
            </a:r>
            <a:endParaRPr lang="en-US" sz="2600" dirty="0"/>
          </a:p>
        </p:txBody>
      </p:sp>
      <p:sp>
        <p:nvSpPr>
          <p:cNvPr id="11" name="Text 9"/>
          <p:cNvSpPr/>
          <p:nvPr/>
        </p:nvSpPr>
        <p:spPr>
          <a:xfrm>
            <a:off x="6233160" y="1965960"/>
            <a:ext cx="2316480" cy="548640"/>
          </a:xfrm>
          <a:prstGeom prst="rect">
            <a:avLst/>
          </a:prstGeom>
          <a:noFill/>
          <a:ln/>
        </p:spPr>
        <p:txBody>
          <a:bodyPr wrap="square" lIns="0" tIns="0" rIns="0" bIns="0" rtlCol="0" anchor="t">
            <a:normAutofit/>
          </a:bodyPr>
          <a:lstStyle/>
          <a:p>
            <a:pPr indent="0" marL="0">
              <a:buNone/>
            </a:pPr>
            <a:r>
              <a:rPr lang="en-US" sz="1200" dirty="0">
                <a:solidFill>
                  <a:srgbClr val="2E2220"/>
                </a:solidFill>
                <a:latin typeface="Calibri" pitchFamily="34" charset="0"/>
                <a:ea typeface="Calibri" pitchFamily="34" charset="-122"/>
                <a:cs typeface="Calibri" pitchFamily="34" charset="-120"/>
              </a:rPr>
              <a:t>Faulted units power cycled and updated</a:t>
            </a:r>
            <a:endParaRPr lang="en-US" sz="1200" dirty="0"/>
          </a:p>
        </p:txBody>
      </p:sp>
      <p:sp>
        <p:nvSpPr>
          <p:cNvPr id="12" name="Text 10"/>
          <p:cNvSpPr/>
          <p:nvPr/>
        </p:nvSpPr>
        <p:spPr>
          <a:xfrm>
            <a:off x="457200" y="2834640"/>
            <a:ext cx="8229600" cy="192024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500" dirty="0">
                <a:solidFill>
                  <a:srgbClr val="2E2220"/>
                </a:solidFill>
                <a:latin typeface="Calibri" pitchFamily="34" charset="0"/>
                <a:ea typeface="Calibri" pitchFamily="34" charset="-122"/>
                <a:cs typeface="Calibri" pitchFamily="34" charset="-120"/>
              </a:rPr>
              <a:t>Last two faulted units are at remote sites; visits scheduled</a:t>
            </a:r>
            <a:endParaRPr lang="en-US" sz="1500" dirty="0"/>
          </a:p>
          <a:p>
            <a:pPr marL="342900" indent="-342900">
              <a:spcAft>
                <a:spcPts val="600"/>
              </a:spcAft>
              <a:buSzPct val="100000"/>
              <a:buChar char="•"/>
            </a:pPr>
            <a:r>
              <a:rPr lang="en-US" sz="1500" dirty="0">
                <a:solidFill>
                  <a:srgbClr val="2E2220"/>
                </a:solidFill>
                <a:latin typeface="Calibri" pitchFamily="34" charset="0"/>
                <a:ea typeface="Calibri" pitchFamily="34" charset="-122"/>
                <a:cs typeface="Calibri" pitchFamily="34" charset="-120"/>
              </a:rPr>
              <a:t>No faults on 2.4.2 in the lab or the field since release</a:t>
            </a:r>
            <a:endParaRPr lang="en-US" sz="1500" dirty="0"/>
          </a:p>
          <a:p>
            <a:pPr marL="342900" indent="-342900">
              <a:spcAft>
                <a:spcPts val="600"/>
              </a:spcAft>
              <a:buSzPct val="100000"/>
              <a:buChar char="•"/>
            </a:pPr>
            <a:r>
              <a:rPr lang="en-US" sz="1500" dirty="0">
                <a:solidFill>
                  <a:srgbClr val="2E2220"/>
                </a:solidFill>
                <a:latin typeface="Calibri" pitchFamily="34" charset="0"/>
                <a:ea typeface="Calibri" pitchFamily="34" charset="-122"/>
                <a:cs typeface="Calibri" pitchFamily="34" charset="-120"/>
              </a:rPr>
              <a:t>The other four MX-3 customers received 2.4.2 on their contract notice terms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E2220"/>
                </a:solidFill>
                <a:latin typeface="Cambria" pitchFamily="34" charset="0"/>
                <a:ea typeface="Cambria" pitchFamily="34" charset="-122"/>
                <a:cs typeface="Cambria" pitchFamily="34" charset="-120"/>
              </a:rPr>
              <a:t>How the Customer Took It</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We answered inside the 48-hour window, with a root cause rather than an investigation</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Legal's reading: a firmware update meets the contract's repair-or-replace remedy</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Quennick accepted the fix but has asked for a written root cause analysis</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Their confidence in our release process is the thing we have lost</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E2220"/>
                </a:solidFill>
                <a:latin typeface="Cambria" pitchFamily="34" charset="0"/>
                <a:ea typeface="Cambria" pitchFamily="34" charset="-122"/>
                <a:cs typeface="Cambria" pitchFamily="34" charset="-120"/>
              </a:rPr>
              <a:t>What Was Already Strained</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A two-week supplier slip delayed their GX-7 fulfillment earlier in the year</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Three support tickets open in March: high-ambient operation and firmware support horizon</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We promised a written firmware lifecycle policy within 30 days, due by April 25</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The fault landed on an account that already had open questions</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5A1E1E"/>
        </a:solidFill>
      </p:bgPr>
    </p:bg>
    <p:spTree>
      <p:nvGrpSpPr>
        <p:cNvPr id="1" name=""/>
        <p:cNvGrpSpPr/>
        <p:nvPr/>
      </p:nvGrpSpPr>
      <p:grpSpPr>
        <a:xfrm>
          <a:off x="0" y="0"/>
          <a:ext cx="0" cy="0"/>
          <a:chOff x="0" y="0"/>
          <a:chExt cx="0" cy="0"/>
        </a:xfrm>
      </p:grpSpPr>
      <p:sp>
        <p:nvSpPr>
          <p:cNvPr id="2" name="Text 0"/>
          <p:cNvSpPr/>
          <p:nvPr/>
        </p:nvSpPr>
        <p:spPr>
          <a:xfrm>
            <a:off x="548640" y="1234440"/>
            <a:ext cx="8046720" cy="365760"/>
          </a:xfrm>
          <a:prstGeom prst="rect">
            <a:avLst/>
          </a:prstGeom>
          <a:noFill/>
          <a:ln/>
        </p:spPr>
        <p:txBody>
          <a:bodyPr wrap="square" lIns="0" tIns="0" rIns="0" bIns="0" rtlCol="0" anchor="ctr"/>
          <a:lstStyle/>
          <a:p>
            <a:pPr indent="0" marL="0">
              <a:buNone/>
            </a:pPr>
            <a:r>
              <a:rPr lang="en-US" sz="1200" b="1" spc="300" kern="0" dirty="0">
                <a:solidFill>
                  <a:srgbClr val="E8B04A"/>
                </a:solidFill>
                <a:latin typeface="Calibri" pitchFamily="34" charset="0"/>
                <a:ea typeface="Calibri" pitchFamily="34" charset="-122"/>
                <a:cs typeface="Calibri" pitchFamily="34" charset="-120"/>
              </a:rPr>
              <a:t>PART 2</a:t>
            </a:r>
            <a:endParaRPr lang="en-US" sz="1200" dirty="0"/>
          </a:p>
        </p:txBody>
      </p:sp>
      <p:sp>
        <p:nvSpPr>
          <p:cNvPr id="3" name="Text 1"/>
          <p:cNvSpPr/>
          <p:nvPr/>
        </p:nvSpPr>
        <p:spPr>
          <a:xfrm>
            <a:off x="548640" y="1645920"/>
            <a:ext cx="8046720" cy="1188720"/>
          </a:xfrm>
          <a:prstGeom prst="rect">
            <a:avLst/>
          </a:prstGeom>
          <a:noFill/>
          <a:ln/>
        </p:spPr>
        <p:txBody>
          <a:bodyPr wrap="square" lIns="0" tIns="0" rIns="0" bIns="0" rtlCol="0" anchor="t">
            <a:normAutofit/>
          </a:bodyPr>
          <a:lstStyle/>
          <a:p>
            <a:pPr indent="0" marL="0">
              <a:buNone/>
            </a:pPr>
            <a:r>
              <a:rPr lang="en-US" sz="3200" b="1" dirty="0">
                <a:solidFill>
                  <a:srgbClr val="FFFFFF"/>
                </a:solidFill>
                <a:latin typeface="Cambria" pitchFamily="34" charset="0"/>
                <a:ea typeface="Cambria" pitchFamily="34" charset="-122"/>
                <a:cs typeface="Cambria" pitchFamily="34" charset="-120"/>
              </a:rPr>
              <a:t>Recovery Plan</a:t>
            </a:r>
            <a:endParaRPr lang="en-US" sz="3200" dirty="0"/>
          </a:p>
        </p:txBody>
      </p:sp>
      <p:sp>
        <p:nvSpPr>
          <p:cNvPr id="4" name="Text 2"/>
          <p:cNvSpPr/>
          <p:nvPr/>
        </p:nvSpPr>
        <p:spPr>
          <a:xfrm>
            <a:off x="548640" y="3017520"/>
            <a:ext cx="8046720" cy="548640"/>
          </a:xfrm>
          <a:prstGeom prst="rect">
            <a:avLst/>
          </a:prstGeom>
          <a:noFill/>
          <a:ln/>
        </p:spPr>
        <p:txBody>
          <a:bodyPr wrap="square" lIns="0" tIns="0" rIns="0" bIns="0" rtlCol="0" anchor="ctr">
            <a:normAutofit/>
          </a:bodyPr>
          <a:lstStyle/>
          <a:p>
            <a:pPr indent="0" marL="0">
              <a:buNone/>
            </a:pPr>
            <a:r>
              <a:rPr lang="en-US" sz="1600" dirty="0">
                <a:solidFill>
                  <a:srgbClr val="F4E4DF"/>
                </a:solidFill>
                <a:latin typeface="Calibri" pitchFamily="34" charset="0"/>
                <a:ea typeface="Calibri" pitchFamily="34" charset="-122"/>
                <a:cs typeface="Calibri" pitchFamily="34" charset="-120"/>
              </a:rPr>
              <a:t>What we do in the next 30 days, and what we need from every team</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E2220"/>
                </a:solidFill>
                <a:latin typeface="Cambria" pitchFamily="34" charset="0"/>
                <a:ea typeface="Cambria" pitchFamily="34" charset="-122"/>
                <a:cs typeface="Cambria" pitchFamily="34" charset="-120"/>
              </a:rPr>
              <a:t>Recovery Plan: Next 30 Days</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Written root cause analysis to Quennick by April 17 — Sofia, reviewed by Callum</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Weekly call with their operations lead until the last unit is updated — Theo and me</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Firmware lifecycle policy in writing by April 25 — Sofia and Callum</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High-temperature application note for their summer sites — Devon</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Call between Priya and their head of operations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E2220"/>
                </a:solidFill>
                <a:latin typeface="Cambria" pitchFamily="34" charset="0"/>
                <a:ea typeface="Cambria" pitchFamily="34" charset="-122"/>
                <a:cs typeface="Cambria" pitchFamily="34" charset="-120"/>
              </a:rPr>
              <a:t>Protecting the Expansion Order</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GX-7 second site: 300 units, $57,780, July ship target</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No price concession to compensate for the incident</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Offer instead: the lifecycle commitment and 2.4.x maintenance in writing</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Lead time: hold a July ship date only with supplier buffer confirmed</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E2220"/>
                </a:solidFill>
                <a:latin typeface="Cambria" pitchFamily="34" charset="0"/>
                <a:ea typeface="Cambria" pitchFamily="34" charset="-122"/>
                <a:cs typeface="Cambria" pitchFamily="34" charset="-120"/>
              </a:rPr>
              <a:t>What We Need From Other Teams</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Engineering: the root cause analysis, and the regression additions described in it</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Support: daily check of Quennick fault reports until all 312 units are on 2.4.2</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Operations: the application note, and a lead-time answer for the expansion</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Legal: the lifecycle policy language and a review of the root cause analysis</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Priya: the call with their head of operations</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E2220"/>
                </a:solidFill>
                <a:latin typeface="Cambria" pitchFamily="34" charset="0"/>
                <a:ea typeface="Cambria" pitchFamily="34" charset="-122"/>
                <a:cs typeface="Cambria" pitchFamily="34" charset="-120"/>
              </a:rPr>
              <a:t>Signals We Are Watching</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Any new fault report from a unit on 2.4.2</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How quickly their procurement answers on the expansion order</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Whether they ask for the root cause analysis to go to their executives</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Any mention of evaluating another supplier</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8229600" cy="731520"/>
          </a:xfrm>
          <a:prstGeom prst="rect">
            <a:avLst/>
          </a:prstGeom>
          <a:noFill/>
          <a:ln/>
        </p:spPr>
        <p:txBody>
          <a:bodyPr wrap="square" lIns="0" tIns="0" rIns="0" bIns="0" rtlCol="0" anchor="ctr">
            <a:normAutofit/>
          </a:bodyPr>
          <a:lstStyle/>
          <a:p>
            <a:pPr indent="0" marL="0">
              <a:buNone/>
            </a:pPr>
            <a:r>
              <a:rPr lang="en-US" sz="2800" b="1" dirty="0">
                <a:solidFill>
                  <a:srgbClr val="2E2220"/>
                </a:solidFill>
                <a:latin typeface="Cambria" pitchFamily="34" charset="0"/>
                <a:ea typeface="Cambria" pitchFamily="34" charset="-122"/>
                <a:cs typeface="Cambria" pitchFamily="34" charset="-120"/>
              </a:rPr>
              <a:t>Lessons for Other Accounts</a:t>
            </a:r>
            <a:endParaRPr lang="en-US" sz="2800" dirty="0"/>
          </a:p>
        </p:txBody>
      </p:sp>
      <p:sp>
        <p:nvSpPr>
          <p:cNvPr id="3" name="Text 1"/>
          <p:cNvSpPr/>
          <p:nvPr/>
        </p:nvSpPr>
        <p:spPr>
          <a:xfrm>
            <a:off x="457200" y="1234440"/>
            <a:ext cx="8229600" cy="3383280"/>
          </a:xfrm>
          <a:prstGeom prst="rect">
            <a:avLst/>
          </a:prstGeom>
          <a:noFill/>
          <a:ln/>
        </p:spPr>
        <p:txBody>
          <a:bodyPr wrap="square" lIns="635" tIns="635" rIns="635" bIns="635" rtlCol="0" anchor="t">
            <a:normAutofit/>
          </a:bodyPr>
          <a:lstStyle/>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Tell customers the root cause as soon as we know it</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Notify other affected customers before they find the fault themselves</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Check contract notice clauses before any firmware push</a:t>
            </a:r>
            <a:endParaRPr lang="en-US" sz="1700" dirty="0"/>
          </a:p>
          <a:p>
            <a:pPr marL="342900" indent="-342900">
              <a:spcAft>
                <a:spcPts val="600"/>
              </a:spcAft>
              <a:buSzPct val="100000"/>
              <a:buChar char="•"/>
            </a:pPr>
            <a:r>
              <a:rPr lang="en-US" sz="1700" dirty="0">
                <a:solidFill>
                  <a:srgbClr val="2E2220"/>
                </a:solidFill>
                <a:latin typeface="Calibri" pitchFamily="34" charset="0"/>
                <a:ea typeface="Calibri" pitchFamily="34" charset="-122"/>
                <a:cs typeface="Calibri" pitchFamily="34" charset="-120"/>
              </a:rPr>
              <a:t>Publish the lifecycle policy for every customer, not only Quennick</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Quennick Account Recovery Briefing</dc:title>
  <dc:subject>PptxGenJS Presentation</dc:subject>
  <dc:creator>Elena</dc:creator>
  <cp:lastModifiedBy>Elena</cp:lastModifiedBy>
  <cp:revision>1</cp:revision>
  <dcterms:created xsi:type="dcterms:W3CDTF">2026-04-15T09:00:00Z</dcterms:created>
  <dcterms:modified xsi:type="dcterms:W3CDTF">2026-04-15T09:00:00Z</dcterms:modified>
</cp:coreProperties>
</file>