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taking the FieldSense 200 Series to market, and the budget I am asking for to do it. We launch publicly on April 7, with the product page live quietly on April 4 so Elena and Jamal can put it in front of priority prospects first. The ask is $92,000 of campaign spend across April, May and June. In return, the targets I am holding myself to are 180 units sold in the first ninety days out of 250 sellable, and $750,000 of new qualified pipeline sourced by the campaign. The positioning is premium: we are selling measured accuracy in high-vibration environments, not price, and there is no launch discount. The rest of the deck is how we get there and what could stop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aiming at three kinds of buyer. The core is process plants with a lot of rotating equipment, where reliability engineers are used to sensor readings that drift as soon as vibration picks up. Second are systems integrators, who are fewer in number but specify sensors across dozens of end sites, so one win there is worth many direct deals; they care about PLC integration more than anyone. Third is energy and midstream, where stations are remote and a technician visit to re-verify a sensor is expensive. Elena and Jamal have been warming the pipeline for about six weeks already, and there are eight prospects waiting for the product page to go live. Those eight are spread across all three segments, which is some early evidence the targeting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campaign hangs off one claim: the FieldSense 200 holds plus or minus 0.3 percent accuracy in high-vibration conditions that push comparable sensors out to around plus or minus 2 percent. Marcus's test data is behind it, and Elena tells me it is the first thing customers ask about in almost every discovery call, so we are leading with what buyers already care about. The risk is a customer testing it in a slightly different setup and getting a worse number. So Callum is reviewing the claims language before any external asset is final, and every place the number appears will state the conditions it was measured under. I would rather lose a little punch in the headline than defend a claim that does not hold up on someone's pump skid.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settled. List is $840 a unit, and the volume break at twenty-five units is $800, which Priya and Renata approved; earlier working figures of $790 are wrong and should not appear anywhere. There is no launch discount. A premium product with a discount on day one tells the market the price was never real, and we are not expecting impulse orders anyway. Devon expects 300 units built by March 27. I am holding fifty of those for press samples and demo units, which leaves 250 to sell. That is the ceiling on what the first quarter of the campaign can convert into revenue, and it is why the 90-day unit target is 180 rather than something more ambitious.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mix is weighted toward channels where we can measure a lead back to its source. The owned channels are cheap: the email goes to our existing list of about four thousand contacts on launch day, and the product page carries the spec sheet and, if engineering can deliver it in time, a PLC compatibility note. Paid search goes live the same day and is the biggest single line in the budget. LinkedIn lets us reach reliability and controls engineers by job title. The Gulf Coast Process Expo in May is the one trade show, chosen because a large share of our target plants are in that region. On the earned side, the press release goes out through Cision on April 7 and our contributed article in Industrial Sensor Quarterly publishes on the 9th.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backwards from April 7. Claims language has to be final by February 20 because everything else is built on it, and creative locks on March 6 so there is time to fix anything Callum or engineering flags. Devon's inventory date of March 27 is the one I cannot move, and the readiness check the week of March 30 confirms both inventory and materials before we commit to paid media. The product page goes live on April 4 without promotion, which gives Sales a three-day head start with their priority list. The email, search and press release follow on the 7th and the article on the 9th. The expo in May is the midpoint push, and we review results against every target on July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come from Sales and I think they are both right. First, the fifteen prospects Jamal has identified get the product page link on April 4, three days before anyone else. It costs nothing and it lets those buyers feel they were given early access, which they were. Second, the fastest way to waste this budget is to generate leads and let them sit. Every form submission on the product page will post to a Slack channel as it arrives, and Jamal has committed to a first response within two business hours. Launch execution is mine; sales readiness is Elena's and Jamal's. If inbound runs well above plan, the two-hour commitment is the first thing I will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$92,000. Paid search is the largest line at $31,000, with most of it spent in April while launch interest is highest. The expo is $26,500 all in, including freight and travel for three people. LinkedIn is $12,000, video and photography $9,500, PR distribution and article support $6,000, and email and marketing operations $2,000. I have held $5,000 as contingency that I will not spend without Priya's approval. Not in this number are the fifty sample and demo units, which carry about $24,550 at our $491 standard cost and sit in inventory rather than in the marketing budget. At 180 units, the campaign costs roughly $510 per unit sold, which comes down quickly if the pipeline converts over the following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numbers I will report on July 6. Four hundred inbound form submissions works out to about $230 per lead at full spend, which is reasonable for an industrial product at this price. Of those I expect a hundred and twenty to be accepted as sales-qualified by Elena or Jamal. The pipeline target is $750,000, and units sold is 180, roughly $148,000 at a blend of list and volume pricing. The fifth measure is on us rather than the market: 95 percent of leads answered inside two business hours. If we miss the volume numbers but hit pipeline, I will read that as a slower buying cycle, not a failed launch, and I will say so rather than quietly moving the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could hurt the launch. Inventory is the biggest: if Devon's 300 units are not in by March 27, we move the launch date rather than generate demand we cannot fill. The accuracy claim needs Callum's sign-off by February 20; if he wants it softened, the data is the same and only the wording changes. The one I am most worried about is PLC compatibility. Several prospects run older Siemens controllers and want to know how the sensor integrates. Elena is getting a one-page note from Marcus and Sofia, and if it is not ready by April 4 we will take the question out of the messaging rather than invite it. The last risk is a good one to have: more demand than 250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four decisions this week to keep the timeline intact. The budget approval matters most, because paid search setup and the expo deposit both depend on it, and the expo booth needs its deposit by February 20 to hold the space we want. I also want April 7 confirmed as the date so Sales can start telling prospects something firmer than "spring". Priya has already indicated she is comfortable planning around Devon's inventory date. And I want the 50 and 250 split agreed now, so that no one on the sales side is surprised later that they cannot sell every unit in the building. With those four, everything else in this plan is mine to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4"/>
        </a:solidFill>
      </p:bgPr>
    </p:bg>
    <p:spTree>
      <p:nvGrpSpPr>
        <p:cNvPr id="1" name=""/>
        <p:cNvGrpSpPr/>
        <p:nvPr/>
      </p:nvGrpSpPr>
      <p:grpSpPr>
        <a:xfrm>
          <a:off x="0" y="0"/>
          <a:ext cx="0" cy="0"/>
          <a:chOff x="0" y="0"/>
          <a:chExt cx="0" cy="0"/>
        </a:xfrm>
      </p:grpSpPr>
      <p:sp>
        <p:nvSpPr>
          <p:cNvPr id="2" name="Shape 0"/>
          <p:cNvSpPr/>
          <p:nvPr/>
        </p:nvSpPr>
        <p:spPr>
          <a:xfrm>
            <a:off x="8412480" y="-1463040"/>
            <a:ext cx="5669280" cy="5669280"/>
          </a:xfrm>
          <a:prstGeom prst="ellipse">
            <a:avLst/>
          </a:prstGeom>
          <a:solidFill>
            <a:srgbClr val="F2B632">
              <a:alpha val="20000"/>
            </a:srgbClr>
          </a:solidFill>
          <a:ln w="12700">
            <a:solidFill>
              <a:srgbClr val="F2B632">
                <a:alpha val="20000"/>
              </a:srgbClr>
            </a:solidFill>
            <a:prstDash val="solid"/>
          </a:ln>
        </p:spPr>
      </p:sp>
      <p:sp>
        <p:nvSpPr>
          <p:cNvPr id="3" name="Text 1"/>
          <p:cNvSpPr txBox="1"/>
          <p:nvPr/>
        </p:nvSpPr>
        <p:spPr>
          <a:xfrm>
            <a:off x="548640" y="1828800"/>
            <a:ext cx="8229600" cy="365760"/>
          </a:xfrm>
          <a:prstGeom prst="rect">
            <a:avLst/>
          </a:prstGeom>
          <a:noFill/>
          <a:ln/>
        </p:spPr>
        <p:txBody>
          <a:bodyPr wrap="square" lIns="0" tIns="0" rIns="0" bIns="0" rtlCol="0" anchor="ctr"/>
          <a:lstStyle/>
          <a:p>
            <a:pPr indent="0" marL="0">
              <a:buNone/>
            </a:pPr>
            <a:r>
              <a:rPr lang="en-US" sz="1400" b="1" spc="200" kern="0" dirty="0">
                <a:solidFill>
                  <a:srgbClr val="F2B632"/>
                </a:solidFill>
                <a:latin typeface="Calibri" pitchFamily="34" charset="0"/>
                <a:ea typeface="Calibri" pitchFamily="34" charset="-122"/>
                <a:cs typeface="Calibri" pitchFamily="34" charset="-120"/>
              </a:rPr>
              <a:t>GO-TO-MARKET PLAN</a:t>
            </a:r>
            <a:endParaRPr lang="en-US" sz="1400" dirty="0"/>
          </a:p>
        </p:txBody>
      </p:sp>
      <p:sp>
        <p:nvSpPr>
          <p:cNvPr id="4" name="Text 2"/>
          <p:cNvSpPr txBox="1"/>
          <p:nvPr/>
        </p:nvSpPr>
        <p:spPr>
          <a:xfrm>
            <a:off x="548640" y="2286000"/>
            <a:ext cx="9601200" cy="1645920"/>
          </a:xfrm>
          <a:prstGeom prst="rect">
            <a:avLst/>
          </a:prstGeom>
          <a:noFill/>
          <a:ln/>
        </p:spPr>
        <p:txBody>
          <a:bodyPr wrap="square" lIns="0" tIns="0" rIns="0" bIns="0" rtlCol="0" anchor="t"/>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FieldSense 200 Series Launch Campaign Plan</a:t>
            </a:r>
            <a:endParaRPr lang="en-US" sz="4400" dirty="0"/>
          </a:p>
        </p:txBody>
      </p:sp>
      <p:sp>
        <p:nvSpPr>
          <p:cNvPr id="5" name="Text 3"/>
          <p:cNvSpPr txBox="1"/>
          <p:nvPr/>
        </p:nvSpPr>
        <p:spPr>
          <a:xfrm>
            <a:off x="548640" y="4206240"/>
            <a:ext cx="9144000" cy="822960"/>
          </a:xfrm>
          <a:prstGeom prst="rect">
            <a:avLst/>
          </a:prstGeom>
          <a:noFill/>
          <a:ln/>
        </p:spPr>
        <p:txBody>
          <a:bodyPr wrap="square" lIns="0" tIns="0" rIns="0" bIns="0" rtlCol="0" anchor="ctr"/>
          <a:lstStyle/>
          <a:p>
            <a:pPr indent="0" marL="0">
              <a:buNone/>
            </a:pPr>
            <a:r>
              <a:rPr lang="en-US" sz="1600" dirty="0">
                <a:solidFill>
                  <a:srgbClr val="BFD8D0"/>
                </a:solidFill>
                <a:latin typeface="Calibri" pitchFamily="34" charset="0"/>
                <a:ea typeface="Calibri" pitchFamily="34" charset="-122"/>
                <a:cs typeface="Calibri" pitchFamily="34" charset="-120"/>
              </a:rPr>
              <a:t>Marketing  ·  Nadia  ·  February 10,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The Launch Plan on One Page</a:t>
            </a:r>
            <a:endParaRPr lang="en-US" sz="3000" dirty="0"/>
          </a:p>
        </p:txBody>
      </p:sp>
      <p:sp>
        <p:nvSpPr>
          <p:cNvPr id="3" name="Shape 1"/>
          <p:cNvSpPr/>
          <p:nvPr/>
        </p:nvSpPr>
        <p:spPr>
          <a:xfrm>
            <a:off x="548640" y="1463040"/>
            <a:ext cx="2567864" cy="1828800"/>
          </a:xfrm>
          <a:prstGeom prst="roundRect">
            <a:avLst>
              <a:gd name="adj" fmla="val 4000"/>
            </a:avLst>
          </a:prstGeom>
          <a:solidFill>
            <a:srgbClr val="E8F3EF"/>
          </a:solidFill>
          <a:ln w="12700">
            <a:solidFill>
              <a:srgbClr val="E8F3EF"/>
            </a:solidFill>
            <a:prstDash val="solid"/>
          </a:ln>
        </p:spPr>
      </p:sp>
      <p:sp>
        <p:nvSpPr>
          <p:cNvPr id="4" name="Text 2"/>
          <p:cNvSpPr txBox="1"/>
          <p:nvPr/>
        </p:nvSpPr>
        <p:spPr>
          <a:xfrm>
            <a:off x="777240" y="1645920"/>
            <a:ext cx="2110664" cy="868680"/>
          </a:xfrm>
          <a:prstGeom prst="rect">
            <a:avLst/>
          </a:prstGeom>
          <a:noFill/>
          <a:ln/>
        </p:spPr>
        <p:txBody>
          <a:bodyPr wrap="square" lIns="0" tIns="0" rIns="0" bIns="0" rtlCol="0" anchor="ctr"/>
          <a:lstStyle/>
          <a:p>
            <a:pPr indent="0" marL="0">
              <a:buNone/>
            </a:pPr>
            <a:r>
              <a:rPr lang="en-US" sz="3400" b="1" dirty="0">
                <a:solidFill>
                  <a:srgbClr val="147A63"/>
                </a:solidFill>
                <a:latin typeface="Bookman Old Style" pitchFamily="34" charset="0"/>
                <a:ea typeface="Bookman Old Style" pitchFamily="34" charset="-122"/>
                <a:cs typeface="Bookman Old Style" pitchFamily="34" charset="-120"/>
              </a:rPr>
              <a:t>Apr 7</a:t>
            </a:r>
            <a:endParaRPr lang="en-US" sz="3400" dirty="0"/>
          </a:p>
        </p:txBody>
      </p:sp>
      <p:sp>
        <p:nvSpPr>
          <p:cNvPr id="5" name="Text 3"/>
          <p:cNvSpPr txBox="1"/>
          <p:nvPr/>
        </p:nvSpPr>
        <p:spPr>
          <a:xfrm>
            <a:off x="777240" y="2514600"/>
            <a:ext cx="2110664" cy="640080"/>
          </a:xfrm>
          <a:prstGeom prst="rect">
            <a:avLst/>
          </a:prstGeom>
          <a:noFill/>
          <a:ln/>
        </p:spPr>
        <p:txBody>
          <a:bodyPr wrap="square" lIns="0" tIns="0" rIns="0" bIns="0" rtlCol="0" anchor="t"/>
          <a:lstStyle/>
          <a:p>
            <a:pPr indent="0" marL="0">
              <a:buNone/>
            </a:pPr>
            <a:r>
              <a:rPr lang="en-US" sz="1300" dirty="0">
                <a:solidFill>
                  <a:srgbClr val="56706A"/>
                </a:solidFill>
                <a:latin typeface="Calibri" pitchFamily="34" charset="0"/>
                <a:ea typeface="Calibri" pitchFamily="34" charset="-122"/>
                <a:cs typeface="Calibri" pitchFamily="34" charset="-120"/>
              </a:rPr>
              <a:t>Public launch</a:t>
            </a:r>
            <a:endParaRPr lang="en-US" sz="1300" dirty="0"/>
          </a:p>
          <a:p>
            <a:pPr indent="0" marL="0">
              <a:buNone/>
            </a:pPr>
            <a:r>
              <a:rPr lang="en-US" sz="1300" dirty="0">
                <a:solidFill>
                  <a:srgbClr val="56706A"/>
                </a:solidFill>
                <a:latin typeface="Calibri" pitchFamily="34" charset="0"/>
                <a:ea typeface="Calibri" pitchFamily="34" charset="-122"/>
                <a:cs typeface="Calibri" pitchFamily="34" charset="-120"/>
              </a:rPr>
              <a:t>product page soft-live April 4</a:t>
            </a:r>
            <a:endParaRPr lang="en-US" sz="1300" dirty="0"/>
          </a:p>
        </p:txBody>
      </p:sp>
      <p:sp>
        <p:nvSpPr>
          <p:cNvPr id="6" name="Shape 4"/>
          <p:cNvSpPr/>
          <p:nvPr/>
        </p:nvSpPr>
        <p:spPr>
          <a:xfrm>
            <a:off x="3390824" y="1463040"/>
            <a:ext cx="2567864" cy="1828800"/>
          </a:xfrm>
          <a:prstGeom prst="roundRect">
            <a:avLst>
              <a:gd name="adj" fmla="val 4000"/>
            </a:avLst>
          </a:prstGeom>
          <a:solidFill>
            <a:srgbClr val="FFF1DC"/>
          </a:solidFill>
          <a:ln w="12700">
            <a:solidFill>
              <a:srgbClr val="FFF1DC"/>
            </a:solidFill>
            <a:prstDash val="solid"/>
          </a:ln>
        </p:spPr>
      </p:sp>
      <p:sp>
        <p:nvSpPr>
          <p:cNvPr id="7" name="Text 5"/>
          <p:cNvSpPr txBox="1"/>
          <p:nvPr/>
        </p:nvSpPr>
        <p:spPr>
          <a:xfrm>
            <a:off x="3619424" y="1645920"/>
            <a:ext cx="2110664" cy="868680"/>
          </a:xfrm>
          <a:prstGeom prst="rect">
            <a:avLst/>
          </a:prstGeom>
          <a:noFill/>
          <a:ln/>
        </p:spPr>
        <p:txBody>
          <a:bodyPr wrap="square" lIns="0" tIns="0" rIns="0" bIns="0" rtlCol="0" anchor="ctr"/>
          <a:lstStyle/>
          <a:p>
            <a:pPr indent="0" marL="0">
              <a:buNone/>
            </a:pPr>
            <a:r>
              <a:rPr lang="en-US" sz="3400" b="1" dirty="0">
                <a:solidFill>
                  <a:srgbClr val="B86B00"/>
                </a:solidFill>
                <a:latin typeface="Bookman Old Style" pitchFamily="34" charset="0"/>
                <a:ea typeface="Bookman Old Style" pitchFamily="34" charset="-122"/>
                <a:cs typeface="Bookman Old Style" pitchFamily="34" charset="-120"/>
              </a:rPr>
              <a:t>$92K</a:t>
            </a:r>
            <a:endParaRPr lang="en-US" sz="3400" dirty="0"/>
          </a:p>
        </p:txBody>
      </p:sp>
      <p:sp>
        <p:nvSpPr>
          <p:cNvPr id="8" name="Text 6"/>
          <p:cNvSpPr txBox="1"/>
          <p:nvPr/>
        </p:nvSpPr>
        <p:spPr>
          <a:xfrm>
            <a:off x="3619424" y="2514600"/>
            <a:ext cx="2110664" cy="640080"/>
          </a:xfrm>
          <a:prstGeom prst="rect">
            <a:avLst/>
          </a:prstGeom>
          <a:noFill/>
          <a:ln/>
        </p:spPr>
        <p:txBody>
          <a:bodyPr wrap="square" lIns="0" tIns="0" rIns="0" bIns="0" rtlCol="0" anchor="t"/>
          <a:lstStyle/>
          <a:p>
            <a:pPr indent="0" marL="0">
              <a:buNone/>
            </a:pPr>
            <a:r>
              <a:rPr lang="en-US" sz="1300" dirty="0">
                <a:solidFill>
                  <a:srgbClr val="56706A"/>
                </a:solidFill>
                <a:latin typeface="Calibri" pitchFamily="34" charset="0"/>
                <a:ea typeface="Calibri" pitchFamily="34" charset="-122"/>
                <a:cs typeface="Calibri" pitchFamily="34" charset="-120"/>
              </a:rPr>
              <a:t>Campaign budget requested</a:t>
            </a:r>
            <a:endParaRPr lang="en-US" sz="1300" dirty="0"/>
          </a:p>
          <a:p>
            <a:pPr indent="0" marL="0">
              <a:buNone/>
            </a:pPr>
            <a:r>
              <a:rPr lang="en-US" sz="1300" dirty="0">
                <a:solidFill>
                  <a:srgbClr val="56706A"/>
                </a:solidFill>
                <a:latin typeface="Calibri" pitchFamily="34" charset="0"/>
                <a:ea typeface="Calibri" pitchFamily="34" charset="-122"/>
                <a:cs typeface="Calibri" pitchFamily="34" charset="-120"/>
              </a:rPr>
              <a:t>April through June</a:t>
            </a:r>
            <a:endParaRPr lang="en-US" sz="1300" dirty="0"/>
          </a:p>
        </p:txBody>
      </p:sp>
      <p:sp>
        <p:nvSpPr>
          <p:cNvPr id="9" name="Shape 7"/>
          <p:cNvSpPr/>
          <p:nvPr/>
        </p:nvSpPr>
        <p:spPr>
          <a:xfrm>
            <a:off x="6233008" y="1463040"/>
            <a:ext cx="2567864" cy="1828800"/>
          </a:xfrm>
          <a:prstGeom prst="roundRect">
            <a:avLst>
              <a:gd name="adj" fmla="val 4000"/>
            </a:avLst>
          </a:prstGeom>
          <a:solidFill>
            <a:srgbClr val="E8F3EF"/>
          </a:solidFill>
          <a:ln w="12700">
            <a:solidFill>
              <a:srgbClr val="E8F3EF"/>
            </a:solidFill>
            <a:prstDash val="solid"/>
          </a:ln>
        </p:spPr>
      </p:sp>
      <p:sp>
        <p:nvSpPr>
          <p:cNvPr id="10" name="Text 8"/>
          <p:cNvSpPr txBox="1"/>
          <p:nvPr/>
        </p:nvSpPr>
        <p:spPr>
          <a:xfrm>
            <a:off x="6461608" y="1645920"/>
            <a:ext cx="2110664" cy="868680"/>
          </a:xfrm>
          <a:prstGeom prst="rect">
            <a:avLst/>
          </a:prstGeom>
          <a:noFill/>
          <a:ln/>
        </p:spPr>
        <p:txBody>
          <a:bodyPr wrap="square" lIns="0" tIns="0" rIns="0" bIns="0" rtlCol="0" anchor="ctr"/>
          <a:lstStyle/>
          <a:p>
            <a:pPr indent="0" marL="0">
              <a:buNone/>
            </a:pPr>
            <a:r>
              <a:rPr lang="en-US" sz="3400" b="1" dirty="0">
                <a:solidFill>
                  <a:srgbClr val="147A63"/>
                </a:solidFill>
                <a:latin typeface="Bookman Old Style" pitchFamily="34" charset="0"/>
                <a:ea typeface="Bookman Old Style" pitchFamily="34" charset="-122"/>
                <a:cs typeface="Bookman Old Style" pitchFamily="34" charset="-120"/>
              </a:rPr>
              <a:t>180</a:t>
            </a:r>
            <a:endParaRPr lang="en-US" sz="3400" dirty="0"/>
          </a:p>
        </p:txBody>
      </p:sp>
      <p:sp>
        <p:nvSpPr>
          <p:cNvPr id="11" name="Text 9"/>
          <p:cNvSpPr txBox="1"/>
          <p:nvPr/>
        </p:nvSpPr>
        <p:spPr>
          <a:xfrm>
            <a:off x="6461608" y="2514600"/>
            <a:ext cx="2110664" cy="640080"/>
          </a:xfrm>
          <a:prstGeom prst="rect">
            <a:avLst/>
          </a:prstGeom>
          <a:noFill/>
          <a:ln/>
        </p:spPr>
        <p:txBody>
          <a:bodyPr wrap="square" lIns="0" tIns="0" rIns="0" bIns="0" rtlCol="0" anchor="t"/>
          <a:lstStyle/>
          <a:p>
            <a:pPr indent="0" marL="0">
              <a:buNone/>
            </a:pPr>
            <a:r>
              <a:rPr lang="en-US" sz="1300" dirty="0">
                <a:solidFill>
                  <a:srgbClr val="56706A"/>
                </a:solidFill>
                <a:latin typeface="Calibri" pitchFamily="34" charset="0"/>
                <a:ea typeface="Calibri" pitchFamily="34" charset="-122"/>
                <a:cs typeface="Calibri" pitchFamily="34" charset="-120"/>
              </a:rPr>
              <a:t>Units sold in the first 90 days</a:t>
            </a:r>
            <a:endParaRPr lang="en-US" sz="1300" dirty="0"/>
          </a:p>
          <a:p>
            <a:pPr indent="0" marL="0">
              <a:buNone/>
            </a:pPr>
            <a:r>
              <a:rPr lang="en-US" sz="1300" dirty="0">
                <a:solidFill>
                  <a:srgbClr val="56706A"/>
                </a:solidFill>
                <a:latin typeface="Calibri" pitchFamily="34" charset="0"/>
                <a:ea typeface="Calibri" pitchFamily="34" charset="-122"/>
                <a:cs typeface="Calibri" pitchFamily="34" charset="-120"/>
              </a:rPr>
              <a:t>from 250 sellable</a:t>
            </a:r>
            <a:endParaRPr lang="en-US" sz="1300" dirty="0"/>
          </a:p>
        </p:txBody>
      </p:sp>
      <p:sp>
        <p:nvSpPr>
          <p:cNvPr id="12" name="Shape 10"/>
          <p:cNvSpPr/>
          <p:nvPr/>
        </p:nvSpPr>
        <p:spPr>
          <a:xfrm>
            <a:off x="9075191" y="1463040"/>
            <a:ext cx="2567864" cy="1828800"/>
          </a:xfrm>
          <a:prstGeom prst="roundRect">
            <a:avLst>
              <a:gd name="adj" fmla="val 4000"/>
            </a:avLst>
          </a:prstGeom>
          <a:solidFill>
            <a:srgbClr val="E8F3EF"/>
          </a:solidFill>
          <a:ln w="12700">
            <a:solidFill>
              <a:srgbClr val="E8F3EF"/>
            </a:solidFill>
            <a:prstDash val="solid"/>
          </a:ln>
        </p:spPr>
      </p:sp>
      <p:sp>
        <p:nvSpPr>
          <p:cNvPr id="13" name="Text 11"/>
          <p:cNvSpPr txBox="1"/>
          <p:nvPr/>
        </p:nvSpPr>
        <p:spPr>
          <a:xfrm>
            <a:off x="9303791" y="1645920"/>
            <a:ext cx="2110664" cy="868680"/>
          </a:xfrm>
          <a:prstGeom prst="rect">
            <a:avLst/>
          </a:prstGeom>
          <a:noFill/>
          <a:ln/>
        </p:spPr>
        <p:txBody>
          <a:bodyPr wrap="square" lIns="0" tIns="0" rIns="0" bIns="0" rtlCol="0" anchor="ctr"/>
          <a:lstStyle/>
          <a:p>
            <a:pPr indent="0" marL="0">
              <a:buNone/>
            </a:pPr>
            <a:r>
              <a:rPr lang="en-US" sz="3400" b="1" dirty="0">
                <a:solidFill>
                  <a:srgbClr val="147A63"/>
                </a:solidFill>
                <a:latin typeface="Bookman Old Style" pitchFamily="34" charset="0"/>
                <a:ea typeface="Bookman Old Style" pitchFamily="34" charset="-122"/>
                <a:cs typeface="Bookman Old Style" pitchFamily="34" charset="-120"/>
              </a:rPr>
              <a:t>$750K</a:t>
            </a:r>
            <a:endParaRPr lang="en-US" sz="3400" dirty="0"/>
          </a:p>
        </p:txBody>
      </p:sp>
      <p:sp>
        <p:nvSpPr>
          <p:cNvPr id="14" name="Text 12"/>
          <p:cNvSpPr txBox="1"/>
          <p:nvPr/>
        </p:nvSpPr>
        <p:spPr>
          <a:xfrm>
            <a:off x="9303791" y="2514600"/>
            <a:ext cx="2110664" cy="640080"/>
          </a:xfrm>
          <a:prstGeom prst="rect">
            <a:avLst/>
          </a:prstGeom>
          <a:noFill/>
          <a:ln/>
        </p:spPr>
        <p:txBody>
          <a:bodyPr wrap="square" lIns="0" tIns="0" rIns="0" bIns="0" rtlCol="0" anchor="t"/>
          <a:lstStyle/>
          <a:p>
            <a:pPr indent="0" marL="0">
              <a:buNone/>
            </a:pPr>
            <a:r>
              <a:rPr lang="en-US" sz="1300" dirty="0">
                <a:solidFill>
                  <a:srgbClr val="56706A"/>
                </a:solidFill>
                <a:latin typeface="Calibri" pitchFamily="34" charset="0"/>
                <a:ea typeface="Calibri" pitchFamily="34" charset="-122"/>
                <a:cs typeface="Calibri" pitchFamily="34" charset="-120"/>
              </a:rPr>
              <a:t>New qualified pipeline</a:t>
            </a:r>
            <a:endParaRPr lang="en-US" sz="1300" dirty="0"/>
          </a:p>
          <a:p>
            <a:pPr indent="0" marL="0">
              <a:buNone/>
            </a:pPr>
            <a:r>
              <a:rPr lang="en-US" sz="1300" dirty="0">
                <a:solidFill>
                  <a:srgbClr val="56706A"/>
                </a:solidFill>
                <a:latin typeface="Calibri" pitchFamily="34" charset="0"/>
                <a:ea typeface="Calibri" pitchFamily="34" charset="-122"/>
                <a:cs typeface="Calibri" pitchFamily="34" charset="-120"/>
              </a:rPr>
              <a:t>sourced in 90 days</a:t>
            </a:r>
            <a:endParaRPr lang="en-US" sz="1300" dirty="0"/>
          </a:p>
        </p:txBody>
      </p:sp>
      <p:sp>
        <p:nvSpPr>
          <p:cNvPr id="15" name="Text 13"/>
          <p:cNvSpPr txBox="1"/>
          <p:nvPr/>
        </p:nvSpPr>
        <p:spPr>
          <a:xfrm>
            <a:off x="548640" y="3657600"/>
            <a:ext cx="11094415" cy="27432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22403A"/>
                </a:solidFill>
                <a:latin typeface="Calibri" pitchFamily="34" charset="0"/>
                <a:ea typeface="Calibri" pitchFamily="34" charset="-122"/>
                <a:cs typeface="Calibri" pitchFamily="34" charset="-120"/>
              </a:rPr>
              <a:t>Premium positioning on accuracy under vibration; no launch discount</a:t>
            </a:r>
            <a:endParaRPr lang="en-US" sz="1600" dirty="0"/>
          </a:p>
          <a:p>
            <a:pPr marL="228600" indent="-228600">
              <a:spcAft>
                <a:spcPts val="800"/>
              </a:spcAft>
              <a:buSzPct val="100000"/>
              <a:buChar char="•"/>
            </a:pPr>
            <a:r>
              <a:rPr lang="en-US" sz="1600" dirty="0">
                <a:solidFill>
                  <a:srgbClr val="22403A"/>
                </a:solidFill>
                <a:latin typeface="Calibri" pitchFamily="34" charset="0"/>
                <a:ea typeface="Calibri" pitchFamily="34" charset="-122"/>
                <a:cs typeface="Calibri" pitchFamily="34" charset="-120"/>
              </a:rPr>
              <a:t>Email, paid search, trade press, and one regional trade show</a:t>
            </a:r>
            <a:endParaRPr lang="en-US" sz="1600" dirty="0"/>
          </a:p>
          <a:p>
            <a:pPr marL="228600" indent="-228600">
              <a:spcAft>
                <a:spcPts val="800"/>
              </a:spcAft>
              <a:buSzPct val="100000"/>
              <a:buChar char="•"/>
            </a:pPr>
            <a:r>
              <a:rPr lang="en-US" sz="1600" dirty="0">
                <a:solidFill>
                  <a:srgbClr val="22403A"/>
                </a:solidFill>
                <a:latin typeface="Calibri" pitchFamily="34" charset="0"/>
                <a:ea typeface="Calibri" pitchFamily="34" charset="-122"/>
                <a:cs typeface="Calibri" pitchFamily="34" charset="-120"/>
              </a:rPr>
              <a:t>Sales ready to respond to every inbound lead within two business hours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34"/>
        </a:solidFill>
      </p:bgPr>
    </p:bg>
    <p:spTree>
      <p:nvGrpSpPr>
        <p:cNvPr id="1" name=""/>
        <p:cNvGrpSpPr/>
        <p:nvPr/>
      </p:nvGrpSpPr>
      <p:grpSpPr>
        <a:xfrm>
          <a:off x="0" y="0"/>
          <a:ext cx="0" cy="0"/>
          <a:chOff x="0" y="0"/>
          <a:chExt cx="0" cy="0"/>
        </a:xfrm>
      </p:grpSpPr>
      <p:sp>
        <p:nvSpPr>
          <p:cNvPr id="2" name="Shape 0"/>
          <p:cNvSpPr/>
          <p:nvPr/>
        </p:nvSpPr>
        <p:spPr>
          <a:xfrm>
            <a:off x="548640" y="2148840"/>
            <a:ext cx="1188720" cy="1188720"/>
          </a:xfrm>
          <a:prstGeom prst="ellipse">
            <a:avLst/>
          </a:prstGeom>
          <a:solidFill>
            <a:srgbClr val="F2B632"/>
          </a:solidFill>
          <a:ln w="12700">
            <a:solidFill>
              <a:srgbClr val="F2B632"/>
            </a:solidFill>
            <a:prstDash val="solid"/>
          </a:ln>
        </p:spPr>
      </p:sp>
      <p:sp>
        <p:nvSpPr>
          <p:cNvPr id="3" name="Text 1"/>
          <p:cNvSpPr txBox="1"/>
          <p:nvPr/>
        </p:nvSpPr>
        <p:spPr>
          <a:xfrm>
            <a:off x="548640" y="2148840"/>
            <a:ext cx="1188720" cy="1188720"/>
          </a:xfrm>
          <a:prstGeom prst="rect">
            <a:avLst/>
          </a:prstGeom>
          <a:noFill/>
          <a:ln/>
        </p:spPr>
        <p:txBody>
          <a:bodyPr wrap="square" lIns="0" tIns="0" rIns="0" bIns="0" rtlCol="0" anchor="ctr"/>
          <a:lstStyle/>
          <a:p>
            <a:pPr algn="ctr" indent="0" marL="0">
              <a:buNone/>
            </a:pPr>
            <a:r>
              <a:rPr lang="en-US" sz="3000" b="1" dirty="0">
                <a:solidFill>
                  <a:srgbClr val="0E3B34"/>
                </a:solidFill>
                <a:latin typeface="Bookman Old Style" pitchFamily="34" charset="0"/>
                <a:ea typeface="Bookman Old Style" pitchFamily="34" charset="-122"/>
                <a:cs typeface="Bookman Old Style" pitchFamily="34" charset="-120"/>
              </a:rPr>
              <a:t>01</a:t>
            </a:r>
            <a:endParaRPr lang="en-US" sz="3000" dirty="0"/>
          </a:p>
        </p:txBody>
      </p:sp>
      <p:sp>
        <p:nvSpPr>
          <p:cNvPr id="4" name="Text 2"/>
          <p:cNvSpPr txBox="1"/>
          <p:nvPr/>
        </p:nvSpPr>
        <p:spPr>
          <a:xfrm>
            <a:off x="2103120" y="20574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Bookman Old Style" pitchFamily="34" charset="0"/>
                <a:ea typeface="Bookman Old Style" pitchFamily="34" charset="-122"/>
                <a:cs typeface="Bookman Old Style" pitchFamily="34" charset="-120"/>
              </a:rPr>
              <a:t>Positioning</a:t>
            </a:r>
            <a:endParaRPr lang="en-US" sz="3600" dirty="0"/>
          </a:p>
        </p:txBody>
      </p:sp>
      <p:sp>
        <p:nvSpPr>
          <p:cNvPr id="5" name="Text 3"/>
          <p:cNvSpPr txBox="1"/>
          <p:nvPr/>
        </p:nvSpPr>
        <p:spPr>
          <a:xfrm>
            <a:off x="2103120" y="2880360"/>
            <a:ext cx="8686800" cy="548640"/>
          </a:xfrm>
          <a:prstGeom prst="rect">
            <a:avLst/>
          </a:prstGeom>
          <a:noFill/>
          <a:ln/>
        </p:spPr>
        <p:txBody>
          <a:bodyPr wrap="square" lIns="0" tIns="0" rIns="0" bIns="0" rtlCol="0" anchor="ctr"/>
          <a:lstStyle/>
          <a:p>
            <a:pPr indent="0" marL="0">
              <a:buNone/>
            </a:pPr>
            <a:r>
              <a:rPr lang="en-US" sz="1600" dirty="0">
                <a:solidFill>
                  <a:srgbClr val="BFD8D0"/>
                </a:solidFill>
                <a:latin typeface="Calibri" pitchFamily="34" charset="0"/>
                <a:ea typeface="Calibri" pitchFamily="34" charset="-122"/>
                <a:cs typeface="Calibri" pitchFamily="34" charset="-120"/>
              </a:rPr>
              <a:t>Who we are selling to, and the one claim we lead with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Who the FieldSense 200 Is For</a:t>
            </a:r>
            <a:endParaRPr lang="en-US" sz="3000" dirty="0"/>
          </a:p>
        </p:txBody>
      </p:sp>
      <p:sp>
        <p:nvSpPr>
          <p:cNvPr id="3" name="Shape 1"/>
          <p:cNvSpPr/>
          <p:nvPr/>
        </p:nvSpPr>
        <p:spPr>
          <a:xfrm>
            <a:off x="548640" y="1463040"/>
            <a:ext cx="3515258" cy="4846320"/>
          </a:xfrm>
          <a:prstGeom prst="roundRect">
            <a:avLst>
              <a:gd name="adj" fmla="val 2081"/>
            </a:avLst>
          </a:prstGeom>
          <a:solidFill>
            <a:srgbClr val="E8F3EF"/>
          </a:solidFill>
          <a:ln w="12700">
            <a:solidFill>
              <a:srgbClr val="E8F3EF"/>
            </a:solidFill>
            <a:prstDash val="solid"/>
          </a:ln>
        </p:spPr>
      </p:sp>
      <p:sp>
        <p:nvSpPr>
          <p:cNvPr id="4" name="Text 2"/>
          <p:cNvSpPr txBox="1"/>
          <p:nvPr/>
        </p:nvSpPr>
        <p:spPr>
          <a:xfrm>
            <a:off x="777240" y="1691640"/>
            <a:ext cx="3058058" cy="731520"/>
          </a:xfrm>
          <a:prstGeom prst="rect">
            <a:avLst/>
          </a:prstGeom>
          <a:noFill/>
          <a:ln/>
        </p:spPr>
        <p:txBody>
          <a:bodyPr wrap="square" lIns="0" tIns="0" rIns="0" bIns="0" rtlCol="0" anchor="t"/>
          <a:lstStyle/>
          <a:p>
            <a:pPr indent="0" marL="0">
              <a:buNone/>
            </a:pPr>
            <a:r>
              <a:rPr lang="en-US" sz="2000" b="1" dirty="0">
                <a:solidFill>
                  <a:srgbClr val="147A63"/>
                </a:solidFill>
                <a:latin typeface="Bookman Old Style" pitchFamily="34" charset="0"/>
                <a:ea typeface="Bookman Old Style" pitchFamily="34" charset="-122"/>
                <a:cs typeface="Bookman Old Style" pitchFamily="34" charset="-120"/>
              </a:rPr>
              <a:t>Process plants</a:t>
            </a:r>
            <a:endParaRPr lang="en-US" sz="2000" dirty="0"/>
          </a:p>
        </p:txBody>
      </p:sp>
      <p:sp>
        <p:nvSpPr>
          <p:cNvPr id="5" name="Text 3"/>
          <p:cNvSpPr txBox="1"/>
          <p:nvPr/>
        </p:nvSpPr>
        <p:spPr>
          <a:xfrm>
            <a:off x="777240"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Pumps, compressors, and rotating equipment</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Buyer: reliability and maintenance engineers</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Pain: readings that wander when the machine shakes</a:t>
            </a:r>
            <a:endParaRPr lang="en-US" sz="1500" dirty="0"/>
          </a:p>
        </p:txBody>
      </p:sp>
      <p:sp>
        <p:nvSpPr>
          <p:cNvPr id="6" name="Shape 4"/>
          <p:cNvSpPr/>
          <p:nvPr/>
        </p:nvSpPr>
        <p:spPr>
          <a:xfrm>
            <a:off x="4338218" y="1463040"/>
            <a:ext cx="3515258" cy="4846320"/>
          </a:xfrm>
          <a:prstGeom prst="roundRect">
            <a:avLst>
              <a:gd name="adj" fmla="val 2081"/>
            </a:avLst>
          </a:prstGeom>
          <a:solidFill>
            <a:srgbClr val="E8F3EF"/>
          </a:solidFill>
          <a:ln w="12700">
            <a:solidFill>
              <a:srgbClr val="E8F3EF"/>
            </a:solidFill>
            <a:prstDash val="solid"/>
          </a:ln>
        </p:spPr>
      </p:sp>
      <p:sp>
        <p:nvSpPr>
          <p:cNvPr id="7" name="Text 5"/>
          <p:cNvSpPr txBox="1"/>
          <p:nvPr/>
        </p:nvSpPr>
        <p:spPr>
          <a:xfrm>
            <a:off x="4566818" y="1691640"/>
            <a:ext cx="3058058" cy="731520"/>
          </a:xfrm>
          <a:prstGeom prst="rect">
            <a:avLst/>
          </a:prstGeom>
          <a:noFill/>
          <a:ln/>
        </p:spPr>
        <p:txBody>
          <a:bodyPr wrap="square" lIns="0" tIns="0" rIns="0" bIns="0" rtlCol="0" anchor="t"/>
          <a:lstStyle/>
          <a:p>
            <a:pPr indent="0" marL="0">
              <a:buNone/>
            </a:pPr>
            <a:r>
              <a:rPr lang="en-US" sz="2000" b="1" dirty="0">
                <a:solidFill>
                  <a:srgbClr val="147A63"/>
                </a:solidFill>
                <a:latin typeface="Bookman Old Style" pitchFamily="34" charset="0"/>
                <a:ea typeface="Bookman Old Style" pitchFamily="34" charset="-122"/>
                <a:cs typeface="Bookman Old Style" pitchFamily="34" charset="-120"/>
              </a:rPr>
              <a:t>Systems integrators</a:t>
            </a:r>
            <a:endParaRPr lang="en-US" sz="2000" dirty="0"/>
          </a:p>
        </p:txBody>
      </p:sp>
      <p:sp>
        <p:nvSpPr>
          <p:cNvPr id="8" name="Text 6"/>
          <p:cNvSpPr txBox="1"/>
          <p:nvPr/>
        </p:nvSpPr>
        <p:spPr>
          <a:xfrm>
            <a:off x="4566818"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Specify sensors across many end sites</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Buyer: controls engineers</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Need: clean PLC integration and documentation</a:t>
            </a:r>
            <a:endParaRPr lang="en-US" sz="1500" dirty="0"/>
          </a:p>
        </p:txBody>
      </p:sp>
      <p:sp>
        <p:nvSpPr>
          <p:cNvPr id="9" name="Shape 7"/>
          <p:cNvSpPr/>
          <p:nvPr/>
        </p:nvSpPr>
        <p:spPr>
          <a:xfrm>
            <a:off x="8127797" y="1463040"/>
            <a:ext cx="3515258" cy="4846320"/>
          </a:xfrm>
          <a:prstGeom prst="roundRect">
            <a:avLst>
              <a:gd name="adj" fmla="val 2081"/>
            </a:avLst>
          </a:prstGeom>
          <a:solidFill>
            <a:srgbClr val="E8F3EF"/>
          </a:solidFill>
          <a:ln w="12700">
            <a:solidFill>
              <a:srgbClr val="E8F3EF"/>
            </a:solidFill>
            <a:prstDash val="solid"/>
          </a:ln>
        </p:spPr>
      </p:sp>
      <p:sp>
        <p:nvSpPr>
          <p:cNvPr id="10" name="Text 8"/>
          <p:cNvSpPr txBox="1"/>
          <p:nvPr/>
        </p:nvSpPr>
        <p:spPr>
          <a:xfrm>
            <a:off x="8356397" y="1691640"/>
            <a:ext cx="3058058" cy="731520"/>
          </a:xfrm>
          <a:prstGeom prst="rect">
            <a:avLst/>
          </a:prstGeom>
          <a:noFill/>
          <a:ln/>
        </p:spPr>
        <p:txBody>
          <a:bodyPr wrap="square" lIns="0" tIns="0" rIns="0" bIns="0" rtlCol="0" anchor="t"/>
          <a:lstStyle/>
          <a:p>
            <a:pPr indent="0" marL="0">
              <a:buNone/>
            </a:pPr>
            <a:r>
              <a:rPr lang="en-US" sz="2000" b="1" dirty="0">
                <a:solidFill>
                  <a:srgbClr val="147A63"/>
                </a:solidFill>
                <a:latin typeface="Bookman Old Style" pitchFamily="34" charset="0"/>
                <a:ea typeface="Bookman Old Style" pitchFamily="34" charset="-122"/>
                <a:cs typeface="Bookman Old Style" pitchFamily="34" charset="-120"/>
              </a:rPr>
              <a:t>Energy and midstream</a:t>
            </a:r>
            <a:endParaRPr lang="en-US" sz="2000" dirty="0"/>
          </a:p>
        </p:txBody>
      </p:sp>
      <p:sp>
        <p:nvSpPr>
          <p:cNvPr id="11" name="Text 9"/>
          <p:cNvSpPr txBox="1"/>
          <p:nvPr/>
        </p:nvSpPr>
        <p:spPr>
          <a:xfrm>
            <a:off x="8356397"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Remote stations, harsh conditions</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Buyer: instrumentation leads</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Need: accuracy they do not have to re-verify on site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The Core Claim: Accuracy Under Vibration</a:t>
            </a:r>
            <a:endParaRPr lang="en-US" sz="3000" dirty="0"/>
          </a:p>
        </p:txBody>
      </p:sp>
      <p:sp>
        <p:nvSpPr>
          <p:cNvPr id="3" name="Text 1"/>
          <p:cNvSpPr txBox="1"/>
          <p:nvPr/>
        </p:nvSpPr>
        <p:spPr>
          <a:xfrm>
            <a:off x="548640" y="1508760"/>
            <a:ext cx="6766560" cy="47548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±0.3% accuracy in high-vibration conditions</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Comparable units drift to about ±2% under the same conditions</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Backed by Marcus's engineering test data</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Claim wording under review by Callum; nothing external ships without his sign-off</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Every asset states the test conditions alongside the number</a:t>
            </a:r>
            <a:endParaRPr lang="en-US" sz="1700" dirty="0"/>
          </a:p>
        </p:txBody>
      </p:sp>
      <p:sp>
        <p:nvSpPr>
          <p:cNvPr id="4" name="Shape 2"/>
          <p:cNvSpPr/>
          <p:nvPr/>
        </p:nvSpPr>
        <p:spPr>
          <a:xfrm>
            <a:off x="7772400" y="1508760"/>
            <a:ext cx="3870655" cy="4480560"/>
          </a:xfrm>
          <a:prstGeom prst="roundRect">
            <a:avLst>
              <a:gd name="adj" fmla="val 1890"/>
            </a:avLst>
          </a:prstGeom>
          <a:solidFill>
            <a:srgbClr val="0E3B34"/>
          </a:solidFill>
          <a:ln w="12700">
            <a:solidFill>
              <a:srgbClr val="0E3B34"/>
            </a:solidFill>
            <a:prstDash val="solid"/>
          </a:ln>
        </p:spPr>
      </p:sp>
      <p:sp>
        <p:nvSpPr>
          <p:cNvPr id="5" name="Text 3"/>
          <p:cNvSpPr txBox="1"/>
          <p:nvPr/>
        </p:nvSpPr>
        <p:spPr>
          <a:xfrm>
            <a:off x="8092440" y="1828800"/>
            <a:ext cx="3230575" cy="1188720"/>
          </a:xfrm>
          <a:prstGeom prst="rect">
            <a:avLst/>
          </a:prstGeom>
          <a:noFill/>
          <a:ln/>
        </p:spPr>
        <p:txBody>
          <a:bodyPr wrap="square" lIns="0" tIns="0" rIns="0" bIns="0" rtlCol="0" anchor="b"/>
          <a:lstStyle/>
          <a:p>
            <a:pPr indent="0" marL="0">
              <a:buNone/>
            </a:pPr>
            <a:r>
              <a:rPr lang="en-US" sz="4800" b="1" dirty="0">
                <a:solidFill>
                  <a:srgbClr val="F2B632"/>
                </a:solidFill>
                <a:latin typeface="Bookman Old Style" pitchFamily="34" charset="0"/>
                <a:ea typeface="Bookman Old Style" pitchFamily="34" charset="-122"/>
                <a:cs typeface="Bookman Old Style" pitchFamily="34" charset="-120"/>
              </a:rPr>
              <a:t>±0.3%</a:t>
            </a:r>
            <a:endParaRPr lang="en-US" sz="4800" dirty="0"/>
          </a:p>
        </p:txBody>
      </p:sp>
      <p:sp>
        <p:nvSpPr>
          <p:cNvPr id="6" name="Text 4"/>
          <p:cNvSpPr txBox="1"/>
          <p:nvPr/>
        </p:nvSpPr>
        <p:spPr>
          <a:xfrm>
            <a:off x="8092440" y="3154680"/>
            <a:ext cx="3230575" cy="2560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Measured accuracy under high vibration, against roughly ±2% for competing units. The number customers ask about first.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Pricing and Launch Inventory</a:t>
            </a:r>
            <a:endParaRPr lang="en-US" sz="3000" dirty="0"/>
          </a:p>
        </p:txBody>
      </p:sp>
      <p:sp>
        <p:nvSpPr>
          <p:cNvPr id="3" name="Shape 1"/>
          <p:cNvSpPr/>
          <p:nvPr/>
        </p:nvSpPr>
        <p:spPr>
          <a:xfrm>
            <a:off x="548640" y="1463040"/>
            <a:ext cx="11094415" cy="658368"/>
          </a:xfrm>
          <a:prstGeom prst="rect">
            <a:avLst/>
          </a:prstGeom>
          <a:solidFill>
            <a:srgbClr val="E8F3EF"/>
          </a:solidFill>
          <a:ln w="12700">
            <a:solidFill>
              <a:srgbClr val="E8F3EF"/>
            </a:solidFill>
            <a:prstDash val="solid"/>
          </a:ln>
        </p:spPr>
      </p:sp>
      <p:sp>
        <p:nvSpPr>
          <p:cNvPr id="4" name="Text 2"/>
          <p:cNvSpPr txBox="1"/>
          <p:nvPr/>
        </p:nvSpPr>
        <p:spPr>
          <a:xfrm>
            <a:off x="777240" y="1463040"/>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List price</a:t>
            </a:r>
            <a:endParaRPr lang="en-US" sz="1500" dirty="0"/>
          </a:p>
        </p:txBody>
      </p:sp>
      <p:sp>
        <p:nvSpPr>
          <p:cNvPr id="5" name="Text 3"/>
          <p:cNvSpPr txBox="1"/>
          <p:nvPr/>
        </p:nvSpPr>
        <p:spPr>
          <a:xfrm>
            <a:off x="4114800" y="1463040"/>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$840</a:t>
            </a:r>
            <a:endParaRPr lang="en-US" sz="1800" dirty="0"/>
          </a:p>
        </p:txBody>
      </p:sp>
      <p:sp>
        <p:nvSpPr>
          <p:cNvPr id="6" name="Text 4"/>
          <p:cNvSpPr txBox="1"/>
          <p:nvPr/>
        </p:nvSpPr>
        <p:spPr>
          <a:xfrm>
            <a:off x="6309360" y="1463040"/>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Per unit, single quantities</a:t>
            </a:r>
            <a:endParaRPr lang="en-US" sz="1300" dirty="0"/>
          </a:p>
        </p:txBody>
      </p:sp>
      <p:sp>
        <p:nvSpPr>
          <p:cNvPr id="7" name="Shape 5"/>
          <p:cNvSpPr/>
          <p:nvPr/>
        </p:nvSpPr>
        <p:spPr>
          <a:xfrm>
            <a:off x="548640" y="2176272"/>
            <a:ext cx="11094415" cy="658368"/>
          </a:xfrm>
          <a:prstGeom prst="rect">
            <a:avLst/>
          </a:prstGeom>
          <a:solidFill>
            <a:srgbClr val="FFFFFF"/>
          </a:solidFill>
          <a:ln w="12700">
            <a:solidFill>
              <a:srgbClr val="FFFFFF"/>
            </a:solidFill>
            <a:prstDash val="solid"/>
          </a:ln>
        </p:spPr>
      </p:sp>
      <p:sp>
        <p:nvSpPr>
          <p:cNvPr id="8" name="Text 6"/>
          <p:cNvSpPr txBox="1"/>
          <p:nvPr/>
        </p:nvSpPr>
        <p:spPr>
          <a:xfrm>
            <a:off x="777240" y="2176272"/>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Volume price</a:t>
            </a:r>
            <a:endParaRPr lang="en-US" sz="1500" dirty="0"/>
          </a:p>
        </p:txBody>
      </p:sp>
      <p:sp>
        <p:nvSpPr>
          <p:cNvPr id="9" name="Text 7"/>
          <p:cNvSpPr txBox="1"/>
          <p:nvPr/>
        </p:nvSpPr>
        <p:spPr>
          <a:xfrm>
            <a:off x="4114800" y="2176272"/>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$800</a:t>
            </a:r>
            <a:endParaRPr lang="en-US" sz="1800" dirty="0"/>
          </a:p>
        </p:txBody>
      </p:sp>
      <p:sp>
        <p:nvSpPr>
          <p:cNvPr id="10" name="Text 8"/>
          <p:cNvSpPr txBox="1"/>
          <p:nvPr/>
        </p:nvSpPr>
        <p:spPr>
          <a:xfrm>
            <a:off x="6309360" y="2176272"/>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25 units and above</a:t>
            </a:r>
            <a:endParaRPr lang="en-US" sz="1300" dirty="0"/>
          </a:p>
        </p:txBody>
      </p:sp>
      <p:sp>
        <p:nvSpPr>
          <p:cNvPr id="11" name="Shape 9"/>
          <p:cNvSpPr/>
          <p:nvPr/>
        </p:nvSpPr>
        <p:spPr>
          <a:xfrm>
            <a:off x="548640" y="2889504"/>
            <a:ext cx="11094415" cy="658368"/>
          </a:xfrm>
          <a:prstGeom prst="rect">
            <a:avLst/>
          </a:prstGeom>
          <a:solidFill>
            <a:srgbClr val="E8F3EF"/>
          </a:solidFill>
          <a:ln w="12700">
            <a:solidFill>
              <a:srgbClr val="E8F3EF"/>
            </a:solidFill>
            <a:prstDash val="solid"/>
          </a:ln>
        </p:spPr>
      </p:sp>
      <p:sp>
        <p:nvSpPr>
          <p:cNvPr id="12" name="Text 10"/>
          <p:cNvSpPr txBox="1"/>
          <p:nvPr/>
        </p:nvSpPr>
        <p:spPr>
          <a:xfrm>
            <a:off x="777240" y="2889504"/>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Launch discount</a:t>
            </a:r>
            <a:endParaRPr lang="en-US" sz="1500" dirty="0"/>
          </a:p>
        </p:txBody>
      </p:sp>
      <p:sp>
        <p:nvSpPr>
          <p:cNvPr id="13" name="Text 11"/>
          <p:cNvSpPr txBox="1"/>
          <p:nvPr/>
        </p:nvSpPr>
        <p:spPr>
          <a:xfrm>
            <a:off x="4114800" y="2889504"/>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None</a:t>
            </a:r>
            <a:endParaRPr lang="en-US" sz="1800" dirty="0"/>
          </a:p>
        </p:txBody>
      </p:sp>
      <p:sp>
        <p:nvSpPr>
          <p:cNvPr id="14" name="Text 12"/>
          <p:cNvSpPr txBox="1"/>
          <p:nvPr/>
        </p:nvSpPr>
        <p:spPr>
          <a:xfrm>
            <a:off x="6309360" y="2889504"/>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Premium positioning; no limited-time offer</a:t>
            </a:r>
            <a:endParaRPr lang="en-US" sz="1300" dirty="0"/>
          </a:p>
        </p:txBody>
      </p:sp>
      <p:sp>
        <p:nvSpPr>
          <p:cNvPr id="15" name="Shape 13"/>
          <p:cNvSpPr/>
          <p:nvPr/>
        </p:nvSpPr>
        <p:spPr>
          <a:xfrm>
            <a:off x="548640" y="3602736"/>
            <a:ext cx="11094415" cy="658368"/>
          </a:xfrm>
          <a:prstGeom prst="rect">
            <a:avLst/>
          </a:prstGeom>
          <a:solidFill>
            <a:srgbClr val="FFFFFF"/>
          </a:solidFill>
          <a:ln w="12700">
            <a:solidFill>
              <a:srgbClr val="FFFFFF"/>
            </a:solidFill>
            <a:prstDash val="solid"/>
          </a:ln>
        </p:spPr>
      </p:sp>
      <p:sp>
        <p:nvSpPr>
          <p:cNvPr id="16" name="Text 14"/>
          <p:cNvSpPr txBox="1"/>
          <p:nvPr/>
        </p:nvSpPr>
        <p:spPr>
          <a:xfrm>
            <a:off x="777240" y="3602736"/>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Initial inventory</a:t>
            </a:r>
            <a:endParaRPr lang="en-US" sz="1500" dirty="0"/>
          </a:p>
        </p:txBody>
      </p:sp>
      <p:sp>
        <p:nvSpPr>
          <p:cNvPr id="17" name="Text 15"/>
          <p:cNvSpPr txBox="1"/>
          <p:nvPr/>
        </p:nvSpPr>
        <p:spPr>
          <a:xfrm>
            <a:off x="4114800" y="3602736"/>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300</a:t>
            </a:r>
            <a:endParaRPr lang="en-US" sz="1800" dirty="0"/>
          </a:p>
        </p:txBody>
      </p:sp>
      <p:sp>
        <p:nvSpPr>
          <p:cNvPr id="18" name="Text 16"/>
          <p:cNvSpPr txBox="1"/>
          <p:nvPr/>
        </p:nvSpPr>
        <p:spPr>
          <a:xfrm>
            <a:off x="6309360" y="3602736"/>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Units expected by March 27</a:t>
            </a:r>
            <a:endParaRPr lang="en-US" sz="1300" dirty="0"/>
          </a:p>
        </p:txBody>
      </p:sp>
      <p:sp>
        <p:nvSpPr>
          <p:cNvPr id="19" name="Shape 17"/>
          <p:cNvSpPr/>
          <p:nvPr/>
        </p:nvSpPr>
        <p:spPr>
          <a:xfrm>
            <a:off x="548640" y="4315968"/>
            <a:ext cx="11094415" cy="658368"/>
          </a:xfrm>
          <a:prstGeom prst="rect">
            <a:avLst/>
          </a:prstGeom>
          <a:solidFill>
            <a:srgbClr val="E8F3EF"/>
          </a:solidFill>
          <a:ln w="12700">
            <a:solidFill>
              <a:srgbClr val="E8F3EF"/>
            </a:solidFill>
            <a:prstDash val="solid"/>
          </a:ln>
        </p:spPr>
      </p:sp>
      <p:sp>
        <p:nvSpPr>
          <p:cNvPr id="20" name="Text 18"/>
          <p:cNvSpPr txBox="1"/>
          <p:nvPr/>
        </p:nvSpPr>
        <p:spPr>
          <a:xfrm>
            <a:off x="777240" y="4315968"/>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Samples and demos</a:t>
            </a:r>
            <a:endParaRPr lang="en-US" sz="1500" dirty="0"/>
          </a:p>
        </p:txBody>
      </p:sp>
      <p:sp>
        <p:nvSpPr>
          <p:cNvPr id="21" name="Text 19"/>
          <p:cNvSpPr txBox="1"/>
          <p:nvPr/>
        </p:nvSpPr>
        <p:spPr>
          <a:xfrm>
            <a:off x="4114800" y="4315968"/>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50</a:t>
            </a:r>
            <a:endParaRPr lang="en-US" sz="1800" dirty="0"/>
          </a:p>
        </p:txBody>
      </p:sp>
      <p:sp>
        <p:nvSpPr>
          <p:cNvPr id="22" name="Text 20"/>
          <p:cNvSpPr txBox="1"/>
          <p:nvPr/>
        </p:nvSpPr>
        <p:spPr>
          <a:xfrm>
            <a:off x="6309360" y="4315968"/>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Held back for press samples and trade show demo units</a:t>
            </a:r>
            <a:endParaRPr lang="en-US" sz="1300" dirty="0"/>
          </a:p>
        </p:txBody>
      </p:sp>
      <p:sp>
        <p:nvSpPr>
          <p:cNvPr id="23" name="Shape 21"/>
          <p:cNvSpPr/>
          <p:nvPr/>
        </p:nvSpPr>
        <p:spPr>
          <a:xfrm>
            <a:off x="548640" y="5029200"/>
            <a:ext cx="11094415" cy="658368"/>
          </a:xfrm>
          <a:prstGeom prst="rect">
            <a:avLst/>
          </a:prstGeom>
          <a:solidFill>
            <a:srgbClr val="0E3B34"/>
          </a:solidFill>
          <a:ln w="12700">
            <a:solidFill>
              <a:srgbClr val="0E3B34"/>
            </a:solidFill>
            <a:prstDash val="solid"/>
          </a:ln>
        </p:spPr>
      </p:sp>
      <p:sp>
        <p:nvSpPr>
          <p:cNvPr id="24" name="Text 22"/>
          <p:cNvSpPr txBox="1"/>
          <p:nvPr/>
        </p:nvSpPr>
        <p:spPr>
          <a:xfrm>
            <a:off x="777240" y="5029200"/>
            <a:ext cx="3291840" cy="65836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Sellable at launch</a:t>
            </a:r>
            <a:endParaRPr lang="en-US" sz="1500" dirty="0"/>
          </a:p>
        </p:txBody>
      </p:sp>
      <p:sp>
        <p:nvSpPr>
          <p:cNvPr id="25" name="Text 23"/>
          <p:cNvSpPr txBox="1"/>
          <p:nvPr/>
        </p:nvSpPr>
        <p:spPr>
          <a:xfrm>
            <a:off x="4114800" y="5029200"/>
            <a:ext cx="2011680" cy="658368"/>
          </a:xfrm>
          <a:prstGeom prst="rect">
            <a:avLst/>
          </a:prstGeom>
          <a:noFill/>
          <a:ln/>
        </p:spPr>
        <p:txBody>
          <a:bodyPr wrap="square" lIns="0" tIns="0" rIns="0" bIns="0" rtlCol="0" anchor="ctr"/>
          <a:lstStyle/>
          <a:p>
            <a:pPr indent="0" marL="0">
              <a:buNone/>
            </a:pPr>
            <a:r>
              <a:rPr lang="en-US" sz="1800" b="1" dirty="0">
                <a:solidFill>
                  <a:srgbClr val="F2B632"/>
                </a:solidFill>
                <a:latin typeface="Bookman Old Style" pitchFamily="34" charset="0"/>
                <a:ea typeface="Bookman Old Style" pitchFamily="34" charset="-122"/>
                <a:cs typeface="Bookman Old Style" pitchFamily="34" charset="-120"/>
              </a:rPr>
              <a:t>250</a:t>
            </a:r>
            <a:endParaRPr lang="en-US" sz="1800" dirty="0"/>
          </a:p>
        </p:txBody>
      </p:sp>
      <p:sp>
        <p:nvSpPr>
          <p:cNvPr id="26" name="Text 24"/>
          <p:cNvSpPr txBox="1"/>
          <p:nvPr/>
        </p:nvSpPr>
        <p:spPr>
          <a:xfrm>
            <a:off x="6309360" y="5029200"/>
            <a:ext cx="5150815" cy="658368"/>
          </a:xfrm>
          <a:prstGeom prst="rect">
            <a:avLst/>
          </a:prstGeom>
          <a:noFill/>
          <a:ln/>
        </p:spPr>
        <p:txBody>
          <a:bodyPr wrap="square" lIns="0" tIns="0" rIns="0" bIns="0" rtlCol="0" anchor="ctr"/>
          <a:lstStyle/>
          <a:p>
            <a:pPr indent="0" marL="0">
              <a:buNone/>
            </a:pPr>
            <a:r>
              <a:rPr lang="en-US" sz="1300" dirty="0">
                <a:solidFill>
                  <a:srgbClr val="BFD8D0"/>
                </a:solidFill>
                <a:latin typeface="Calibri" pitchFamily="34" charset="0"/>
                <a:ea typeface="Calibri" pitchFamily="34" charset="-122"/>
                <a:cs typeface="Calibri" pitchFamily="34" charset="-120"/>
              </a:rPr>
              <a:t>Available to fill orders from April 7</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34"/>
        </a:solidFill>
      </p:bgPr>
    </p:bg>
    <p:spTree>
      <p:nvGrpSpPr>
        <p:cNvPr id="1" name=""/>
        <p:cNvGrpSpPr/>
        <p:nvPr/>
      </p:nvGrpSpPr>
      <p:grpSpPr>
        <a:xfrm>
          <a:off x="0" y="0"/>
          <a:ext cx="0" cy="0"/>
          <a:chOff x="0" y="0"/>
          <a:chExt cx="0" cy="0"/>
        </a:xfrm>
      </p:grpSpPr>
      <p:sp>
        <p:nvSpPr>
          <p:cNvPr id="2" name="Shape 0"/>
          <p:cNvSpPr/>
          <p:nvPr/>
        </p:nvSpPr>
        <p:spPr>
          <a:xfrm>
            <a:off x="548640" y="2148840"/>
            <a:ext cx="1188720" cy="1188720"/>
          </a:xfrm>
          <a:prstGeom prst="ellipse">
            <a:avLst/>
          </a:prstGeom>
          <a:solidFill>
            <a:srgbClr val="F2B632"/>
          </a:solidFill>
          <a:ln w="12700">
            <a:solidFill>
              <a:srgbClr val="F2B632"/>
            </a:solidFill>
            <a:prstDash val="solid"/>
          </a:ln>
        </p:spPr>
      </p:sp>
      <p:sp>
        <p:nvSpPr>
          <p:cNvPr id="3" name="Text 1"/>
          <p:cNvSpPr txBox="1"/>
          <p:nvPr/>
        </p:nvSpPr>
        <p:spPr>
          <a:xfrm>
            <a:off x="548640" y="2148840"/>
            <a:ext cx="1188720" cy="1188720"/>
          </a:xfrm>
          <a:prstGeom prst="rect">
            <a:avLst/>
          </a:prstGeom>
          <a:noFill/>
          <a:ln/>
        </p:spPr>
        <p:txBody>
          <a:bodyPr wrap="square" lIns="0" tIns="0" rIns="0" bIns="0" rtlCol="0" anchor="ctr"/>
          <a:lstStyle/>
          <a:p>
            <a:pPr algn="ctr" indent="0" marL="0">
              <a:buNone/>
            </a:pPr>
            <a:r>
              <a:rPr lang="en-US" sz="3000" b="1" dirty="0">
                <a:solidFill>
                  <a:srgbClr val="0E3B34"/>
                </a:solidFill>
                <a:latin typeface="Bookman Old Style" pitchFamily="34" charset="0"/>
                <a:ea typeface="Bookman Old Style" pitchFamily="34" charset="-122"/>
                <a:cs typeface="Bookman Old Style" pitchFamily="34" charset="-120"/>
              </a:rPr>
              <a:t>02</a:t>
            </a:r>
            <a:endParaRPr lang="en-US" sz="3000" dirty="0"/>
          </a:p>
        </p:txBody>
      </p:sp>
      <p:sp>
        <p:nvSpPr>
          <p:cNvPr id="4" name="Text 2"/>
          <p:cNvSpPr txBox="1"/>
          <p:nvPr/>
        </p:nvSpPr>
        <p:spPr>
          <a:xfrm>
            <a:off x="2103120" y="20574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Bookman Old Style" pitchFamily="34" charset="0"/>
                <a:ea typeface="Bookman Old Style" pitchFamily="34" charset="-122"/>
                <a:cs typeface="Bookman Old Style" pitchFamily="34" charset="-120"/>
              </a:rPr>
              <a:t>Channels and Timeline</a:t>
            </a:r>
            <a:endParaRPr lang="en-US" sz="3600" dirty="0"/>
          </a:p>
        </p:txBody>
      </p:sp>
      <p:sp>
        <p:nvSpPr>
          <p:cNvPr id="5" name="Text 3"/>
          <p:cNvSpPr txBox="1"/>
          <p:nvPr/>
        </p:nvSpPr>
        <p:spPr>
          <a:xfrm>
            <a:off x="2103120" y="2880360"/>
            <a:ext cx="8686800" cy="548640"/>
          </a:xfrm>
          <a:prstGeom prst="rect">
            <a:avLst/>
          </a:prstGeom>
          <a:noFill/>
          <a:ln/>
        </p:spPr>
        <p:txBody>
          <a:bodyPr wrap="square" lIns="0" tIns="0" rIns="0" bIns="0" rtlCol="0" anchor="ctr"/>
          <a:lstStyle/>
          <a:p>
            <a:pPr indent="0" marL="0">
              <a:buNone/>
            </a:pPr>
            <a:r>
              <a:rPr lang="en-US" sz="1600" dirty="0">
                <a:solidFill>
                  <a:srgbClr val="BFD8D0"/>
                </a:solidFill>
                <a:latin typeface="Calibri" pitchFamily="34" charset="0"/>
                <a:ea typeface="Calibri" pitchFamily="34" charset="-122"/>
                <a:cs typeface="Calibri" pitchFamily="34" charset="-120"/>
              </a:rPr>
              <a:t>Where the launch shows up, and when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Channel Mix at Launch</a:t>
            </a:r>
            <a:endParaRPr lang="en-US" sz="3000" dirty="0"/>
          </a:p>
        </p:txBody>
      </p:sp>
      <p:sp>
        <p:nvSpPr>
          <p:cNvPr id="3" name="Shape 1"/>
          <p:cNvSpPr/>
          <p:nvPr/>
        </p:nvSpPr>
        <p:spPr>
          <a:xfrm>
            <a:off x="548640" y="1463040"/>
            <a:ext cx="3515258" cy="4846320"/>
          </a:xfrm>
          <a:prstGeom prst="roundRect">
            <a:avLst>
              <a:gd name="adj" fmla="val 2081"/>
            </a:avLst>
          </a:prstGeom>
          <a:solidFill>
            <a:srgbClr val="E8F3EF"/>
          </a:solidFill>
          <a:ln w="12700">
            <a:solidFill>
              <a:srgbClr val="E8F3EF"/>
            </a:solidFill>
            <a:prstDash val="solid"/>
          </a:ln>
        </p:spPr>
      </p:sp>
      <p:sp>
        <p:nvSpPr>
          <p:cNvPr id="4" name="Text 2"/>
          <p:cNvSpPr txBox="1"/>
          <p:nvPr/>
        </p:nvSpPr>
        <p:spPr>
          <a:xfrm>
            <a:off x="777240" y="1691640"/>
            <a:ext cx="3058058" cy="731520"/>
          </a:xfrm>
          <a:prstGeom prst="rect">
            <a:avLst/>
          </a:prstGeom>
          <a:noFill/>
          <a:ln/>
        </p:spPr>
        <p:txBody>
          <a:bodyPr wrap="square" lIns="0" tIns="0" rIns="0" bIns="0" rtlCol="0" anchor="t"/>
          <a:lstStyle/>
          <a:p>
            <a:pPr indent="0" marL="0">
              <a:buNone/>
            </a:pPr>
            <a:r>
              <a:rPr lang="en-US" sz="2000" b="1" dirty="0">
                <a:solidFill>
                  <a:srgbClr val="147A63"/>
                </a:solidFill>
                <a:latin typeface="Bookman Old Style" pitchFamily="34" charset="0"/>
                <a:ea typeface="Bookman Old Style" pitchFamily="34" charset="-122"/>
                <a:cs typeface="Bookman Old Style" pitchFamily="34" charset="-120"/>
              </a:rPr>
              <a:t>Owned</a:t>
            </a:r>
            <a:endParaRPr lang="en-US" sz="2000" dirty="0"/>
          </a:p>
        </p:txBody>
      </p:sp>
      <p:sp>
        <p:nvSpPr>
          <p:cNvPr id="5" name="Text 3"/>
          <p:cNvSpPr txBox="1"/>
          <p:nvPr/>
        </p:nvSpPr>
        <p:spPr>
          <a:xfrm>
            <a:off x="777240"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Launch email to about 4,000 contacts, April 7</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Product page soft-live April 4</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Spec sheet and PLC compatibility note</a:t>
            </a:r>
            <a:endParaRPr lang="en-US" sz="1500" dirty="0"/>
          </a:p>
        </p:txBody>
      </p:sp>
      <p:sp>
        <p:nvSpPr>
          <p:cNvPr id="6" name="Shape 4"/>
          <p:cNvSpPr/>
          <p:nvPr/>
        </p:nvSpPr>
        <p:spPr>
          <a:xfrm>
            <a:off x="4338218" y="1463040"/>
            <a:ext cx="3515258" cy="4846320"/>
          </a:xfrm>
          <a:prstGeom prst="roundRect">
            <a:avLst>
              <a:gd name="adj" fmla="val 2081"/>
            </a:avLst>
          </a:prstGeom>
          <a:solidFill>
            <a:srgbClr val="E8F3EF"/>
          </a:solidFill>
          <a:ln w="12700">
            <a:solidFill>
              <a:srgbClr val="E8F3EF"/>
            </a:solidFill>
            <a:prstDash val="solid"/>
          </a:ln>
        </p:spPr>
      </p:sp>
      <p:sp>
        <p:nvSpPr>
          <p:cNvPr id="7" name="Text 5"/>
          <p:cNvSpPr txBox="1"/>
          <p:nvPr/>
        </p:nvSpPr>
        <p:spPr>
          <a:xfrm>
            <a:off x="4566818" y="1691640"/>
            <a:ext cx="3058058" cy="731520"/>
          </a:xfrm>
          <a:prstGeom prst="rect">
            <a:avLst/>
          </a:prstGeom>
          <a:noFill/>
          <a:ln/>
        </p:spPr>
        <p:txBody>
          <a:bodyPr wrap="square" lIns="0" tIns="0" rIns="0" bIns="0" rtlCol="0" anchor="t"/>
          <a:lstStyle/>
          <a:p>
            <a:pPr indent="0" marL="0">
              <a:buNone/>
            </a:pPr>
            <a:r>
              <a:rPr lang="en-US" sz="2000" b="1" dirty="0">
                <a:solidFill>
                  <a:srgbClr val="147A63"/>
                </a:solidFill>
                <a:latin typeface="Bookman Old Style" pitchFamily="34" charset="0"/>
                <a:ea typeface="Bookman Old Style" pitchFamily="34" charset="-122"/>
                <a:cs typeface="Bookman Old Style" pitchFamily="34" charset="-120"/>
              </a:rPr>
              <a:t>Paid</a:t>
            </a:r>
            <a:endParaRPr lang="en-US" sz="2000" dirty="0"/>
          </a:p>
        </p:txBody>
      </p:sp>
      <p:sp>
        <p:nvSpPr>
          <p:cNvPr id="8" name="Text 6"/>
          <p:cNvSpPr txBox="1"/>
          <p:nvPr/>
        </p:nvSpPr>
        <p:spPr>
          <a:xfrm>
            <a:off x="4566818"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Paid search live April 7</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LinkedIn sponsored posts to plant and controls engineers</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Gulf Coast Process Expo booth, May 19–21</a:t>
            </a:r>
            <a:endParaRPr lang="en-US" sz="1500" dirty="0"/>
          </a:p>
        </p:txBody>
      </p:sp>
      <p:sp>
        <p:nvSpPr>
          <p:cNvPr id="9" name="Shape 7"/>
          <p:cNvSpPr/>
          <p:nvPr/>
        </p:nvSpPr>
        <p:spPr>
          <a:xfrm>
            <a:off x="8127797" y="1463040"/>
            <a:ext cx="3515258" cy="4846320"/>
          </a:xfrm>
          <a:prstGeom prst="roundRect">
            <a:avLst>
              <a:gd name="adj" fmla="val 2081"/>
            </a:avLst>
          </a:prstGeom>
          <a:solidFill>
            <a:srgbClr val="E8F3EF"/>
          </a:solidFill>
          <a:ln w="12700">
            <a:solidFill>
              <a:srgbClr val="E8F3EF"/>
            </a:solidFill>
            <a:prstDash val="solid"/>
          </a:ln>
        </p:spPr>
      </p:sp>
      <p:sp>
        <p:nvSpPr>
          <p:cNvPr id="10" name="Text 8"/>
          <p:cNvSpPr txBox="1"/>
          <p:nvPr/>
        </p:nvSpPr>
        <p:spPr>
          <a:xfrm>
            <a:off x="8356397" y="1691640"/>
            <a:ext cx="3058058" cy="731520"/>
          </a:xfrm>
          <a:prstGeom prst="rect">
            <a:avLst/>
          </a:prstGeom>
          <a:noFill/>
          <a:ln/>
        </p:spPr>
        <p:txBody>
          <a:bodyPr wrap="square" lIns="0" tIns="0" rIns="0" bIns="0" rtlCol="0" anchor="t"/>
          <a:lstStyle/>
          <a:p>
            <a:pPr indent="0" marL="0">
              <a:buNone/>
            </a:pPr>
            <a:r>
              <a:rPr lang="en-US" sz="2000" b="1" dirty="0">
                <a:solidFill>
                  <a:srgbClr val="147A63"/>
                </a:solidFill>
                <a:latin typeface="Bookman Old Style" pitchFamily="34" charset="0"/>
                <a:ea typeface="Bookman Old Style" pitchFamily="34" charset="-122"/>
                <a:cs typeface="Bookman Old Style" pitchFamily="34" charset="-120"/>
              </a:rPr>
              <a:t>Earned</a:t>
            </a:r>
            <a:endParaRPr lang="en-US" sz="2000" dirty="0"/>
          </a:p>
        </p:txBody>
      </p:sp>
      <p:sp>
        <p:nvSpPr>
          <p:cNvPr id="11" name="Text 9"/>
          <p:cNvSpPr txBox="1"/>
          <p:nvPr/>
        </p:nvSpPr>
        <p:spPr>
          <a:xfrm>
            <a:off x="8356397" y="2468880"/>
            <a:ext cx="3058058" cy="3657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Press release via Cision, April 7</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Contributed article in Industrial Sensor Quarterly, April 9</a:t>
            </a:r>
            <a:endParaRPr lang="en-US" sz="1500" dirty="0"/>
          </a:p>
          <a:p>
            <a:pPr marL="228600" indent="-228600">
              <a:spcAft>
                <a:spcPts val="800"/>
              </a:spcAft>
              <a:buSzPct val="100000"/>
              <a:buChar char="•"/>
            </a:pPr>
            <a:r>
              <a:rPr lang="en-US" sz="1500" dirty="0">
                <a:solidFill>
                  <a:srgbClr val="22403A"/>
                </a:solidFill>
                <a:latin typeface="Calibri" pitchFamily="34" charset="0"/>
                <a:ea typeface="Calibri" pitchFamily="34" charset="-122"/>
                <a:cs typeface="Calibri" pitchFamily="34" charset="-120"/>
              </a:rPr>
              <a:t>Press samples to four trade editors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Launch Timeline, February to July</a:t>
            </a:r>
            <a:endParaRPr lang="en-US" sz="3000" dirty="0"/>
          </a:p>
        </p:txBody>
      </p:sp>
      <p:sp>
        <p:nvSpPr>
          <p:cNvPr id="3" name="Shape 1"/>
          <p:cNvSpPr/>
          <p:nvPr/>
        </p:nvSpPr>
        <p:spPr>
          <a:xfrm>
            <a:off x="548640" y="1517904"/>
            <a:ext cx="1554480" cy="384048"/>
          </a:xfrm>
          <a:prstGeom prst="roundRect">
            <a:avLst>
              <a:gd name="adj" fmla="val 47619"/>
            </a:avLst>
          </a:prstGeom>
          <a:solidFill>
            <a:srgbClr val="147A63"/>
          </a:solidFill>
          <a:ln w="12700">
            <a:solidFill>
              <a:srgbClr val="147A63"/>
            </a:solidFill>
            <a:prstDash val="solid"/>
          </a:ln>
        </p:spPr>
      </p:sp>
      <p:sp>
        <p:nvSpPr>
          <p:cNvPr id="4" name="Text 2"/>
          <p:cNvSpPr txBox="1"/>
          <p:nvPr/>
        </p:nvSpPr>
        <p:spPr>
          <a:xfrm>
            <a:off x="548640" y="151790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Feb 20</a:t>
            </a:r>
            <a:endParaRPr lang="en-US" sz="1400" dirty="0"/>
          </a:p>
        </p:txBody>
      </p:sp>
      <p:sp>
        <p:nvSpPr>
          <p:cNvPr id="5" name="Text 3"/>
          <p:cNvSpPr txBox="1"/>
          <p:nvPr/>
        </p:nvSpPr>
        <p:spPr>
          <a:xfrm>
            <a:off x="2377440" y="148132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Claims language final</a:t>
            </a:r>
            <a:pPr indent="0" marL="0">
              <a:buNone/>
            </a:pPr>
            <a:r>
              <a:rPr lang="en-US" sz="1500" dirty="0">
                <a:solidFill>
                  <a:srgbClr val="56706A"/>
                </a:solidFill>
                <a:latin typeface="Calibri" pitchFamily="34" charset="0"/>
                <a:ea typeface="Calibri" pitchFamily="34" charset="-122"/>
                <a:cs typeface="Calibri" pitchFamily="34" charset="-120"/>
              </a:rPr>
              <a:t>  Callum's sign-off on accuracy wording</a:t>
            </a:r>
            <a:endParaRPr lang="en-US" sz="1500" dirty="0"/>
          </a:p>
        </p:txBody>
      </p:sp>
      <p:sp>
        <p:nvSpPr>
          <p:cNvPr id="6" name="Shape 4"/>
          <p:cNvSpPr/>
          <p:nvPr/>
        </p:nvSpPr>
        <p:spPr>
          <a:xfrm>
            <a:off x="548640" y="2066544"/>
            <a:ext cx="1554480" cy="384048"/>
          </a:xfrm>
          <a:prstGeom prst="roundRect">
            <a:avLst>
              <a:gd name="adj" fmla="val 47619"/>
            </a:avLst>
          </a:prstGeom>
          <a:solidFill>
            <a:srgbClr val="147A63"/>
          </a:solidFill>
          <a:ln w="12700">
            <a:solidFill>
              <a:srgbClr val="147A63"/>
            </a:solidFill>
            <a:prstDash val="solid"/>
          </a:ln>
        </p:spPr>
      </p:sp>
      <p:sp>
        <p:nvSpPr>
          <p:cNvPr id="7" name="Text 5"/>
          <p:cNvSpPr txBox="1"/>
          <p:nvPr/>
        </p:nvSpPr>
        <p:spPr>
          <a:xfrm>
            <a:off x="548640" y="206654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Mar 6</a:t>
            </a:r>
            <a:endParaRPr lang="en-US" sz="1400" dirty="0"/>
          </a:p>
        </p:txBody>
      </p:sp>
      <p:sp>
        <p:nvSpPr>
          <p:cNvPr id="8" name="Text 6"/>
          <p:cNvSpPr txBox="1"/>
          <p:nvPr/>
        </p:nvSpPr>
        <p:spPr>
          <a:xfrm>
            <a:off x="2377440" y="202996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Creative locked</a:t>
            </a:r>
            <a:pPr indent="0" marL="0">
              <a:buNone/>
            </a:pPr>
            <a:r>
              <a:rPr lang="en-US" sz="1500" dirty="0">
                <a:solidFill>
                  <a:srgbClr val="56706A"/>
                </a:solidFill>
                <a:latin typeface="Calibri" pitchFamily="34" charset="0"/>
                <a:ea typeface="Calibri" pitchFamily="34" charset="-122"/>
                <a:cs typeface="Calibri" pitchFamily="34" charset="-120"/>
              </a:rPr>
              <a:t>  Page, email, ads, spec sheet</a:t>
            </a:r>
            <a:endParaRPr lang="en-US" sz="1500" dirty="0"/>
          </a:p>
        </p:txBody>
      </p:sp>
      <p:sp>
        <p:nvSpPr>
          <p:cNvPr id="9" name="Shape 7"/>
          <p:cNvSpPr/>
          <p:nvPr/>
        </p:nvSpPr>
        <p:spPr>
          <a:xfrm>
            <a:off x="548640" y="2615184"/>
            <a:ext cx="1554480" cy="384048"/>
          </a:xfrm>
          <a:prstGeom prst="roundRect">
            <a:avLst>
              <a:gd name="adj" fmla="val 47619"/>
            </a:avLst>
          </a:prstGeom>
          <a:solidFill>
            <a:srgbClr val="147A63"/>
          </a:solidFill>
          <a:ln w="12700">
            <a:solidFill>
              <a:srgbClr val="147A63"/>
            </a:solidFill>
            <a:prstDash val="solid"/>
          </a:ln>
        </p:spPr>
      </p:sp>
      <p:sp>
        <p:nvSpPr>
          <p:cNvPr id="10" name="Text 8"/>
          <p:cNvSpPr txBox="1"/>
          <p:nvPr/>
        </p:nvSpPr>
        <p:spPr>
          <a:xfrm>
            <a:off x="548640" y="261518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Mar 27</a:t>
            </a:r>
            <a:endParaRPr lang="en-US" sz="1400" dirty="0"/>
          </a:p>
        </p:txBody>
      </p:sp>
      <p:sp>
        <p:nvSpPr>
          <p:cNvPr id="11" name="Text 9"/>
          <p:cNvSpPr txBox="1"/>
          <p:nvPr/>
        </p:nvSpPr>
        <p:spPr>
          <a:xfrm>
            <a:off x="2377440" y="257860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Inventory in</a:t>
            </a:r>
            <a:pPr indent="0" marL="0">
              <a:buNone/>
            </a:pPr>
            <a:r>
              <a:rPr lang="en-US" sz="1500" dirty="0">
                <a:solidFill>
                  <a:srgbClr val="56706A"/>
                </a:solidFill>
                <a:latin typeface="Calibri" pitchFamily="34" charset="0"/>
                <a:ea typeface="Calibri" pitchFamily="34" charset="-122"/>
                <a:cs typeface="Calibri" pitchFamily="34" charset="-120"/>
              </a:rPr>
              <a:t>  300 units; 50 set aside for samples and demos</a:t>
            </a:r>
            <a:endParaRPr lang="en-US" sz="1500" dirty="0"/>
          </a:p>
        </p:txBody>
      </p:sp>
      <p:sp>
        <p:nvSpPr>
          <p:cNvPr id="12" name="Shape 10"/>
          <p:cNvSpPr/>
          <p:nvPr/>
        </p:nvSpPr>
        <p:spPr>
          <a:xfrm>
            <a:off x="548640" y="3163824"/>
            <a:ext cx="1554480" cy="384048"/>
          </a:xfrm>
          <a:prstGeom prst="roundRect">
            <a:avLst>
              <a:gd name="adj" fmla="val 47619"/>
            </a:avLst>
          </a:prstGeom>
          <a:solidFill>
            <a:srgbClr val="147A63"/>
          </a:solidFill>
          <a:ln w="12700">
            <a:solidFill>
              <a:srgbClr val="147A63"/>
            </a:solidFill>
            <a:prstDash val="solid"/>
          </a:ln>
        </p:spPr>
      </p:sp>
      <p:sp>
        <p:nvSpPr>
          <p:cNvPr id="13" name="Text 11"/>
          <p:cNvSpPr txBox="1"/>
          <p:nvPr/>
        </p:nvSpPr>
        <p:spPr>
          <a:xfrm>
            <a:off x="548640" y="316382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Mar 30</a:t>
            </a:r>
            <a:endParaRPr lang="en-US" sz="1400" dirty="0"/>
          </a:p>
        </p:txBody>
      </p:sp>
      <p:sp>
        <p:nvSpPr>
          <p:cNvPr id="14" name="Text 12"/>
          <p:cNvSpPr txBox="1"/>
          <p:nvPr/>
        </p:nvSpPr>
        <p:spPr>
          <a:xfrm>
            <a:off x="2377440" y="312724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Readiness check</a:t>
            </a:r>
            <a:pPr indent="0" marL="0">
              <a:buNone/>
            </a:pPr>
            <a:r>
              <a:rPr lang="en-US" sz="1500" dirty="0">
                <a:solidFill>
                  <a:srgbClr val="56706A"/>
                </a:solidFill>
                <a:latin typeface="Calibri" pitchFamily="34" charset="0"/>
                <a:ea typeface="Calibri" pitchFamily="34" charset="-122"/>
                <a:cs typeface="Calibri" pitchFamily="34" charset="-120"/>
              </a:rPr>
              <a:t>  Inventory and materials confirmed on track</a:t>
            </a:r>
            <a:endParaRPr lang="en-US" sz="1500" dirty="0"/>
          </a:p>
        </p:txBody>
      </p:sp>
      <p:sp>
        <p:nvSpPr>
          <p:cNvPr id="15" name="Shape 13"/>
          <p:cNvSpPr/>
          <p:nvPr/>
        </p:nvSpPr>
        <p:spPr>
          <a:xfrm>
            <a:off x="548640" y="3712464"/>
            <a:ext cx="1554480" cy="384048"/>
          </a:xfrm>
          <a:prstGeom prst="roundRect">
            <a:avLst>
              <a:gd name="adj" fmla="val 47619"/>
            </a:avLst>
          </a:prstGeom>
          <a:solidFill>
            <a:srgbClr val="B86B00"/>
          </a:solidFill>
          <a:ln w="12700">
            <a:solidFill>
              <a:srgbClr val="B86B00"/>
            </a:solidFill>
            <a:prstDash val="solid"/>
          </a:ln>
        </p:spPr>
      </p:sp>
      <p:sp>
        <p:nvSpPr>
          <p:cNvPr id="16" name="Text 14"/>
          <p:cNvSpPr txBox="1"/>
          <p:nvPr/>
        </p:nvSpPr>
        <p:spPr>
          <a:xfrm>
            <a:off x="548640" y="371246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Apr 4</a:t>
            </a:r>
            <a:endParaRPr lang="en-US" sz="1400" dirty="0"/>
          </a:p>
        </p:txBody>
      </p:sp>
      <p:sp>
        <p:nvSpPr>
          <p:cNvPr id="17" name="Text 15"/>
          <p:cNvSpPr txBox="1"/>
          <p:nvPr/>
        </p:nvSpPr>
        <p:spPr>
          <a:xfrm>
            <a:off x="2377440" y="367588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Product page soft-live</a:t>
            </a:r>
            <a:pPr indent="0" marL="0">
              <a:buNone/>
            </a:pPr>
            <a:r>
              <a:rPr lang="en-US" sz="1500" dirty="0">
                <a:solidFill>
                  <a:srgbClr val="56706A"/>
                </a:solidFill>
                <a:latin typeface="Calibri" pitchFamily="34" charset="0"/>
                <a:ea typeface="Calibri" pitchFamily="34" charset="-122"/>
                <a:cs typeface="Calibri" pitchFamily="34" charset="-120"/>
              </a:rPr>
              <a:t>  Early link to 15 priority prospects</a:t>
            </a:r>
            <a:endParaRPr lang="en-US" sz="1500" dirty="0"/>
          </a:p>
        </p:txBody>
      </p:sp>
      <p:sp>
        <p:nvSpPr>
          <p:cNvPr id="18" name="Shape 16"/>
          <p:cNvSpPr/>
          <p:nvPr/>
        </p:nvSpPr>
        <p:spPr>
          <a:xfrm>
            <a:off x="548640" y="4261104"/>
            <a:ext cx="1554480" cy="384048"/>
          </a:xfrm>
          <a:prstGeom prst="roundRect">
            <a:avLst>
              <a:gd name="adj" fmla="val 47619"/>
            </a:avLst>
          </a:prstGeom>
          <a:solidFill>
            <a:srgbClr val="B86B00"/>
          </a:solidFill>
          <a:ln w="12700">
            <a:solidFill>
              <a:srgbClr val="B86B00"/>
            </a:solidFill>
            <a:prstDash val="solid"/>
          </a:ln>
        </p:spPr>
      </p:sp>
      <p:sp>
        <p:nvSpPr>
          <p:cNvPr id="19" name="Text 17"/>
          <p:cNvSpPr txBox="1"/>
          <p:nvPr/>
        </p:nvSpPr>
        <p:spPr>
          <a:xfrm>
            <a:off x="548640" y="426110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Apr 7</a:t>
            </a:r>
            <a:endParaRPr lang="en-US" sz="1400" dirty="0"/>
          </a:p>
        </p:txBody>
      </p:sp>
      <p:sp>
        <p:nvSpPr>
          <p:cNvPr id="20" name="Text 18"/>
          <p:cNvSpPr txBox="1"/>
          <p:nvPr/>
        </p:nvSpPr>
        <p:spPr>
          <a:xfrm>
            <a:off x="2377440" y="422452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Public launch</a:t>
            </a:r>
            <a:pPr indent="0" marL="0">
              <a:buNone/>
            </a:pPr>
            <a:r>
              <a:rPr lang="en-US" sz="1500" dirty="0">
                <a:solidFill>
                  <a:srgbClr val="56706A"/>
                </a:solidFill>
                <a:latin typeface="Calibri" pitchFamily="34" charset="0"/>
                <a:ea typeface="Calibri" pitchFamily="34" charset="-122"/>
                <a:cs typeface="Calibri" pitchFamily="34" charset="-120"/>
              </a:rPr>
              <a:t>  Email, paid search, press release</a:t>
            </a:r>
            <a:endParaRPr lang="en-US" sz="1500" dirty="0"/>
          </a:p>
        </p:txBody>
      </p:sp>
      <p:sp>
        <p:nvSpPr>
          <p:cNvPr id="21" name="Shape 19"/>
          <p:cNvSpPr/>
          <p:nvPr/>
        </p:nvSpPr>
        <p:spPr>
          <a:xfrm>
            <a:off x="548640" y="4809744"/>
            <a:ext cx="1554480" cy="384048"/>
          </a:xfrm>
          <a:prstGeom prst="roundRect">
            <a:avLst>
              <a:gd name="adj" fmla="val 47619"/>
            </a:avLst>
          </a:prstGeom>
          <a:solidFill>
            <a:srgbClr val="147A63"/>
          </a:solidFill>
          <a:ln w="12700">
            <a:solidFill>
              <a:srgbClr val="147A63"/>
            </a:solidFill>
            <a:prstDash val="solid"/>
          </a:ln>
        </p:spPr>
      </p:sp>
      <p:sp>
        <p:nvSpPr>
          <p:cNvPr id="22" name="Text 20"/>
          <p:cNvSpPr txBox="1"/>
          <p:nvPr/>
        </p:nvSpPr>
        <p:spPr>
          <a:xfrm>
            <a:off x="548640" y="480974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Apr 9</a:t>
            </a:r>
            <a:endParaRPr lang="en-US" sz="1400" dirty="0"/>
          </a:p>
        </p:txBody>
      </p:sp>
      <p:sp>
        <p:nvSpPr>
          <p:cNvPr id="23" name="Text 21"/>
          <p:cNvSpPr txBox="1"/>
          <p:nvPr/>
        </p:nvSpPr>
        <p:spPr>
          <a:xfrm>
            <a:off x="2377440" y="477316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Trade article</a:t>
            </a:r>
            <a:pPr indent="0" marL="0">
              <a:buNone/>
            </a:pPr>
            <a:r>
              <a:rPr lang="en-US" sz="1500" dirty="0">
                <a:solidFill>
                  <a:srgbClr val="56706A"/>
                </a:solidFill>
                <a:latin typeface="Calibri" pitchFamily="34" charset="0"/>
                <a:ea typeface="Calibri" pitchFamily="34" charset="-122"/>
                <a:cs typeface="Calibri" pitchFamily="34" charset="-120"/>
              </a:rPr>
              <a:t>  Industrial Sensor Quarterly</a:t>
            </a:r>
            <a:endParaRPr lang="en-US" sz="1500" dirty="0"/>
          </a:p>
        </p:txBody>
      </p:sp>
      <p:sp>
        <p:nvSpPr>
          <p:cNvPr id="24" name="Shape 22"/>
          <p:cNvSpPr/>
          <p:nvPr/>
        </p:nvSpPr>
        <p:spPr>
          <a:xfrm>
            <a:off x="548640" y="5358384"/>
            <a:ext cx="1554480" cy="384048"/>
          </a:xfrm>
          <a:prstGeom prst="roundRect">
            <a:avLst>
              <a:gd name="adj" fmla="val 47619"/>
            </a:avLst>
          </a:prstGeom>
          <a:solidFill>
            <a:srgbClr val="147A63"/>
          </a:solidFill>
          <a:ln w="12700">
            <a:solidFill>
              <a:srgbClr val="147A63"/>
            </a:solidFill>
            <a:prstDash val="solid"/>
          </a:ln>
        </p:spPr>
      </p:sp>
      <p:sp>
        <p:nvSpPr>
          <p:cNvPr id="25" name="Text 23"/>
          <p:cNvSpPr txBox="1"/>
          <p:nvPr/>
        </p:nvSpPr>
        <p:spPr>
          <a:xfrm>
            <a:off x="548640" y="535838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May 19</a:t>
            </a:r>
            <a:endParaRPr lang="en-US" sz="1400" dirty="0"/>
          </a:p>
        </p:txBody>
      </p:sp>
      <p:sp>
        <p:nvSpPr>
          <p:cNvPr id="26" name="Text 24"/>
          <p:cNvSpPr txBox="1"/>
          <p:nvPr/>
        </p:nvSpPr>
        <p:spPr>
          <a:xfrm>
            <a:off x="2377440" y="532180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Gulf Coast Process Expo</a:t>
            </a:r>
            <a:pPr indent="0" marL="0">
              <a:buNone/>
            </a:pPr>
            <a:r>
              <a:rPr lang="en-US" sz="1500" dirty="0">
                <a:solidFill>
                  <a:srgbClr val="56706A"/>
                </a:solidFill>
                <a:latin typeface="Calibri" pitchFamily="34" charset="0"/>
                <a:ea typeface="Calibri" pitchFamily="34" charset="-122"/>
                <a:cs typeface="Calibri" pitchFamily="34" charset="-120"/>
              </a:rPr>
              <a:t>  Three days, Houston</a:t>
            </a:r>
            <a:endParaRPr lang="en-US" sz="1500" dirty="0"/>
          </a:p>
        </p:txBody>
      </p:sp>
      <p:sp>
        <p:nvSpPr>
          <p:cNvPr id="27" name="Shape 25"/>
          <p:cNvSpPr/>
          <p:nvPr/>
        </p:nvSpPr>
        <p:spPr>
          <a:xfrm>
            <a:off x="548640" y="5907024"/>
            <a:ext cx="1554480" cy="384048"/>
          </a:xfrm>
          <a:prstGeom prst="roundRect">
            <a:avLst>
              <a:gd name="adj" fmla="val 47619"/>
            </a:avLst>
          </a:prstGeom>
          <a:solidFill>
            <a:srgbClr val="147A63"/>
          </a:solidFill>
          <a:ln w="12700">
            <a:solidFill>
              <a:srgbClr val="147A63"/>
            </a:solidFill>
            <a:prstDash val="solid"/>
          </a:ln>
        </p:spPr>
      </p:sp>
      <p:sp>
        <p:nvSpPr>
          <p:cNvPr id="28" name="Text 26"/>
          <p:cNvSpPr txBox="1"/>
          <p:nvPr/>
        </p:nvSpPr>
        <p:spPr>
          <a:xfrm>
            <a:off x="548640" y="5907024"/>
            <a:ext cx="155448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Jul 6</a:t>
            </a:r>
            <a:endParaRPr lang="en-US" sz="1400" dirty="0"/>
          </a:p>
        </p:txBody>
      </p:sp>
      <p:sp>
        <p:nvSpPr>
          <p:cNvPr id="29" name="Text 27"/>
          <p:cNvSpPr txBox="1"/>
          <p:nvPr/>
        </p:nvSpPr>
        <p:spPr>
          <a:xfrm>
            <a:off x="2377440" y="5870448"/>
            <a:ext cx="9265615" cy="457200"/>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90-day review</a:t>
            </a:r>
            <a:pPr indent="0" marL="0">
              <a:buNone/>
            </a:pPr>
            <a:r>
              <a:rPr lang="en-US" sz="1500" dirty="0">
                <a:solidFill>
                  <a:srgbClr val="56706A"/>
                </a:solidFill>
                <a:latin typeface="Calibri" pitchFamily="34" charset="0"/>
                <a:ea typeface="Calibri" pitchFamily="34" charset="-122"/>
                <a:cs typeface="Calibri" pitchFamily="34" charset="-120"/>
              </a:rPr>
              <a:t>  Results against targets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Early Access and Lead Response</a:t>
            </a:r>
            <a:endParaRPr lang="en-US" sz="3000" dirty="0"/>
          </a:p>
        </p:txBody>
      </p:sp>
      <p:sp>
        <p:nvSpPr>
          <p:cNvPr id="3" name="Text 1"/>
          <p:cNvSpPr txBox="1"/>
          <p:nvPr/>
        </p:nvSpPr>
        <p:spPr>
          <a:xfrm>
            <a:off x="548640" y="1508760"/>
            <a:ext cx="6766560" cy="47548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Jamal's list of the top 15 prospects gets the product page link on April 4</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Three-day window before public launch to make early buyers feel first</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Every form submission posts to Slack in real time</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First response to every inbound lead within two business hours</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Elena and Jamal own sales readiness; I own launch execution</a:t>
            </a:r>
            <a:endParaRPr lang="en-US" sz="1700" dirty="0"/>
          </a:p>
        </p:txBody>
      </p:sp>
      <p:sp>
        <p:nvSpPr>
          <p:cNvPr id="4" name="Shape 2"/>
          <p:cNvSpPr/>
          <p:nvPr/>
        </p:nvSpPr>
        <p:spPr>
          <a:xfrm>
            <a:off x="7772400" y="1508760"/>
            <a:ext cx="3870655" cy="4480560"/>
          </a:xfrm>
          <a:prstGeom prst="roundRect">
            <a:avLst>
              <a:gd name="adj" fmla="val 1890"/>
            </a:avLst>
          </a:prstGeom>
          <a:solidFill>
            <a:srgbClr val="0E3B34"/>
          </a:solidFill>
          <a:ln w="12700">
            <a:solidFill>
              <a:srgbClr val="0E3B34"/>
            </a:solidFill>
            <a:prstDash val="solid"/>
          </a:ln>
        </p:spPr>
      </p:sp>
      <p:sp>
        <p:nvSpPr>
          <p:cNvPr id="5" name="Text 3"/>
          <p:cNvSpPr txBox="1"/>
          <p:nvPr/>
        </p:nvSpPr>
        <p:spPr>
          <a:xfrm>
            <a:off x="8092440" y="1828800"/>
            <a:ext cx="3230575" cy="1188720"/>
          </a:xfrm>
          <a:prstGeom prst="rect">
            <a:avLst/>
          </a:prstGeom>
          <a:noFill/>
          <a:ln/>
        </p:spPr>
        <p:txBody>
          <a:bodyPr wrap="square" lIns="0" tIns="0" rIns="0" bIns="0" rtlCol="0" anchor="b"/>
          <a:lstStyle/>
          <a:p>
            <a:pPr indent="0" marL="0">
              <a:buNone/>
            </a:pPr>
            <a:r>
              <a:rPr lang="en-US" sz="4800" b="1" dirty="0">
                <a:solidFill>
                  <a:srgbClr val="F2B632"/>
                </a:solidFill>
                <a:latin typeface="Bookman Old Style" pitchFamily="34" charset="0"/>
                <a:ea typeface="Bookman Old Style" pitchFamily="34" charset="-122"/>
                <a:cs typeface="Bookman Old Style" pitchFamily="34" charset="-120"/>
              </a:rPr>
              <a:t>2 hrs</a:t>
            </a:r>
            <a:endParaRPr lang="en-US" sz="4800" dirty="0"/>
          </a:p>
        </p:txBody>
      </p:sp>
      <p:sp>
        <p:nvSpPr>
          <p:cNvPr id="6" name="Text 4"/>
          <p:cNvSpPr txBox="1"/>
          <p:nvPr/>
        </p:nvSpPr>
        <p:spPr>
          <a:xfrm>
            <a:off x="8092440" y="3154680"/>
            <a:ext cx="3230575" cy="2560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Committed first-response time on every inbound lead, during business hours.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3B34"/>
        </a:solidFill>
      </p:bgPr>
    </p:bg>
    <p:spTree>
      <p:nvGrpSpPr>
        <p:cNvPr id="1" name=""/>
        <p:cNvGrpSpPr/>
        <p:nvPr/>
      </p:nvGrpSpPr>
      <p:grpSpPr>
        <a:xfrm>
          <a:off x="0" y="0"/>
          <a:ext cx="0" cy="0"/>
          <a:chOff x="0" y="0"/>
          <a:chExt cx="0" cy="0"/>
        </a:xfrm>
      </p:grpSpPr>
      <p:sp>
        <p:nvSpPr>
          <p:cNvPr id="2" name="Shape 0"/>
          <p:cNvSpPr/>
          <p:nvPr/>
        </p:nvSpPr>
        <p:spPr>
          <a:xfrm>
            <a:off x="548640" y="2148840"/>
            <a:ext cx="1188720" cy="1188720"/>
          </a:xfrm>
          <a:prstGeom prst="ellipse">
            <a:avLst/>
          </a:prstGeom>
          <a:solidFill>
            <a:srgbClr val="F2B632"/>
          </a:solidFill>
          <a:ln w="12700">
            <a:solidFill>
              <a:srgbClr val="F2B632"/>
            </a:solidFill>
            <a:prstDash val="solid"/>
          </a:ln>
        </p:spPr>
      </p:sp>
      <p:sp>
        <p:nvSpPr>
          <p:cNvPr id="3" name="Text 1"/>
          <p:cNvSpPr txBox="1"/>
          <p:nvPr/>
        </p:nvSpPr>
        <p:spPr>
          <a:xfrm>
            <a:off x="548640" y="2148840"/>
            <a:ext cx="1188720" cy="1188720"/>
          </a:xfrm>
          <a:prstGeom prst="rect">
            <a:avLst/>
          </a:prstGeom>
          <a:noFill/>
          <a:ln/>
        </p:spPr>
        <p:txBody>
          <a:bodyPr wrap="square" lIns="0" tIns="0" rIns="0" bIns="0" rtlCol="0" anchor="ctr"/>
          <a:lstStyle/>
          <a:p>
            <a:pPr algn="ctr" indent="0" marL="0">
              <a:buNone/>
            </a:pPr>
            <a:r>
              <a:rPr lang="en-US" sz="3000" b="1" dirty="0">
                <a:solidFill>
                  <a:srgbClr val="0E3B34"/>
                </a:solidFill>
                <a:latin typeface="Bookman Old Style" pitchFamily="34" charset="0"/>
                <a:ea typeface="Bookman Old Style" pitchFamily="34" charset="-122"/>
                <a:cs typeface="Bookman Old Style" pitchFamily="34" charset="-120"/>
              </a:rPr>
              <a:t>03</a:t>
            </a:r>
            <a:endParaRPr lang="en-US" sz="3000" dirty="0"/>
          </a:p>
        </p:txBody>
      </p:sp>
      <p:sp>
        <p:nvSpPr>
          <p:cNvPr id="4" name="Text 2"/>
          <p:cNvSpPr txBox="1"/>
          <p:nvPr/>
        </p:nvSpPr>
        <p:spPr>
          <a:xfrm>
            <a:off x="2103120" y="2057400"/>
            <a:ext cx="8686800" cy="822960"/>
          </a:xfrm>
          <a:prstGeom prst="rect">
            <a:avLst/>
          </a:prstGeom>
          <a:noFill/>
          <a:ln/>
        </p:spPr>
        <p:txBody>
          <a:bodyPr wrap="square" lIns="0" tIns="0" rIns="0" bIns="0" rtlCol="0" anchor="ctr"/>
          <a:lstStyle/>
          <a:p>
            <a:pPr indent="0" marL="0">
              <a:buNone/>
            </a:pPr>
            <a:r>
              <a:rPr lang="en-US" sz="3600" b="1" dirty="0">
                <a:solidFill>
                  <a:srgbClr val="FFFFFF"/>
                </a:solidFill>
                <a:latin typeface="Bookman Old Style" pitchFamily="34" charset="0"/>
                <a:ea typeface="Bookman Old Style" pitchFamily="34" charset="-122"/>
                <a:cs typeface="Bookman Old Style" pitchFamily="34" charset="-120"/>
              </a:rPr>
              <a:t>Budget and Measurement</a:t>
            </a:r>
            <a:endParaRPr lang="en-US" sz="3600" dirty="0"/>
          </a:p>
        </p:txBody>
      </p:sp>
      <p:sp>
        <p:nvSpPr>
          <p:cNvPr id="5" name="Text 3"/>
          <p:cNvSpPr txBox="1"/>
          <p:nvPr/>
        </p:nvSpPr>
        <p:spPr>
          <a:xfrm>
            <a:off x="2103120" y="2880360"/>
            <a:ext cx="8686800" cy="548640"/>
          </a:xfrm>
          <a:prstGeom prst="rect">
            <a:avLst/>
          </a:prstGeom>
          <a:noFill/>
          <a:ln/>
        </p:spPr>
        <p:txBody>
          <a:bodyPr wrap="square" lIns="0" tIns="0" rIns="0" bIns="0" rtlCol="0" anchor="ctr"/>
          <a:lstStyle/>
          <a:p>
            <a:pPr indent="0" marL="0">
              <a:buNone/>
            </a:pPr>
            <a:r>
              <a:rPr lang="en-US" sz="1600" dirty="0">
                <a:solidFill>
                  <a:srgbClr val="BFD8D0"/>
                </a:solidFill>
                <a:latin typeface="Calibri" pitchFamily="34" charset="0"/>
                <a:ea typeface="Calibri" pitchFamily="34" charset="-122"/>
                <a:cs typeface="Calibri" pitchFamily="34" charset="-120"/>
              </a:rPr>
              <a:t>What it costs, and how we will know it worked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Campaign Budget: $92,000 Requested</a:t>
            </a:r>
            <a:endParaRPr lang="en-US" sz="3000" dirty="0"/>
          </a:p>
        </p:txBody>
      </p:sp>
      <p:sp>
        <p:nvSpPr>
          <p:cNvPr id="3" name="Shape 1"/>
          <p:cNvSpPr/>
          <p:nvPr/>
        </p:nvSpPr>
        <p:spPr>
          <a:xfrm>
            <a:off x="548640" y="1463040"/>
            <a:ext cx="11094415" cy="562356"/>
          </a:xfrm>
          <a:prstGeom prst="rect">
            <a:avLst/>
          </a:prstGeom>
          <a:solidFill>
            <a:srgbClr val="E8F3EF"/>
          </a:solidFill>
          <a:ln w="12700">
            <a:solidFill>
              <a:srgbClr val="E8F3EF"/>
            </a:solidFill>
            <a:prstDash val="solid"/>
          </a:ln>
        </p:spPr>
      </p:sp>
      <p:sp>
        <p:nvSpPr>
          <p:cNvPr id="4" name="Text 2"/>
          <p:cNvSpPr txBox="1"/>
          <p:nvPr/>
        </p:nvSpPr>
        <p:spPr>
          <a:xfrm>
            <a:off x="777240" y="146304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Paid search</a:t>
            </a:r>
            <a:endParaRPr lang="en-US" sz="1500" dirty="0"/>
          </a:p>
        </p:txBody>
      </p:sp>
      <p:sp>
        <p:nvSpPr>
          <p:cNvPr id="5" name="Text 3"/>
          <p:cNvSpPr txBox="1"/>
          <p:nvPr/>
        </p:nvSpPr>
        <p:spPr>
          <a:xfrm>
            <a:off x="4114800" y="146304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$31,000</a:t>
            </a:r>
            <a:endParaRPr lang="en-US" sz="1800" dirty="0"/>
          </a:p>
        </p:txBody>
      </p:sp>
      <p:sp>
        <p:nvSpPr>
          <p:cNvPr id="6" name="Text 4"/>
          <p:cNvSpPr txBox="1"/>
          <p:nvPr/>
        </p:nvSpPr>
        <p:spPr>
          <a:xfrm>
            <a:off x="6309360" y="146304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April to June, weighted to launch month</a:t>
            </a:r>
            <a:endParaRPr lang="en-US" sz="1300" dirty="0"/>
          </a:p>
        </p:txBody>
      </p:sp>
      <p:sp>
        <p:nvSpPr>
          <p:cNvPr id="7" name="Shape 5"/>
          <p:cNvSpPr/>
          <p:nvPr/>
        </p:nvSpPr>
        <p:spPr>
          <a:xfrm>
            <a:off x="548640" y="2080260"/>
            <a:ext cx="11094415" cy="562356"/>
          </a:xfrm>
          <a:prstGeom prst="rect">
            <a:avLst/>
          </a:prstGeom>
          <a:solidFill>
            <a:srgbClr val="FFFFFF"/>
          </a:solidFill>
          <a:ln w="12700">
            <a:solidFill>
              <a:srgbClr val="FFFFFF"/>
            </a:solidFill>
            <a:prstDash val="solid"/>
          </a:ln>
        </p:spPr>
      </p:sp>
      <p:sp>
        <p:nvSpPr>
          <p:cNvPr id="8" name="Text 6"/>
          <p:cNvSpPr txBox="1"/>
          <p:nvPr/>
        </p:nvSpPr>
        <p:spPr>
          <a:xfrm>
            <a:off x="777240" y="208026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Gulf Coast Process Expo</a:t>
            </a:r>
            <a:endParaRPr lang="en-US" sz="1500" dirty="0"/>
          </a:p>
        </p:txBody>
      </p:sp>
      <p:sp>
        <p:nvSpPr>
          <p:cNvPr id="9" name="Text 7"/>
          <p:cNvSpPr txBox="1"/>
          <p:nvPr/>
        </p:nvSpPr>
        <p:spPr>
          <a:xfrm>
            <a:off x="4114800" y="208026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$26,500</a:t>
            </a:r>
            <a:endParaRPr lang="en-US" sz="1800" dirty="0"/>
          </a:p>
        </p:txBody>
      </p:sp>
      <p:sp>
        <p:nvSpPr>
          <p:cNvPr id="10" name="Text 8"/>
          <p:cNvSpPr txBox="1"/>
          <p:nvPr/>
        </p:nvSpPr>
        <p:spPr>
          <a:xfrm>
            <a:off x="6309360" y="208026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Booth, freight, travel for three</a:t>
            </a:r>
            <a:endParaRPr lang="en-US" sz="1300" dirty="0"/>
          </a:p>
        </p:txBody>
      </p:sp>
      <p:sp>
        <p:nvSpPr>
          <p:cNvPr id="11" name="Shape 9"/>
          <p:cNvSpPr/>
          <p:nvPr/>
        </p:nvSpPr>
        <p:spPr>
          <a:xfrm>
            <a:off x="548640" y="2697480"/>
            <a:ext cx="11094415" cy="562356"/>
          </a:xfrm>
          <a:prstGeom prst="rect">
            <a:avLst/>
          </a:prstGeom>
          <a:solidFill>
            <a:srgbClr val="E8F3EF"/>
          </a:solidFill>
          <a:ln w="12700">
            <a:solidFill>
              <a:srgbClr val="E8F3EF"/>
            </a:solidFill>
            <a:prstDash val="solid"/>
          </a:ln>
        </p:spPr>
      </p:sp>
      <p:sp>
        <p:nvSpPr>
          <p:cNvPr id="12" name="Text 10"/>
          <p:cNvSpPr txBox="1"/>
          <p:nvPr/>
        </p:nvSpPr>
        <p:spPr>
          <a:xfrm>
            <a:off x="777240" y="269748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LinkedIn sponsored</a:t>
            </a:r>
            <a:endParaRPr lang="en-US" sz="1500" dirty="0"/>
          </a:p>
        </p:txBody>
      </p:sp>
      <p:sp>
        <p:nvSpPr>
          <p:cNvPr id="13" name="Text 11"/>
          <p:cNvSpPr txBox="1"/>
          <p:nvPr/>
        </p:nvSpPr>
        <p:spPr>
          <a:xfrm>
            <a:off x="4114800" y="269748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$12,000</a:t>
            </a:r>
            <a:endParaRPr lang="en-US" sz="1800" dirty="0"/>
          </a:p>
        </p:txBody>
      </p:sp>
      <p:sp>
        <p:nvSpPr>
          <p:cNvPr id="14" name="Text 12"/>
          <p:cNvSpPr txBox="1"/>
          <p:nvPr/>
        </p:nvSpPr>
        <p:spPr>
          <a:xfrm>
            <a:off x="6309360" y="269748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Plant, reliability, and controls engineers</a:t>
            </a:r>
            <a:endParaRPr lang="en-US" sz="1300" dirty="0"/>
          </a:p>
        </p:txBody>
      </p:sp>
      <p:sp>
        <p:nvSpPr>
          <p:cNvPr id="15" name="Shape 13"/>
          <p:cNvSpPr/>
          <p:nvPr/>
        </p:nvSpPr>
        <p:spPr>
          <a:xfrm>
            <a:off x="548640" y="3314700"/>
            <a:ext cx="11094415" cy="562356"/>
          </a:xfrm>
          <a:prstGeom prst="rect">
            <a:avLst/>
          </a:prstGeom>
          <a:solidFill>
            <a:srgbClr val="FFFFFF"/>
          </a:solidFill>
          <a:ln w="12700">
            <a:solidFill>
              <a:srgbClr val="FFFFFF"/>
            </a:solidFill>
            <a:prstDash val="solid"/>
          </a:ln>
        </p:spPr>
      </p:sp>
      <p:sp>
        <p:nvSpPr>
          <p:cNvPr id="16" name="Text 14"/>
          <p:cNvSpPr txBox="1"/>
          <p:nvPr/>
        </p:nvSpPr>
        <p:spPr>
          <a:xfrm>
            <a:off x="777240" y="331470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Video and photography</a:t>
            </a:r>
            <a:endParaRPr lang="en-US" sz="1500" dirty="0"/>
          </a:p>
        </p:txBody>
      </p:sp>
      <p:sp>
        <p:nvSpPr>
          <p:cNvPr id="17" name="Text 15"/>
          <p:cNvSpPr txBox="1"/>
          <p:nvPr/>
        </p:nvSpPr>
        <p:spPr>
          <a:xfrm>
            <a:off x="4114800" y="331470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$9,500</a:t>
            </a:r>
            <a:endParaRPr lang="en-US" sz="1800" dirty="0"/>
          </a:p>
        </p:txBody>
      </p:sp>
      <p:sp>
        <p:nvSpPr>
          <p:cNvPr id="18" name="Text 16"/>
          <p:cNvSpPr txBox="1"/>
          <p:nvPr/>
        </p:nvSpPr>
        <p:spPr>
          <a:xfrm>
            <a:off x="6309360" y="331470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Vibration demo video, product shots</a:t>
            </a:r>
            <a:endParaRPr lang="en-US" sz="1300" dirty="0"/>
          </a:p>
        </p:txBody>
      </p:sp>
      <p:sp>
        <p:nvSpPr>
          <p:cNvPr id="19" name="Shape 17"/>
          <p:cNvSpPr/>
          <p:nvPr/>
        </p:nvSpPr>
        <p:spPr>
          <a:xfrm>
            <a:off x="548640" y="3931920"/>
            <a:ext cx="11094415" cy="562356"/>
          </a:xfrm>
          <a:prstGeom prst="rect">
            <a:avLst/>
          </a:prstGeom>
          <a:solidFill>
            <a:srgbClr val="E8F3EF"/>
          </a:solidFill>
          <a:ln w="12700">
            <a:solidFill>
              <a:srgbClr val="E8F3EF"/>
            </a:solidFill>
            <a:prstDash val="solid"/>
          </a:ln>
        </p:spPr>
      </p:sp>
      <p:sp>
        <p:nvSpPr>
          <p:cNvPr id="20" name="Text 18"/>
          <p:cNvSpPr txBox="1"/>
          <p:nvPr/>
        </p:nvSpPr>
        <p:spPr>
          <a:xfrm>
            <a:off x="777240" y="393192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PR and trade article</a:t>
            </a:r>
            <a:endParaRPr lang="en-US" sz="1500" dirty="0"/>
          </a:p>
        </p:txBody>
      </p:sp>
      <p:sp>
        <p:nvSpPr>
          <p:cNvPr id="21" name="Text 19"/>
          <p:cNvSpPr txBox="1"/>
          <p:nvPr/>
        </p:nvSpPr>
        <p:spPr>
          <a:xfrm>
            <a:off x="4114800" y="393192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$6,000</a:t>
            </a:r>
            <a:endParaRPr lang="en-US" sz="1800" dirty="0"/>
          </a:p>
        </p:txBody>
      </p:sp>
      <p:sp>
        <p:nvSpPr>
          <p:cNvPr id="22" name="Text 20"/>
          <p:cNvSpPr txBox="1"/>
          <p:nvPr/>
        </p:nvSpPr>
        <p:spPr>
          <a:xfrm>
            <a:off x="6309360" y="393192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Cision distribution, article support</a:t>
            </a:r>
            <a:endParaRPr lang="en-US" sz="1300" dirty="0"/>
          </a:p>
        </p:txBody>
      </p:sp>
      <p:sp>
        <p:nvSpPr>
          <p:cNvPr id="23" name="Shape 21"/>
          <p:cNvSpPr/>
          <p:nvPr/>
        </p:nvSpPr>
        <p:spPr>
          <a:xfrm>
            <a:off x="548640" y="4549140"/>
            <a:ext cx="11094415" cy="562356"/>
          </a:xfrm>
          <a:prstGeom prst="rect">
            <a:avLst/>
          </a:prstGeom>
          <a:solidFill>
            <a:srgbClr val="FFFFFF"/>
          </a:solidFill>
          <a:ln w="12700">
            <a:solidFill>
              <a:srgbClr val="FFFFFF"/>
            </a:solidFill>
            <a:prstDash val="solid"/>
          </a:ln>
        </p:spPr>
      </p:sp>
      <p:sp>
        <p:nvSpPr>
          <p:cNvPr id="24" name="Text 22"/>
          <p:cNvSpPr txBox="1"/>
          <p:nvPr/>
        </p:nvSpPr>
        <p:spPr>
          <a:xfrm>
            <a:off x="777240" y="454914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Email and marketing ops</a:t>
            </a:r>
            <a:endParaRPr lang="en-US" sz="1500" dirty="0"/>
          </a:p>
        </p:txBody>
      </p:sp>
      <p:sp>
        <p:nvSpPr>
          <p:cNvPr id="25" name="Text 23"/>
          <p:cNvSpPr txBox="1"/>
          <p:nvPr/>
        </p:nvSpPr>
        <p:spPr>
          <a:xfrm>
            <a:off x="4114800" y="454914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$2,000</a:t>
            </a:r>
            <a:endParaRPr lang="en-US" sz="1800" dirty="0"/>
          </a:p>
        </p:txBody>
      </p:sp>
      <p:sp>
        <p:nvSpPr>
          <p:cNvPr id="26" name="Text 24"/>
          <p:cNvSpPr txBox="1"/>
          <p:nvPr/>
        </p:nvSpPr>
        <p:spPr>
          <a:xfrm>
            <a:off x="6309360" y="454914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List cleanup, form and alert setup</a:t>
            </a:r>
            <a:endParaRPr lang="en-US" sz="1300" dirty="0"/>
          </a:p>
        </p:txBody>
      </p:sp>
      <p:sp>
        <p:nvSpPr>
          <p:cNvPr id="27" name="Shape 25"/>
          <p:cNvSpPr/>
          <p:nvPr/>
        </p:nvSpPr>
        <p:spPr>
          <a:xfrm>
            <a:off x="548640" y="5166360"/>
            <a:ext cx="11094415" cy="562356"/>
          </a:xfrm>
          <a:prstGeom prst="rect">
            <a:avLst/>
          </a:prstGeom>
          <a:solidFill>
            <a:srgbClr val="E8F3EF"/>
          </a:solidFill>
          <a:ln w="12700">
            <a:solidFill>
              <a:srgbClr val="E8F3EF"/>
            </a:solidFill>
            <a:prstDash val="solid"/>
          </a:ln>
        </p:spPr>
      </p:sp>
      <p:sp>
        <p:nvSpPr>
          <p:cNvPr id="28" name="Text 26"/>
          <p:cNvSpPr txBox="1"/>
          <p:nvPr/>
        </p:nvSpPr>
        <p:spPr>
          <a:xfrm>
            <a:off x="777240" y="5166360"/>
            <a:ext cx="3291840" cy="562356"/>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Contingency</a:t>
            </a:r>
            <a:endParaRPr lang="en-US" sz="1500" dirty="0"/>
          </a:p>
        </p:txBody>
      </p:sp>
      <p:sp>
        <p:nvSpPr>
          <p:cNvPr id="29" name="Text 27"/>
          <p:cNvSpPr txBox="1"/>
          <p:nvPr/>
        </p:nvSpPr>
        <p:spPr>
          <a:xfrm>
            <a:off x="4114800" y="5166360"/>
            <a:ext cx="2011680" cy="562356"/>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$5,000</a:t>
            </a:r>
            <a:endParaRPr lang="en-US" sz="1800" dirty="0"/>
          </a:p>
        </p:txBody>
      </p:sp>
      <p:sp>
        <p:nvSpPr>
          <p:cNvPr id="30" name="Text 28"/>
          <p:cNvSpPr txBox="1"/>
          <p:nvPr/>
        </p:nvSpPr>
        <p:spPr>
          <a:xfrm>
            <a:off x="6309360" y="5166360"/>
            <a:ext cx="5150815" cy="562356"/>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Released only with Priya's approval</a:t>
            </a:r>
            <a:endParaRPr lang="en-US" sz="1300" dirty="0"/>
          </a:p>
        </p:txBody>
      </p:sp>
      <p:sp>
        <p:nvSpPr>
          <p:cNvPr id="31" name="Shape 29"/>
          <p:cNvSpPr/>
          <p:nvPr/>
        </p:nvSpPr>
        <p:spPr>
          <a:xfrm>
            <a:off x="548640" y="5783580"/>
            <a:ext cx="11094415" cy="562356"/>
          </a:xfrm>
          <a:prstGeom prst="rect">
            <a:avLst/>
          </a:prstGeom>
          <a:solidFill>
            <a:srgbClr val="0E3B34"/>
          </a:solidFill>
          <a:ln w="12700">
            <a:solidFill>
              <a:srgbClr val="0E3B34"/>
            </a:solidFill>
            <a:prstDash val="solid"/>
          </a:ln>
        </p:spPr>
      </p:sp>
      <p:sp>
        <p:nvSpPr>
          <p:cNvPr id="32" name="Text 30"/>
          <p:cNvSpPr txBox="1"/>
          <p:nvPr/>
        </p:nvSpPr>
        <p:spPr>
          <a:xfrm>
            <a:off x="777240" y="5783580"/>
            <a:ext cx="3291840" cy="56235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Total</a:t>
            </a:r>
            <a:endParaRPr lang="en-US" sz="1500" dirty="0"/>
          </a:p>
        </p:txBody>
      </p:sp>
      <p:sp>
        <p:nvSpPr>
          <p:cNvPr id="33" name="Text 31"/>
          <p:cNvSpPr txBox="1"/>
          <p:nvPr/>
        </p:nvSpPr>
        <p:spPr>
          <a:xfrm>
            <a:off x="4114800" y="5783580"/>
            <a:ext cx="2011680" cy="562356"/>
          </a:xfrm>
          <a:prstGeom prst="rect">
            <a:avLst/>
          </a:prstGeom>
          <a:noFill/>
          <a:ln/>
        </p:spPr>
        <p:txBody>
          <a:bodyPr wrap="square" lIns="0" tIns="0" rIns="0" bIns="0" rtlCol="0" anchor="ctr"/>
          <a:lstStyle/>
          <a:p>
            <a:pPr indent="0" marL="0">
              <a:buNone/>
            </a:pPr>
            <a:r>
              <a:rPr lang="en-US" sz="1800" b="1" dirty="0">
                <a:solidFill>
                  <a:srgbClr val="F2B632"/>
                </a:solidFill>
                <a:latin typeface="Bookman Old Style" pitchFamily="34" charset="0"/>
                <a:ea typeface="Bookman Old Style" pitchFamily="34" charset="-122"/>
                <a:cs typeface="Bookman Old Style" pitchFamily="34" charset="-120"/>
              </a:rPr>
              <a:t>$92,000</a:t>
            </a:r>
            <a:endParaRPr lang="en-US" sz="1800" dirty="0"/>
          </a:p>
        </p:txBody>
      </p:sp>
      <p:sp>
        <p:nvSpPr>
          <p:cNvPr id="34" name="Text 32"/>
          <p:cNvSpPr txBox="1"/>
          <p:nvPr/>
        </p:nvSpPr>
        <p:spPr>
          <a:xfrm>
            <a:off x="6309360" y="5783580"/>
            <a:ext cx="5150815" cy="562356"/>
          </a:xfrm>
          <a:prstGeom prst="rect">
            <a:avLst/>
          </a:prstGeom>
          <a:noFill/>
          <a:ln/>
        </p:spPr>
        <p:txBody>
          <a:bodyPr wrap="square" lIns="0" tIns="0" rIns="0" bIns="0" rtlCol="0" anchor="ctr"/>
          <a:lstStyle/>
          <a:p>
            <a:pPr indent="0" marL="0">
              <a:buNone/>
            </a:pPr>
            <a:r>
              <a:rPr lang="en-US" sz="1300" dirty="0">
                <a:solidFill>
                  <a:srgbClr val="BFD8D0"/>
                </a:solidFill>
                <a:latin typeface="Calibri" pitchFamily="34" charset="0"/>
                <a:ea typeface="Calibri" pitchFamily="34" charset="-122"/>
                <a:cs typeface="Calibri" pitchFamily="34" charset="-120"/>
              </a:rPr>
              <a:t>Excludes 50 demo and sample units, about $24,550 at standard cost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How Success Is Measured at 90 Days</a:t>
            </a:r>
            <a:endParaRPr lang="en-US" sz="3000" dirty="0"/>
          </a:p>
        </p:txBody>
      </p:sp>
      <p:sp>
        <p:nvSpPr>
          <p:cNvPr id="3" name="Shape 1"/>
          <p:cNvSpPr/>
          <p:nvPr/>
        </p:nvSpPr>
        <p:spPr>
          <a:xfrm>
            <a:off x="548640" y="1463040"/>
            <a:ext cx="11094415" cy="658368"/>
          </a:xfrm>
          <a:prstGeom prst="rect">
            <a:avLst/>
          </a:prstGeom>
          <a:solidFill>
            <a:srgbClr val="E8F3EF"/>
          </a:solidFill>
          <a:ln w="12700">
            <a:solidFill>
              <a:srgbClr val="E8F3EF"/>
            </a:solidFill>
            <a:prstDash val="solid"/>
          </a:ln>
        </p:spPr>
      </p:sp>
      <p:sp>
        <p:nvSpPr>
          <p:cNvPr id="4" name="Text 2"/>
          <p:cNvSpPr txBox="1"/>
          <p:nvPr/>
        </p:nvSpPr>
        <p:spPr>
          <a:xfrm>
            <a:off x="777240" y="1463040"/>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Inbound form submissions</a:t>
            </a:r>
            <a:endParaRPr lang="en-US" sz="1500" dirty="0"/>
          </a:p>
        </p:txBody>
      </p:sp>
      <p:sp>
        <p:nvSpPr>
          <p:cNvPr id="5" name="Text 3"/>
          <p:cNvSpPr txBox="1"/>
          <p:nvPr/>
        </p:nvSpPr>
        <p:spPr>
          <a:xfrm>
            <a:off x="4114800" y="1463040"/>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400</a:t>
            </a:r>
            <a:endParaRPr lang="en-US" sz="1800" dirty="0"/>
          </a:p>
        </p:txBody>
      </p:sp>
      <p:sp>
        <p:nvSpPr>
          <p:cNvPr id="6" name="Text 4"/>
          <p:cNvSpPr txBox="1"/>
          <p:nvPr/>
        </p:nvSpPr>
        <p:spPr>
          <a:xfrm>
            <a:off x="6309360" y="1463040"/>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About $230 per lead at full spend</a:t>
            </a:r>
            <a:endParaRPr lang="en-US" sz="1300" dirty="0"/>
          </a:p>
        </p:txBody>
      </p:sp>
      <p:sp>
        <p:nvSpPr>
          <p:cNvPr id="7" name="Shape 5"/>
          <p:cNvSpPr/>
          <p:nvPr/>
        </p:nvSpPr>
        <p:spPr>
          <a:xfrm>
            <a:off x="548640" y="2176272"/>
            <a:ext cx="11094415" cy="658368"/>
          </a:xfrm>
          <a:prstGeom prst="rect">
            <a:avLst/>
          </a:prstGeom>
          <a:solidFill>
            <a:srgbClr val="FFFFFF"/>
          </a:solidFill>
          <a:ln w="12700">
            <a:solidFill>
              <a:srgbClr val="FFFFFF"/>
            </a:solidFill>
            <a:prstDash val="solid"/>
          </a:ln>
        </p:spPr>
      </p:sp>
      <p:sp>
        <p:nvSpPr>
          <p:cNvPr id="8" name="Text 6"/>
          <p:cNvSpPr txBox="1"/>
          <p:nvPr/>
        </p:nvSpPr>
        <p:spPr>
          <a:xfrm>
            <a:off x="777240" y="2176272"/>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Sales-qualified leads</a:t>
            </a:r>
            <a:endParaRPr lang="en-US" sz="1500" dirty="0"/>
          </a:p>
        </p:txBody>
      </p:sp>
      <p:sp>
        <p:nvSpPr>
          <p:cNvPr id="9" name="Text 7"/>
          <p:cNvSpPr txBox="1"/>
          <p:nvPr/>
        </p:nvSpPr>
        <p:spPr>
          <a:xfrm>
            <a:off x="4114800" y="2176272"/>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120</a:t>
            </a:r>
            <a:endParaRPr lang="en-US" sz="1800" dirty="0"/>
          </a:p>
        </p:txBody>
      </p:sp>
      <p:sp>
        <p:nvSpPr>
          <p:cNvPr id="10" name="Text 8"/>
          <p:cNvSpPr txBox="1"/>
          <p:nvPr/>
        </p:nvSpPr>
        <p:spPr>
          <a:xfrm>
            <a:off x="6309360" y="2176272"/>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Accepted by Elena or Jamal</a:t>
            </a:r>
            <a:endParaRPr lang="en-US" sz="1300" dirty="0"/>
          </a:p>
        </p:txBody>
      </p:sp>
      <p:sp>
        <p:nvSpPr>
          <p:cNvPr id="11" name="Shape 9"/>
          <p:cNvSpPr/>
          <p:nvPr/>
        </p:nvSpPr>
        <p:spPr>
          <a:xfrm>
            <a:off x="548640" y="2889504"/>
            <a:ext cx="11094415" cy="658368"/>
          </a:xfrm>
          <a:prstGeom prst="rect">
            <a:avLst/>
          </a:prstGeom>
          <a:solidFill>
            <a:srgbClr val="E8F3EF"/>
          </a:solidFill>
          <a:ln w="12700">
            <a:solidFill>
              <a:srgbClr val="E8F3EF"/>
            </a:solidFill>
            <a:prstDash val="solid"/>
          </a:ln>
        </p:spPr>
      </p:sp>
      <p:sp>
        <p:nvSpPr>
          <p:cNvPr id="12" name="Text 10"/>
          <p:cNvSpPr txBox="1"/>
          <p:nvPr/>
        </p:nvSpPr>
        <p:spPr>
          <a:xfrm>
            <a:off x="777240" y="2889504"/>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New qualified pipeline</a:t>
            </a:r>
            <a:endParaRPr lang="en-US" sz="1500" dirty="0"/>
          </a:p>
        </p:txBody>
      </p:sp>
      <p:sp>
        <p:nvSpPr>
          <p:cNvPr id="13" name="Text 11"/>
          <p:cNvSpPr txBox="1"/>
          <p:nvPr/>
        </p:nvSpPr>
        <p:spPr>
          <a:xfrm>
            <a:off x="4114800" y="2889504"/>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$750K</a:t>
            </a:r>
            <a:endParaRPr lang="en-US" sz="1800" dirty="0"/>
          </a:p>
        </p:txBody>
      </p:sp>
      <p:sp>
        <p:nvSpPr>
          <p:cNvPr id="14" name="Text 12"/>
          <p:cNvSpPr txBox="1"/>
          <p:nvPr/>
        </p:nvSpPr>
        <p:spPr>
          <a:xfrm>
            <a:off x="6309360" y="2889504"/>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Opportunities sourced by the campaign</a:t>
            </a:r>
            <a:endParaRPr lang="en-US" sz="1300" dirty="0"/>
          </a:p>
        </p:txBody>
      </p:sp>
      <p:sp>
        <p:nvSpPr>
          <p:cNvPr id="15" name="Shape 13"/>
          <p:cNvSpPr/>
          <p:nvPr/>
        </p:nvSpPr>
        <p:spPr>
          <a:xfrm>
            <a:off x="548640" y="3602736"/>
            <a:ext cx="11094415" cy="658368"/>
          </a:xfrm>
          <a:prstGeom prst="rect">
            <a:avLst/>
          </a:prstGeom>
          <a:solidFill>
            <a:srgbClr val="FFFFFF"/>
          </a:solidFill>
          <a:ln w="12700">
            <a:solidFill>
              <a:srgbClr val="FFFFFF"/>
            </a:solidFill>
            <a:prstDash val="solid"/>
          </a:ln>
        </p:spPr>
      </p:sp>
      <p:sp>
        <p:nvSpPr>
          <p:cNvPr id="16" name="Text 14"/>
          <p:cNvSpPr txBox="1"/>
          <p:nvPr/>
        </p:nvSpPr>
        <p:spPr>
          <a:xfrm>
            <a:off x="777240" y="3602736"/>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Units sold</a:t>
            </a:r>
            <a:endParaRPr lang="en-US" sz="1500" dirty="0"/>
          </a:p>
        </p:txBody>
      </p:sp>
      <p:sp>
        <p:nvSpPr>
          <p:cNvPr id="17" name="Text 15"/>
          <p:cNvSpPr txBox="1"/>
          <p:nvPr/>
        </p:nvSpPr>
        <p:spPr>
          <a:xfrm>
            <a:off x="4114800" y="3602736"/>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180</a:t>
            </a:r>
            <a:endParaRPr lang="en-US" sz="1800" dirty="0"/>
          </a:p>
        </p:txBody>
      </p:sp>
      <p:sp>
        <p:nvSpPr>
          <p:cNvPr id="18" name="Text 16"/>
          <p:cNvSpPr txBox="1"/>
          <p:nvPr/>
        </p:nvSpPr>
        <p:spPr>
          <a:xfrm>
            <a:off x="6309360" y="3602736"/>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Of 250 sellable, about $148K in revenue</a:t>
            </a:r>
            <a:endParaRPr lang="en-US" sz="1300" dirty="0"/>
          </a:p>
        </p:txBody>
      </p:sp>
      <p:sp>
        <p:nvSpPr>
          <p:cNvPr id="19" name="Shape 17"/>
          <p:cNvSpPr/>
          <p:nvPr/>
        </p:nvSpPr>
        <p:spPr>
          <a:xfrm>
            <a:off x="548640" y="4315968"/>
            <a:ext cx="11094415" cy="658368"/>
          </a:xfrm>
          <a:prstGeom prst="rect">
            <a:avLst/>
          </a:prstGeom>
          <a:solidFill>
            <a:srgbClr val="E8F3EF"/>
          </a:solidFill>
          <a:ln w="12700">
            <a:solidFill>
              <a:srgbClr val="E8F3EF"/>
            </a:solidFill>
            <a:prstDash val="solid"/>
          </a:ln>
        </p:spPr>
      </p:sp>
      <p:sp>
        <p:nvSpPr>
          <p:cNvPr id="20" name="Text 18"/>
          <p:cNvSpPr txBox="1"/>
          <p:nvPr/>
        </p:nvSpPr>
        <p:spPr>
          <a:xfrm>
            <a:off x="777240" y="4315968"/>
            <a:ext cx="3291840" cy="658368"/>
          </a:xfrm>
          <a:prstGeom prst="rect">
            <a:avLst/>
          </a:prstGeom>
          <a:noFill/>
          <a:ln/>
        </p:spPr>
        <p:txBody>
          <a:bodyPr wrap="square" lIns="0" tIns="0" rIns="0" bIns="0" rtlCol="0" anchor="ctr"/>
          <a:lstStyle/>
          <a:p>
            <a:pPr indent="0" marL="0">
              <a:buNone/>
            </a:pPr>
            <a:r>
              <a:rPr lang="en-US" sz="1500" b="1" dirty="0">
                <a:solidFill>
                  <a:srgbClr val="0E2A25"/>
                </a:solidFill>
                <a:latin typeface="Calibri" pitchFamily="34" charset="0"/>
                <a:ea typeface="Calibri" pitchFamily="34" charset="-122"/>
                <a:cs typeface="Calibri" pitchFamily="34" charset="-120"/>
              </a:rPr>
              <a:t>Lead response in SLA</a:t>
            </a:r>
            <a:endParaRPr lang="en-US" sz="1500" dirty="0"/>
          </a:p>
        </p:txBody>
      </p:sp>
      <p:sp>
        <p:nvSpPr>
          <p:cNvPr id="21" name="Text 19"/>
          <p:cNvSpPr txBox="1"/>
          <p:nvPr/>
        </p:nvSpPr>
        <p:spPr>
          <a:xfrm>
            <a:off x="4114800" y="4315968"/>
            <a:ext cx="2011680" cy="658368"/>
          </a:xfrm>
          <a:prstGeom prst="rect">
            <a:avLst/>
          </a:prstGeom>
          <a:noFill/>
          <a:ln/>
        </p:spPr>
        <p:txBody>
          <a:bodyPr wrap="square" lIns="0" tIns="0" rIns="0" bIns="0" rtlCol="0" anchor="ctr"/>
          <a:lstStyle/>
          <a:p>
            <a:pPr indent="0" marL="0">
              <a:buNone/>
            </a:pPr>
            <a:r>
              <a:rPr lang="en-US" sz="1800" b="1" dirty="0">
                <a:solidFill>
                  <a:srgbClr val="147A63"/>
                </a:solidFill>
                <a:latin typeface="Bookman Old Style" pitchFamily="34" charset="0"/>
                <a:ea typeface="Bookman Old Style" pitchFamily="34" charset="-122"/>
                <a:cs typeface="Bookman Old Style" pitchFamily="34" charset="-120"/>
              </a:rPr>
              <a:t>95%</a:t>
            </a:r>
            <a:endParaRPr lang="en-US" sz="1800" dirty="0"/>
          </a:p>
        </p:txBody>
      </p:sp>
      <p:sp>
        <p:nvSpPr>
          <p:cNvPr id="22" name="Text 20"/>
          <p:cNvSpPr txBox="1"/>
          <p:nvPr/>
        </p:nvSpPr>
        <p:spPr>
          <a:xfrm>
            <a:off x="6309360" y="4315968"/>
            <a:ext cx="5150815" cy="658368"/>
          </a:xfrm>
          <a:prstGeom prst="rect">
            <a:avLst/>
          </a:prstGeom>
          <a:noFill/>
          <a:ln/>
        </p:spPr>
        <p:txBody>
          <a:bodyPr wrap="square" lIns="0" tIns="0" rIns="0" bIns="0" rtlCol="0" anchor="ctr"/>
          <a:lstStyle/>
          <a:p>
            <a:pPr indent="0" marL="0">
              <a:buNone/>
            </a:pPr>
            <a:r>
              <a:rPr lang="en-US" sz="1300" dirty="0">
                <a:solidFill>
                  <a:srgbClr val="56706A"/>
                </a:solidFill>
                <a:latin typeface="Calibri" pitchFamily="34" charset="0"/>
                <a:ea typeface="Calibri" pitchFamily="34" charset="-122"/>
                <a:cs typeface="Calibri" pitchFamily="34" charset="-120"/>
              </a:rPr>
              <a:t>First response within two business hours</a:t>
            </a:r>
            <a:endParaRPr lang="en-US" sz="1300" dirty="0"/>
          </a:p>
        </p:txBody>
      </p:sp>
      <p:sp>
        <p:nvSpPr>
          <p:cNvPr id="23" name="Text 21"/>
          <p:cNvSpPr txBox="1"/>
          <p:nvPr/>
        </p:nvSpPr>
        <p:spPr>
          <a:xfrm>
            <a:off x="548640" y="5166360"/>
            <a:ext cx="11094415" cy="457200"/>
          </a:xfrm>
          <a:prstGeom prst="rect">
            <a:avLst/>
          </a:prstGeom>
          <a:noFill/>
          <a:ln/>
        </p:spPr>
        <p:txBody>
          <a:bodyPr wrap="square" lIns="0" tIns="0" rIns="0" bIns="0" rtlCol="0" anchor="ctr"/>
          <a:lstStyle/>
          <a:p>
            <a:pPr indent="0" marL="0">
              <a:buNone/>
            </a:pPr>
            <a:r>
              <a:rPr lang="en-US" sz="1300" i="1" dirty="0">
                <a:solidFill>
                  <a:srgbClr val="56706A"/>
                </a:solidFill>
                <a:latin typeface="Calibri" pitchFamily="34" charset="0"/>
                <a:ea typeface="Calibri" pitchFamily="34" charset="-122"/>
                <a:cs typeface="Calibri" pitchFamily="34" charset="-120"/>
              </a:rPr>
              <a:t>Reviewed against actuals on July 6.</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Launch Risks and Dependencies</a:t>
            </a:r>
            <a:endParaRPr lang="en-US" sz="3000" dirty="0"/>
          </a:p>
        </p:txBody>
      </p:sp>
      <p:sp>
        <p:nvSpPr>
          <p:cNvPr id="3" name="Shape 1"/>
          <p:cNvSpPr/>
          <p:nvPr/>
        </p:nvSpPr>
        <p:spPr>
          <a:xfrm>
            <a:off x="548640" y="1463040"/>
            <a:ext cx="2567864" cy="4846320"/>
          </a:xfrm>
          <a:prstGeom prst="roundRect">
            <a:avLst>
              <a:gd name="adj" fmla="val 2849"/>
            </a:avLst>
          </a:prstGeom>
          <a:solidFill>
            <a:srgbClr val="E8F3EF"/>
          </a:solidFill>
          <a:ln w="12700">
            <a:solidFill>
              <a:srgbClr val="E8F3EF"/>
            </a:solidFill>
            <a:prstDash val="solid"/>
          </a:ln>
        </p:spPr>
      </p:sp>
      <p:sp>
        <p:nvSpPr>
          <p:cNvPr id="4" name="Text 2"/>
          <p:cNvSpPr txBox="1"/>
          <p:nvPr/>
        </p:nvSpPr>
        <p:spPr>
          <a:xfrm>
            <a:off x="777240" y="1691640"/>
            <a:ext cx="2110664" cy="731520"/>
          </a:xfrm>
          <a:prstGeom prst="rect">
            <a:avLst/>
          </a:prstGeom>
          <a:noFill/>
          <a:ln/>
        </p:spPr>
        <p:txBody>
          <a:bodyPr wrap="square" lIns="0" tIns="0" rIns="0" bIns="0" rtlCol="0" anchor="t"/>
          <a:lstStyle/>
          <a:p>
            <a:pPr indent="0" marL="0">
              <a:buNone/>
            </a:pPr>
            <a:r>
              <a:rPr lang="en-US" sz="1700" b="1" dirty="0">
                <a:solidFill>
                  <a:srgbClr val="147A63"/>
                </a:solidFill>
                <a:latin typeface="Bookman Old Style" pitchFamily="34" charset="0"/>
                <a:ea typeface="Bookman Old Style" pitchFamily="34" charset="-122"/>
                <a:cs typeface="Bookman Old Style" pitchFamily="34" charset="-120"/>
              </a:rPr>
              <a:t>Inventory</a:t>
            </a:r>
            <a:endParaRPr lang="en-US" sz="1700" dirty="0"/>
          </a:p>
        </p:txBody>
      </p:sp>
      <p:sp>
        <p:nvSpPr>
          <p:cNvPr id="5" name="Text 3"/>
          <p:cNvSpPr txBox="1"/>
          <p:nvPr/>
        </p:nvSpPr>
        <p:spPr>
          <a:xfrm>
            <a:off x="777240" y="2468880"/>
            <a:ext cx="2110664" cy="36576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300 units by March 27</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Owner: Devon</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Slip means moving the launch, not launching without stock</a:t>
            </a:r>
            <a:endParaRPr lang="en-US" sz="1300" dirty="0"/>
          </a:p>
        </p:txBody>
      </p:sp>
      <p:sp>
        <p:nvSpPr>
          <p:cNvPr id="6" name="Shape 4"/>
          <p:cNvSpPr/>
          <p:nvPr/>
        </p:nvSpPr>
        <p:spPr>
          <a:xfrm>
            <a:off x="3390824" y="1463040"/>
            <a:ext cx="2567864" cy="4846320"/>
          </a:xfrm>
          <a:prstGeom prst="roundRect">
            <a:avLst>
              <a:gd name="adj" fmla="val 2849"/>
            </a:avLst>
          </a:prstGeom>
          <a:solidFill>
            <a:srgbClr val="E8F3EF"/>
          </a:solidFill>
          <a:ln w="12700">
            <a:solidFill>
              <a:srgbClr val="E8F3EF"/>
            </a:solidFill>
            <a:prstDash val="solid"/>
          </a:ln>
        </p:spPr>
      </p:sp>
      <p:sp>
        <p:nvSpPr>
          <p:cNvPr id="7" name="Text 5"/>
          <p:cNvSpPr txBox="1"/>
          <p:nvPr/>
        </p:nvSpPr>
        <p:spPr>
          <a:xfrm>
            <a:off x="3619424" y="1691640"/>
            <a:ext cx="2110664" cy="731520"/>
          </a:xfrm>
          <a:prstGeom prst="rect">
            <a:avLst/>
          </a:prstGeom>
          <a:noFill/>
          <a:ln/>
        </p:spPr>
        <p:txBody>
          <a:bodyPr wrap="square" lIns="0" tIns="0" rIns="0" bIns="0" rtlCol="0" anchor="t"/>
          <a:lstStyle/>
          <a:p>
            <a:pPr indent="0" marL="0">
              <a:buNone/>
            </a:pPr>
            <a:r>
              <a:rPr lang="en-US" sz="1700" b="1" dirty="0">
                <a:solidFill>
                  <a:srgbClr val="147A63"/>
                </a:solidFill>
                <a:latin typeface="Bookman Old Style" pitchFamily="34" charset="0"/>
                <a:ea typeface="Bookman Old Style" pitchFamily="34" charset="-122"/>
                <a:cs typeface="Bookman Old Style" pitchFamily="34" charset="-120"/>
              </a:rPr>
              <a:t>Accuracy claim</a:t>
            </a:r>
            <a:endParaRPr lang="en-US" sz="1700" dirty="0"/>
          </a:p>
        </p:txBody>
      </p:sp>
      <p:sp>
        <p:nvSpPr>
          <p:cNvPr id="8" name="Text 6"/>
          <p:cNvSpPr txBox="1"/>
          <p:nvPr/>
        </p:nvSpPr>
        <p:spPr>
          <a:xfrm>
            <a:off x="3619424" y="2468880"/>
            <a:ext cx="2110664" cy="36576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Sign-off by February 20</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Owner: Callum</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Fallback: softer wording, same data</a:t>
            </a:r>
            <a:endParaRPr lang="en-US" sz="1300" dirty="0"/>
          </a:p>
        </p:txBody>
      </p:sp>
      <p:sp>
        <p:nvSpPr>
          <p:cNvPr id="9" name="Shape 7"/>
          <p:cNvSpPr/>
          <p:nvPr/>
        </p:nvSpPr>
        <p:spPr>
          <a:xfrm>
            <a:off x="6233008" y="1463040"/>
            <a:ext cx="2567864" cy="4846320"/>
          </a:xfrm>
          <a:prstGeom prst="roundRect">
            <a:avLst>
              <a:gd name="adj" fmla="val 2849"/>
            </a:avLst>
          </a:prstGeom>
          <a:solidFill>
            <a:srgbClr val="FFF1DC"/>
          </a:solidFill>
          <a:ln w="12700">
            <a:solidFill>
              <a:srgbClr val="FFF1DC"/>
            </a:solidFill>
            <a:prstDash val="solid"/>
          </a:ln>
        </p:spPr>
      </p:sp>
      <p:sp>
        <p:nvSpPr>
          <p:cNvPr id="10" name="Text 8"/>
          <p:cNvSpPr txBox="1"/>
          <p:nvPr/>
        </p:nvSpPr>
        <p:spPr>
          <a:xfrm>
            <a:off x="6461608" y="1691640"/>
            <a:ext cx="2110664" cy="731520"/>
          </a:xfrm>
          <a:prstGeom prst="rect">
            <a:avLst/>
          </a:prstGeom>
          <a:noFill/>
          <a:ln/>
        </p:spPr>
        <p:txBody>
          <a:bodyPr wrap="square" lIns="0" tIns="0" rIns="0" bIns="0" rtlCol="0" anchor="t"/>
          <a:lstStyle/>
          <a:p>
            <a:pPr indent="0" marL="0">
              <a:buNone/>
            </a:pPr>
            <a:r>
              <a:rPr lang="en-US" sz="1700" b="1" dirty="0">
                <a:solidFill>
                  <a:srgbClr val="B86B00"/>
                </a:solidFill>
                <a:latin typeface="Bookman Old Style" pitchFamily="34" charset="0"/>
                <a:ea typeface="Bookman Old Style" pitchFamily="34" charset="-122"/>
                <a:cs typeface="Bookman Old Style" pitchFamily="34" charset="-120"/>
              </a:rPr>
              <a:t>PLC compatibility</a:t>
            </a:r>
            <a:endParaRPr lang="en-US" sz="1700" dirty="0"/>
          </a:p>
        </p:txBody>
      </p:sp>
      <p:sp>
        <p:nvSpPr>
          <p:cNvPr id="11" name="Text 9"/>
          <p:cNvSpPr txBox="1"/>
          <p:nvPr/>
        </p:nvSpPr>
        <p:spPr>
          <a:xfrm>
            <a:off x="6461608" y="2468880"/>
            <a:ext cx="2110664" cy="36576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One-page note for older Siemens setups</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Owners: Elena with Marcus and Sofia</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Needed by April 4 or messaging changes</a:t>
            </a:r>
            <a:endParaRPr lang="en-US" sz="1300" dirty="0"/>
          </a:p>
        </p:txBody>
      </p:sp>
      <p:sp>
        <p:nvSpPr>
          <p:cNvPr id="12" name="Shape 10"/>
          <p:cNvSpPr/>
          <p:nvPr/>
        </p:nvSpPr>
        <p:spPr>
          <a:xfrm>
            <a:off x="9075191" y="1463040"/>
            <a:ext cx="2567864" cy="4846320"/>
          </a:xfrm>
          <a:prstGeom prst="roundRect">
            <a:avLst>
              <a:gd name="adj" fmla="val 2849"/>
            </a:avLst>
          </a:prstGeom>
          <a:solidFill>
            <a:srgbClr val="E8F3EF"/>
          </a:solidFill>
          <a:ln w="12700">
            <a:solidFill>
              <a:srgbClr val="E8F3EF"/>
            </a:solidFill>
            <a:prstDash val="solid"/>
          </a:ln>
        </p:spPr>
      </p:sp>
      <p:sp>
        <p:nvSpPr>
          <p:cNvPr id="13" name="Text 11"/>
          <p:cNvSpPr txBox="1"/>
          <p:nvPr/>
        </p:nvSpPr>
        <p:spPr>
          <a:xfrm>
            <a:off x="9303791" y="1691640"/>
            <a:ext cx="2110664" cy="731520"/>
          </a:xfrm>
          <a:prstGeom prst="rect">
            <a:avLst/>
          </a:prstGeom>
          <a:noFill/>
          <a:ln/>
        </p:spPr>
        <p:txBody>
          <a:bodyPr wrap="square" lIns="0" tIns="0" rIns="0" bIns="0" rtlCol="0" anchor="t"/>
          <a:lstStyle/>
          <a:p>
            <a:pPr indent="0" marL="0">
              <a:buNone/>
            </a:pPr>
            <a:r>
              <a:rPr lang="en-US" sz="1700" b="1" dirty="0">
                <a:solidFill>
                  <a:srgbClr val="147A63"/>
                </a:solidFill>
                <a:latin typeface="Bookman Old Style" pitchFamily="34" charset="0"/>
                <a:ea typeface="Bookman Old Style" pitchFamily="34" charset="-122"/>
                <a:cs typeface="Bookman Old Style" pitchFamily="34" charset="-120"/>
              </a:rPr>
              <a:t>Demand over supply</a:t>
            </a:r>
            <a:endParaRPr lang="en-US" sz="1700" dirty="0"/>
          </a:p>
        </p:txBody>
      </p:sp>
      <p:sp>
        <p:nvSpPr>
          <p:cNvPr id="14" name="Text 12"/>
          <p:cNvSpPr txBox="1"/>
          <p:nvPr/>
        </p:nvSpPr>
        <p:spPr>
          <a:xfrm>
            <a:off x="9303791" y="2468880"/>
            <a:ext cx="2110664" cy="36576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Only 250 sellable</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Backorder language ready</a:t>
            </a:r>
            <a:endParaRPr lang="en-US" sz="1300" dirty="0"/>
          </a:p>
          <a:p>
            <a:pPr marL="228600" indent="-228600">
              <a:spcAft>
                <a:spcPts val="800"/>
              </a:spcAft>
              <a:buSzPct val="100000"/>
              <a:buChar char="•"/>
            </a:pPr>
            <a:r>
              <a:rPr lang="en-US" sz="1300" dirty="0">
                <a:solidFill>
                  <a:srgbClr val="22403A"/>
                </a:solidFill>
                <a:latin typeface="Calibri" pitchFamily="34" charset="0"/>
                <a:ea typeface="Calibri" pitchFamily="34" charset="-122"/>
                <a:cs typeface="Calibri" pitchFamily="34" charset="-120"/>
              </a:rPr>
              <a:t>Second build timing from Devon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0E2A25"/>
                </a:solidFill>
                <a:latin typeface="Bookman Old Style" pitchFamily="34" charset="0"/>
                <a:ea typeface="Bookman Old Style" pitchFamily="34" charset="-122"/>
                <a:cs typeface="Bookman Old Style" pitchFamily="34" charset="-120"/>
              </a:rPr>
              <a:t>Decisions Needed This Week</a:t>
            </a:r>
            <a:endParaRPr lang="en-US" sz="3000" dirty="0"/>
          </a:p>
        </p:txBody>
      </p:sp>
      <p:sp>
        <p:nvSpPr>
          <p:cNvPr id="3" name="Text 1"/>
          <p:cNvSpPr txBox="1"/>
          <p:nvPr/>
        </p:nvSpPr>
        <p:spPr>
          <a:xfrm>
            <a:off x="548640" y="1508760"/>
            <a:ext cx="11094415" cy="47548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Approve the $92,000 campaign budget</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Confirm April 7 as the public launch date</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Confirm the split: 50 units for samples and demos, 250 sellable</a:t>
            </a:r>
            <a:endParaRPr lang="en-US" sz="1700" dirty="0"/>
          </a:p>
          <a:p>
            <a:pPr marL="228600" indent="-228600">
              <a:spcAft>
                <a:spcPts val="800"/>
              </a:spcAft>
              <a:buSzPct val="100000"/>
              <a:buChar char="•"/>
            </a:pPr>
            <a:r>
              <a:rPr lang="en-US" sz="1700" dirty="0">
                <a:solidFill>
                  <a:srgbClr val="22403A"/>
                </a:solidFill>
                <a:latin typeface="Calibri" pitchFamily="34" charset="0"/>
                <a:ea typeface="Calibri" pitchFamily="34" charset="-122"/>
                <a:cs typeface="Calibri" pitchFamily="34" charset="-120"/>
              </a:rPr>
              <a:t>Confirm the expo booth, which needs a deposit by February 20</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FieldSense 200 Series Launch Campaign Plan</dc:title>
  <dc:subject/>
  <dc:creator>Nadia</dc:creator>
  <cp:lastModifiedBy>Nadia</cp:lastModifiedBy>
  <cp:revision>1</cp:revision>
  <dcterms:created xsi:type="dcterms:W3CDTF">2026-02-10T09:00:00Z</dcterms:created>
  <dcterms:modified xsi:type="dcterms:W3CDTF">2026-02-10T09:00:00Z</dcterms:modified>
  <cp:keywords/>
  <dc:description/>
</cp:coreProperties>
</file>